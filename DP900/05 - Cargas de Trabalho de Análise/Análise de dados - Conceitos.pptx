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3"/>
  </p:notesMasterIdLst>
  <p:sldIdLst>
    <p:sldId id="256" r:id="rId5"/>
    <p:sldId id="372" r:id="rId6"/>
    <p:sldId id="381" r:id="rId7"/>
    <p:sldId id="382" r:id="rId8"/>
    <p:sldId id="383" r:id="rId9"/>
    <p:sldId id="385" r:id="rId10"/>
    <p:sldId id="384" r:id="rId11"/>
    <p:sldId id="386" r:id="rId1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525"/>
    <a:srgbClr val="A0C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2C1D98-5F0D-40FE-B20C-10AB7A681DFE}" v="2" dt="2021-02-05T00:16:07.764"/>
    <p1510:client id="{FE34A627-F5F7-42D9-B300-6DB9C15C25E2}" v="4" dt="2021-02-05T00:36:48.631"/>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Estilo Mé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N CESAR COELHO" userId="S::willian.coelho2@senaisp.edu.br::5efcc529-0164-4805-87c3-b1ca0a0aac29" providerId="AD" clId="Web-{B62C1D98-5F0D-40FE-B20C-10AB7A681DFE}"/>
    <pc:docChg chg="modSld sldOrd">
      <pc:chgData name="WILLIAN CESAR COELHO" userId="S::willian.coelho2@senaisp.edu.br::5efcc529-0164-4805-87c3-b1ca0a0aac29" providerId="AD" clId="Web-{B62C1D98-5F0D-40FE-B20C-10AB7A681DFE}" dt="2021-02-05T00:16:07.764" v="1" actId="14100"/>
      <pc:docMkLst>
        <pc:docMk/>
      </pc:docMkLst>
      <pc:sldChg chg="modSp ord">
        <pc:chgData name="WILLIAN CESAR COELHO" userId="S::willian.coelho2@senaisp.edu.br::5efcc529-0164-4805-87c3-b1ca0a0aac29" providerId="AD" clId="Web-{B62C1D98-5F0D-40FE-B20C-10AB7A681DFE}" dt="2021-02-05T00:16:07.764" v="1" actId="14100"/>
        <pc:sldMkLst>
          <pc:docMk/>
          <pc:sldMk cId="3296075471" sldId="377"/>
        </pc:sldMkLst>
        <pc:spChg chg="mod">
          <ac:chgData name="WILLIAN CESAR COELHO" userId="S::willian.coelho2@senaisp.edu.br::5efcc529-0164-4805-87c3-b1ca0a0aac29" providerId="AD" clId="Web-{B62C1D98-5F0D-40FE-B20C-10AB7A681DFE}" dt="2021-02-05T00:16:07.764" v="1" actId="14100"/>
          <ac:spMkLst>
            <pc:docMk/>
            <pc:sldMk cId="3296075471" sldId="377"/>
            <ac:spMk id="5" creationId="{00000000-0000-0000-0000-000000000000}"/>
          </ac:spMkLst>
        </pc:spChg>
      </pc:sldChg>
    </pc:docChg>
  </pc:docChgLst>
  <pc:docChgLst>
    <pc:chgData name="RODOLFO BANDEIRA" userId="S::rodolfo.bandeira@senaisp.edu.br::04209cf5-d88b-4768-a6ff-e3caeda3ba6d" providerId="AD" clId="Web-{FE34A627-F5F7-42D9-B300-6DB9C15C25E2}"/>
    <pc:docChg chg="modSld">
      <pc:chgData name="RODOLFO BANDEIRA" userId="S::rodolfo.bandeira@senaisp.edu.br::04209cf5-d88b-4768-a6ff-e3caeda3ba6d" providerId="AD" clId="Web-{FE34A627-F5F7-42D9-B300-6DB9C15C25E2}" dt="2021-02-05T00:42:09.012" v="4" actId="20577"/>
      <pc:docMkLst>
        <pc:docMk/>
      </pc:docMkLst>
      <pc:sldChg chg="modSp">
        <pc:chgData name="RODOLFO BANDEIRA" userId="S::rodolfo.bandeira@senaisp.edu.br::04209cf5-d88b-4768-a6ff-e3caeda3ba6d" providerId="AD" clId="Web-{FE34A627-F5F7-42D9-B300-6DB9C15C25E2}" dt="2021-02-05T00:42:09.012" v="4" actId="20577"/>
        <pc:sldMkLst>
          <pc:docMk/>
          <pc:sldMk cId="3296075471" sldId="377"/>
        </pc:sldMkLst>
        <pc:spChg chg="mod">
          <ac:chgData name="RODOLFO BANDEIRA" userId="S::rodolfo.bandeira@senaisp.edu.br::04209cf5-d88b-4768-a6ff-e3caeda3ba6d" providerId="AD" clId="Web-{FE34A627-F5F7-42D9-B300-6DB9C15C25E2}" dt="2021-02-05T00:42:09.012" v="4" actId="20577"/>
          <ac:spMkLst>
            <pc:docMk/>
            <pc:sldMk cId="3296075471" sldId="377"/>
            <ac:spMk id="5"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51291A-39E5-4AFE-AC6B-67E2FEB1FD5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pt-BR"/>
        </a:p>
      </dgm:t>
    </dgm:pt>
    <dgm:pt modelId="{8B4A0720-9FA5-457C-86E8-85F51AA32B80}">
      <dgm:prSet phldrT="[Texto]"/>
      <dgm:spPr/>
      <dgm:t>
        <a:bodyPr/>
        <a:lstStyle/>
        <a:p>
          <a:pPr algn="ctr"/>
          <a:r>
            <a:rPr lang="pt-BR" b="1" dirty="0" smtClean="0">
              <a:solidFill>
                <a:schemeClr val="tx1"/>
              </a:solidFill>
            </a:rPr>
            <a:t>Descritiva</a:t>
          </a:r>
          <a:endParaRPr lang="pt-BR" b="1" dirty="0">
            <a:solidFill>
              <a:schemeClr val="tx1"/>
            </a:solidFill>
          </a:endParaRPr>
        </a:p>
      </dgm:t>
    </dgm:pt>
    <dgm:pt modelId="{902BACA7-9E37-4530-A67E-EEDDB3445000}" type="parTrans" cxnId="{36F62610-142E-4FA7-A79E-58DB7B559E44}">
      <dgm:prSet/>
      <dgm:spPr/>
      <dgm:t>
        <a:bodyPr/>
        <a:lstStyle/>
        <a:p>
          <a:endParaRPr lang="pt-BR"/>
        </a:p>
      </dgm:t>
    </dgm:pt>
    <dgm:pt modelId="{539076D7-597F-4606-AE0C-BF2804AC8BD8}" type="sibTrans" cxnId="{36F62610-142E-4FA7-A79E-58DB7B559E44}">
      <dgm:prSet/>
      <dgm:spPr/>
      <dgm:t>
        <a:bodyPr/>
        <a:lstStyle/>
        <a:p>
          <a:endParaRPr lang="pt-BR"/>
        </a:p>
      </dgm:t>
    </dgm:pt>
    <dgm:pt modelId="{BA570F21-B26C-475A-9E27-3536E2EDF84E}">
      <dgm:prSet phldrT="[Texto]"/>
      <dgm:spPr/>
      <dgm:t>
        <a:bodyPr/>
        <a:lstStyle/>
        <a:p>
          <a:pPr algn="ctr"/>
          <a:r>
            <a:rPr lang="pt-BR" b="1" dirty="0" smtClean="0">
              <a:solidFill>
                <a:schemeClr val="tx1"/>
              </a:solidFill>
            </a:rPr>
            <a:t>Diagnóstica</a:t>
          </a:r>
          <a:endParaRPr lang="pt-BR" b="1" dirty="0">
            <a:solidFill>
              <a:schemeClr val="tx1"/>
            </a:solidFill>
          </a:endParaRPr>
        </a:p>
      </dgm:t>
    </dgm:pt>
    <dgm:pt modelId="{246B12B6-0816-410F-A355-D8F5B75E5156}" type="parTrans" cxnId="{B4FCB7C0-BBD3-497C-89AF-01CF1E74DF01}">
      <dgm:prSet/>
      <dgm:spPr/>
      <dgm:t>
        <a:bodyPr/>
        <a:lstStyle/>
        <a:p>
          <a:endParaRPr lang="pt-BR"/>
        </a:p>
      </dgm:t>
    </dgm:pt>
    <dgm:pt modelId="{78C5E34E-4ABB-4194-AB79-D7102A2ECBD1}" type="sibTrans" cxnId="{B4FCB7C0-BBD3-497C-89AF-01CF1E74DF01}">
      <dgm:prSet/>
      <dgm:spPr/>
      <dgm:t>
        <a:bodyPr/>
        <a:lstStyle/>
        <a:p>
          <a:endParaRPr lang="pt-BR"/>
        </a:p>
      </dgm:t>
    </dgm:pt>
    <dgm:pt modelId="{43CF6D43-3F1B-4F32-AA9E-C1A1D52D254C}">
      <dgm:prSet phldrT="[Texto]"/>
      <dgm:spPr/>
      <dgm:t>
        <a:bodyPr/>
        <a:lstStyle/>
        <a:p>
          <a:pPr algn="ctr"/>
          <a:r>
            <a:rPr lang="pt-BR" b="1" dirty="0" smtClean="0">
              <a:solidFill>
                <a:schemeClr val="tx1"/>
              </a:solidFill>
            </a:rPr>
            <a:t>Preditiva</a:t>
          </a:r>
          <a:endParaRPr lang="pt-BR" b="1" dirty="0">
            <a:solidFill>
              <a:schemeClr val="tx1"/>
            </a:solidFill>
          </a:endParaRPr>
        </a:p>
      </dgm:t>
    </dgm:pt>
    <dgm:pt modelId="{5CEA0953-ADF5-4CD8-850F-DDB8E934EEBB}" type="parTrans" cxnId="{1E1FF25E-17B9-4764-8C5C-90D536699DB6}">
      <dgm:prSet/>
      <dgm:spPr/>
      <dgm:t>
        <a:bodyPr/>
        <a:lstStyle/>
        <a:p>
          <a:endParaRPr lang="pt-BR"/>
        </a:p>
      </dgm:t>
    </dgm:pt>
    <dgm:pt modelId="{36FE89CD-C3A6-4C4E-A552-4E078D1F7533}" type="sibTrans" cxnId="{1E1FF25E-17B9-4764-8C5C-90D536699DB6}">
      <dgm:prSet/>
      <dgm:spPr/>
      <dgm:t>
        <a:bodyPr/>
        <a:lstStyle/>
        <a:p>
          <a:endParaRPr lang="pt-BR"/>
        </a:p>
      </dgm:t>
    </dgm:pt>
    <dgm:pt modelId="{FC5CC0AD-3E3B-49C5-A9CE-DC7F9CFE9540}">
      <dgm:prSet phldrT="[Texto]"/>
      <dgm:spPr/>
      <dgm:t>
        <a:bodyPr/>
        <a:lstStyle/>
        <a:p>
          <a:pPr algn="ctr"/>
          <a:r>
            <a:rPr lang="pt-BR" b="1" dirty="0" smtClean="0">
              <a:solidFill>
                <a:schemeClr val="tx1"/>
              </a:solidFill>
            </a:rPr>
            <a:t>Cognitiva</a:t>
          </a:r>
          <a:endParaRPr lang="pt-BR" b="1" dirty="0">
            <a:solidFill>
              <a:schemeClr val="tx1"/>
            </a:solidFill>
          </a:endParaRPr>
        </a:p>
      </dgm:t>
    </dgm:pt>
    <dgm:pt modelId="{2BFC5D57-2CFB-400A-B45D-68EDDA732745}" type="parTrans" cxnId="{2E10804C-51DC-401E-984B-D2AE3343B7E5}">
      <dgm:prSet/>
      <dgm:spPr/>
      <dgm:t>
        <a:bodyPr/>
        <a:lstStyle/>
        <a:p>
          <a:endParaRPr lang="pt-BR"/>
        </a:p>
      </dgm:t>
    </dgm:pt>
    <dgm:pt modelId="{BBF6180A-EC0A-4BF6-B2F5-1C545BA4B7DE}" type="sibTrans" cxnId="{2E10804C-51DC-401E-984B-D2AE3343B7E5}">
      <dgm:prSet/>
      <dgm:spPr/>
      <dgm:t>
        <a:bodyPr/>
        <a:lstStyle/>
        <a:p>
          <a:endParaRPr lang="pt-BR"/>
        </a:p>
      </dgm:t>
    </dgm:pt>
    <dgm:pt modelId="{9775392E-1A14-4375-9D7D-5E717B960765}">
      <dgm:prSet phldrT="[Texto]"/>
      <dgm:spPr/>
      <dgm:t>
        <a:bodyPr/>
        <a:lstStyle/>
        <a:p>
          <a:pPr algn="l"/>
          <a:r>
            <a:rPr lang="pt-BR" dirty="0" smtClean="0"/>
            <a:t>Extrai informações de imagens, áudios, texto, etc.</a:t>
          </a:r>
          <a:endParaRPr lang="pt-BR" dirty="0"/>
        </a:p>
      </dgm:t>
    </dgm:pt>
    <dgm:pt modelId="{0F8AD45A-BC11-451D-BF5F-E3F6C5DC0A5B}" type="parTrans" cxnId="{4B828B6B-D012-409C-8C12-93C3813F164C}">
      <dgm:prSet/>
      <dgm:spPr/>
      <dgm:t>
        <a:bodyPr/>
        <a:lstStyle/>
        <a:p>
          <a:endParaRPr lang="pt-BR"/>
        </a:p>
      </dgm:t>
    </dgm:pt>
    <dgm:pt modelId="{1C3107C1-C3B2-44B6-BF97-226728AA3F92}" type="sibTrans" cxnId="{4B828B6B-D012-409C-8C12-93C3813F164C}">
      <dgm:prSet/>
      <dgm:spPr/>
      <dgm:t>
        <a:bodyPr/>
        <a:lstStyle/>
        <a:p>
          <a:endParaRPr lang="pt-BR"/>
        </a:p>
      </dgm:t>
    </dgm:pt>
    <dgm:pt modelId="{32AE1AEE-DCD8-4EBE-B157-B1AD32D9B914}">
      <dgm:prSet phldrT="[Texto]"/>
      <dgm:spPr/>
      <dgm:t>
        <a:bodyPr/>
        <a:lstStyle/>
        <a:p>
          <a:pPr algn="l"/>
          <a:r>
            <a:rPr lang="pt-BR" dirty="0" smtClean="0"/>
            <a:t>Analisa o atual</a:t>
          </a:r>
          <a:endParaRPr lang="pt-BR" dirty="0"/>
        </a:p>
      </dgm:t>
    </dgm:pt>
    <dgm:pt modelId="{730933EF-2F61-4089-8B24-6019B7094FC6}" type="parTrans" cxnId="{CC823DA1-71DA-4383-92F8-17885E1ECA1E}">
      <dgm:prSet/>
      <dgm:spPr/>
      <dgm:t>
        <a:bodyPr/>
        <a:lstStyle/>
        <a:p>
          <a:endParaRPr lang="pt-BR"/>
        </a:p>
      </dgm:t>
    </dgm:pt>
    <dgm:pt modelId="{6ABC1DA2-40E8-4A12-8DAE-9837D6DA52E9}" type="sibTrans" cxnId="{CC823DA1-71DA-4383-92F8-17885E1ECA1E}">
      <dgm:prSet/>
      <dgm:spPr/>
      <dgm:t>
        <a:bodyPr/>
        <a:lstStyle/>
        <a:p>
          <a:endParaRPr lang="pt-BR"/>
        </a:p>
      </dgm:t>
    </dgm:pt>
    <dgm:pt modelId="{34B92FDC-2259-4FAA-B983-5710B10870CC}">
      <dgm:prSet phldrT="[Texto]"/>
      <dgm:spPr/>
      <dgm:t>
        <a:bodyPr/>
        <a:lstStyle/>
        <a:p>
          <a:pPr algn="l"/>
          <a:r>
            <a:rPr lang="pt-BR" dirty="0" smtClean="0"/>
            <a:t>Oque está acontecendo</a:t>
          </a:r>
          <a:endParaRPr lang="pt-BR" dirty="0"/>
        </a:p>
      </dgm:t>
    </dgm:pt>
    <dgm:pt modelId="{5E0ECC67-79FB-4151-86D7-C72CB7B982A5}" type="parTrans" cxnId="{B840E9EE-B0C0-4913-8B5F-AA083DA7F5D9}">
      <dgm:prSet/>
      <dgm:spPr/>
      <dgm:t>
        <a:bodyPr/>
        <a:lstStyle/>
        <a:p>
          <a:endParaRPr lang="pt-BR"/>
        </a:p>
      </dgm:t>
    </dgm:pt>
    <dgm:pt modelId="{F63CE94A-20E5-455D-92EC-1E3D0F4D05D0}" type="sibTrans" cxnId="{B840E9EE-B0C0-4913-8B5F-AA083DA7F5D9}">
      <dgm:prSet/>
      <dgm:spPr/>
      <dgm:t>
        <a:bodyPr/>
        <a:lstStyle/>
        <a:p>
          <a:endParaRPr lang="pt-BR"/>
        </a:p>
      </dgm:t>
    </dgm:pt>
    <dgm:pt modelId="{A5BD6B1A-0BB1-48BA-9FD2-13D3D2EFAE61}">
      <dgm:prSet phldrT="[Texto]"/>
      <dgm:spPr/>
      <dgm:t>
        <a:bodyPr/>
        <a:lstStyle/>
        <a:p>
          <a:pPr algn="l"/>
          <a:r>
            <a:rPr lang="pt-BR" dirty="0" smtClean="0"/>
            <a:t>Analisa o porque está desta forma.</a:t>
          </a:r>
          <a:endParaRPr lang="pt-BR" dirty="0"/>
        </a:p>
      </dgm:t>
    </dgm:pt>
    <dgm:pt modelId="{E84949CD-ADD5-4578-840A-0AF49540EBB3}" type="parTrans" cxnId="{FD30F562-E56E-472B-8C76-A4B4CDC329F3}">
      <dgm:prSet/>
      <dgm:spPr/>
      <dgm:t>
        <a:bodyPr/>
        <a:lstStyle/>
        <a:p>
          <a:endParaRPr lang="pt-BR"/>
        </a:p>
      </dgm:t>
    </dgm:pt>
    <dgm:pt modelId="{56CCEBC5-201D-4DD2-8BAF-FE283F23CEBD}" type="sibTrans" cxnId="{FD30F562-E56E-472B-8C76-A4B4CDC329F3}">
      <dgm:prSet/>
      <dgm:spPr/>
      <dgm:t>
        <a:bodyPr/>
        <a:lstStyle/>
        <a:p>
          <a:endParaRPr lang="pt-BR"/>
        </a:p>
      </dgm:t>
    </dgm:pt>
    <dgm:pt modelId="{CAF6DCFD-FEEB-4EB2-9548-A65F9352EBB2}">
      <dgm:prSet phldrT="[Texto]"/>
      <dgm:spPr/>
      <dgm:t>
        <a:bodyPr/>
        <a:lstStyle/>
        <a:p>
          <a:pPr algn="l"/>
          <a:r>
            <a:rPr lang="pt-BR" dirty="0" err="1" smtClean="0"/>
            <a:t>Ex</a:t>
          </a:r>
          <a:r>
            <a:rPr lang="pt-BR" dirty="0" smtClean="0"/>
            <a:t>: Porque as minhas vendas caíram?</a:t>
          </a:r>
          <a:endParaRPr lang="pt-BR" dirty="0"/>
        </a:p>
      </dgm:t>
    </dgm:pt>
    <dgm:pt modelId="{72151E26-6FE3-410B-8152-D11EA9753107}" type="parTrans" cxnId="{CCB3EE40-BDBF-437E-81B7-79D685F3674E}">
      <dgm:prSet/>
      <dgm:spPr/>
      <dgm:t>
        <a:bodyPr/>
        <a:lstStyle/>
        <a:p>
          <a:endParaRPr lang="pt-BR"/>
        </a:p>
      </dgm:t>
    </dgm:pt>
    <dgm:pt modelId="{85AE7E5D-FD7F-41F4-8F74-F3B29AAC89FF}" type="sibTrans" cxnId="{CCB3EE40-BDBF-437E-81B7-79D685F3674E}">
      <dgm:prSet/>
      <dgm:spPr/>
      <dgm:t>
        <a:bodyPr/>
        <a:lstStyle/>
        <a:p>
          <a:endParaRPr lang="pt-BR"/>
        </a:p>
      </dgm:t>
    </dgm:pt>
    <dgm:pt modelId="{FCC05A08-9433-4A59-9542-638D4B18BA05}">
      <dgm:prSet phldrT="[Texto]"/>
      <dgm:spPr/>
      <dgm:t>
        <a:bodyPr/>
        <a:lstStyle/>
        <a:p>
          <a:pPr algn="l"/>
          <a:r>
            <a:rPr lang="pt-BR" dirty="0" smtClean="0"/>
            <a:t>Prevê como estará no futuro</a:t>
          </a:r>
          <a:endParaRPr lang="pt-BR" dirty="0"/>
        </a:p>
      </dgm:t>
    </dgm:pt>
    <dgm:pt modelId="{6CEDA281-3BBB-4EDC-83F1-788206F0C6F3}" type="parTrans" cxnId="{FD8512DF-4A0C-4BB2-A7FC-51EA5BCE3E0D}">
      <dgm:prSet/>
      <dgm:spPr/>
      <dgm:t>
        <a:bodyPr/>
        <a:lstStyle/>
        <a:p>
          <a:endParaRPr lang="pt-BR"/>
        </a:p>
      </dgm:t>
    </dgm:pt>
    <dgm:pt modelId="{A3E74A65-709C-47F6-9A04-B0241C5FFD0D}" type="sibTrans" cxnId="{FD8512DF-4A0C-4BB2-A7FC-51EA5BCE3E0D}">
      <dgm:prSet/>
      <dgm:spPr/>
      <dgm:t>
        <a:bodyPr/>
        <a:lstStyle/>
        <a:p>
          <a:endParaRPr lang="pt-BR"/>
        </a:p>
      </dgm:t>
    </dgm:pt>
    <dgm:pt modelId="{C592218F-D41E-4DDE-8D1F-22C847B9EE25}">
      <dgm:prSet phldrT="[Texto]"/>
      <dgm:spPr/>
      <dgm:t>
        <a:bodyPr/>
        <a:lstStyle/>
        <a:p>
          <a:pPr algn="l"/>
          <a:r>
            <a:rPr lang="pt-BR" dirty="0" err="1" smtClean="0"/>
            <a:t>Ex</a:t>
          </a:r>
          <a:r>
            <a:rPr lang="pt-BR" dirty="0" smtClean="0"/>
            <a:t>: Qual a previsão de vendas mês que vem?</a:t>
          </a:r>
          <a:endParaRPr lang="pt-BR" dirty="0"/>
        </a:p>
      </dgm:t>
    </dgm:pt>
    <dgm:pt modelId="{696C17F7-4F2A-4CB9-881B-32A78F38E6E3}" type="parTrans" cxnId="{4F645B19-D902-49C1-9725-2B8799BA0495}">
      <dgm:prSet/>
      <dgm:spPr/>
      <dgm:t>
        <a:bodyPr/>
        <a:lstStyle/>
        <a:p>
          <a:endParaRPr lang="pt-BR"/>
        </a:p>
      </dgm:t>
    </dgm:pt>
    <dgm:pt modelId="{CDB9C071-E45E-4217-93B6-84C5E6256D05}" type="sibTrans" cxnId="{4F645B19-D902-49C1-9725-2B8799BA0495}">
      <dgm:prSet/>
      <dgm:spPr/>
      <dgm:t>
        <a:bodyPr/>
        <a:lstStyle/>
        <a:p>
          <a:endParaRPr lang="pt-BR"/>
        </a:p>
      </dgm:t>
    </dgm:pt>
    <dgm:pt modelId="{A9CB2399-4DE2-42BF-A61A-A22F26C48B32}">
      <dgm:prSet phldrT="[Texto]"/>
      <dgm:spPr/>
      <dgm:t>
        <a:bodyPr/>
        <a:lstStyle/>
        <a:p>
          <a:pPr algn="ctr"/>
          <a:r>
            <a:rPr lang="pt-BR" b="1" dirty="0" smtClean="0">
              <a:solidFill>
                <a:schemeClr val="tx1"/>
              </a:solidFill>
            </a:rPr>
            <a:t>Prescritiva</a:t>
          </a:r>
          <a:endParaRPr lang="pt-BR" b="1" dirty="0">
            <a:solidFill>
              <a:schemeClr val="tx1"/>
            </a:solidFill>
          </a:endParaRPr>
        </a:p>
      </dgm:t>
    </dgm:pt>
    <dgm:pt modelId="{D21C4647-0227-464E-8152-388615AD043A}" type="parTrans" cxnId="{C3E13F60-11B9-49D7-AAC6-9D3B9BD9C74F}">
      <dgm:prSet/>
      <dgm:spPr/>
      <dgm:t>
        <a:bodyPr/>
        <a:lstStyle/>
        <a:p>
          <a:endParaRPr lang="pt-BR"/>
        </a:p>
      </dgm:t>
    </dgm:pt>
    <dgm:pt modelId="{DCBBBD0D-DFF7-412C-959E-62D38F430EB5}" type="sibTrans" cxnId="{C3E13F60-11B9-49D7-AAC6-9D3B9BD9C74F}">
      <dgm:prSet/>
      <dgm:spPr/>
      <dgm:t>
        <a:bodyPr/>
        <a:lstStyle/>
        <a:p>
          <a:endParaRPr lang="pt-BR"/>
        </a:p>
      </dgm:t>
    </dgm:pt>
    <dgm:pt modelId="{0C1CA021-B10B-4299-A927-AC6BDE5EB051}">
      <dgm:prSet phldrT="[Texto]"/>
      <dgm:spPr/>
      <dgm:t>
        <a:bodyPr/>
        <a:lstStyle/>
        <a:p>
          <a:pPr algn="l"/>
          <a:r>
            <a:rPr lang="pt-BR" dirty="0" smtClean="0"/>
            <a:t>Analisa oque pode ser feito</a:t>
          </a:r>
          <a:endParaRPr lang="pt-BR" dirty="0"/>
        </a:p>
      </dgm:t>
    </dgm:pt>
    <dgm:pt modelId="{7743B116-A418-4448-A6D3-950C22FD4895}" type="parTrans" cxnId="{5ECA3953-47D9-4DBF-A701-35FB771EA02A}">
      <dgm:prSet/>
      <dgm:spPr/>
      <dgm:t>
        <a:bodyPr/>
        <a:lstStyle/>
        <a:p>
          <a:endParaRPr lang="pt-BR"/>
        </a:p>
      </dgm:t>
    </dgm:pt>
    <dgm:pt modelId="{26C251EA-0D1C-479A-A277-8588EE875B22}" type="sibTrans" cxnId="{5ECA3953-47D9-4DBF-A701-35FB771EA02A}">
      <dgm:prSet/>
      <dgm:spPr/>
      <dgm:t>
        <a:bodyPr/>
        <a:lstStyle/>
        <a:p>
          <a:endParaRPr lang="pt-BR"/>
        </a:p>
      </dgm:t>
    </dgm:pt>
    <dgm:pt modelId="{F7FD2BEE-2F3B-4647-990C-66D3CF509805}">
      <dgm:prSet phldrT="[Texto]"/>
      <dgm:spPr/>
      <dgm:t>
        <a:bodyPr/>
        <a:lstStyle/>
        <a:p>
          <a:pPr algn="l"/>
          <a:r>
            <a:rPr lang="pt-BR" dirty="0" err="1" smtClean="0"/>
            <a:t>Ex</a:t>
          </a:r>
          <a:r>
            <a:rPr lang="pt-BR" dirty="0" smtClean="0"/>
            <a:t>: Oque posso fazer para resolver para aumentar as vendas?</a:t>
          </a:r>
          <a:endParaRPr lang="pt-BR" dirty="0"/>
        </a:p>
      </dgm:t>
    </dgm:pt>
    <dgm:pt modelId="{A20E244B-90CF-4104-88FB-2F2295D4F319}" type="parTrans" cxnId="{AAAA2854-FA78-41BE-B44F-6145620B7470}">
      <dgm:prSet/>
      <dgm:spPr/>
      <dgm:t>
        <a:bodyPr/>
        <a:lstStyle/>
        <a:p>
          <a:endParaRPr lang="pt-BR"/>
        </a:p>
      </dgm:t>
    </dgm:pt>
    <dgm:pt modelId="{464AFAC6-8ADD-411E-A925-4BEAA73D8E90}" type="sibTrans" cxnId="{AAAA2854-FA78-41BE-B44F-6145620B7470}">
      <dgm:prSet/>
      <dgm:spPr/>
      <dgm:t>
        <a:bodyPr/>
        <a:lstStyle/>
        <a:p>
          <a:endParaRPr lang="pt-BR"/>
        </a:p>
      </dgm:t>
    </dgm:pt>
    <dgm:pt modelId="{EAADE0C5-BC62-4587-805E-F1CEC18ABB38}">
      <dgm:prSet phldrT="[Texto]"/>
      <dgm:spPr/>
      <dgm:t>
        <a:bodyPr/>
        <a:lstStyle/>
        <a:p>
          <a:pPr algn="l"/>
          <a:r>
            <a:rPr lang="pt-BR" dirty="0" smtClean="0"/>
            <a:t>Muito associado com IA</a:t>
          </a:r>
          <a:endParaRPr lang="pt-BR" dirty="0"/>
        </a:p>
      </dgm:t>
    </dgm:pt>
    <dgm:pt modelId="{A8736D57-AE64-4F25-B09F-6190EB7D9A28}" type="parTrans" cxnId="{53B90CA5-E94A-40CE-A342-3F1D254C75B3}">
      <dgm:prSet/>
      <dgm:spPr/>
      <dgm:t>
        <a:bodyPr/>
        <a:lstStyle/>
        <a:p>
          <a:endParaRPr lang="pt-BR"/>
        </a:p>
      </dgm:t>
    </dgm:pt>
    <dgm:pt modelId="{284A6870-E06A-40E4-994B-11AA0950BDF2}" type="sibTrans" cxnId="{53B90CA5-E94A-40CE-A342-3F1D254C75B3}">
      <dgm:prSet/>
      <dgm:spPr/>
      <dgm:t>
        <a:bodyPr/>
        <a:lstStyle/>
        <a:p>
          <a:endParaRPr lang="pt-BR"/>
        </a:p>
      </dgm:t>
    </dgm:pt>
    <dgm:pt modelId="{2B4F9E74-DF74-4A13-AF35-1CE62FD116CF}" type="pres">
      <dgm:prSet presAssocID="{3051291A-39E5-4AFE-AC6B-67E2FEB1FD53}" presName="diagram" presStyleCnt="0">
        <dgm:presLayoutVars>
          <dgm:dir/>
          <dgm:resizeHandles val="exact"/>
        </dgm:presLayoutVars>
      </dgm:prSet>
      <dgm:spPr/>
      <dgm:t>
        <a:bodyPr/>
        <a:lstStyle/>
        <a:p>
          <a:endParaRPr lang="pt-BR"/>
        </a:p>
      </dgm:t>
    </dgm:pt>
    <dgm:pt modelId="{0F09B9D4-3367-4305-92C3-B67AC8B2F45E}" type="pres">
      <dgm:prSet presAssocID="{8B4A0720-9FA5-457C-86E8-85F51AA32B80}" presName="node" presStyleLbl="node1" presStyleIdx="0" presStyleCnt="5">
        <dgm:presLayoutVars>
          <dgm:bulletEnabled val="1"/>
        </dgm:presLayoutVars>
      </dgm:prSet>
      <dgm:spPr/>
      <dgm:t>
        <a:bodyPr/>
        <a:lstStyle/>
        <a:p>
          <a:endParaRPr lang="pt-BR"/>
        </a:p>
      </dgm:t>
    </dgm:pt>
    <dgm:pt modelId="{920F9355-F0BB-4BB6-B079-D195A36796B6}" type="pres">
      <dgm:prSet presAssocID="{539076D7-597F-4606-AE0C-BF2804AC8BD8}" presName="sibTrans" presStyleCnt="0"/>
      <dgm:spPr/>
    </dgm:pt>
    <dgm:pt modelId="{B0B586CA-8653-4820-B725-E2BF4F310B4B}" type="pres">
      <dgm:prSet presAssocID="{BA570F21-B26C-475A-9E27-3536E2EDF84E}" presName="node" presStyleLbl="node1" presStyleIdx="1" presStyleCnt="5">
        <dgm:presLayoutVars>
          <dgm:bulletEnabled val="1"/>
        </dgm:presLayoutVars>
      </dgm:prSet>
      <dgm:spPr/>
      <dgm:t>
        <a:bodyPr/>
        <a:lstStyle/>
        <a:p>
          <a:endParaRPr lang="pt-BR"/>
        </a:p>
      </dgm:t>
    </dgm:pt>
    <dgm:pt modelId="{C3EE0DA2-B0D5-461F-8FDE-1A50F272B809}" type="pres">
      <dgm:prSet presAssocID="{78C5E34E-4ABB-4194-AB79-D7102A2ECBD1}" presName="sibTrans" presStyleCnt="0"/>
      <dgm:spPr/>
    </dgm:pt>
    <dgm:pt modelId="{B5CF52DE-BE5A-496B-9DDF-C8DBE90BAFB2}" type="pres">
      <dgm:prSet presAssocID="{43CF6D43-3F1B-4F32-AA9E-C1A1D52D254C}" presName="node" presStyleLbl="node1" presStyleIdx="2" presStyleCnt="5">
        <dgm:presLayoutVars>
          <dgm:bulletEnabled val="1"/>
        </dgm:presLayoutVars>
      </dgm:prSet>
      <dgm:spPr/>
      <dgm:t>
        <a:bodyPr/>
        <a:lstStyle/>
        <a:p>
          <a:endParaRPr lang="pt-BR"/>
        </a:p>
      </dgm:t>
    </dgm:pt>
    <dgm:pt modelId="{7FE42256-8E78-4A8F-9E10-2C92F6276597}" type="pres">
      <dgm:prSet presAssocID="{36FE89CD-C3A6-4C4E-A552-4E078D1F7533}" presName="sibTrans" presStyleCnt="0"/>
      <dgm:spPr/>
    </dgm:pt>
    <dgm:pt modelId="{4CAB6D2C-90F5-4917-8E45-6F42CA68ED2F}" type="pres">
      <dgm:prSet presAssocID="{A9CB2399-4DE2-42BF-A61A-A22F26C48B32}" presName="node" presStyleLbl="node1" presStyleIdx="3" presStyleCnt="5">
        <dgm:presLayoutVars>
          <dgm:bulletEnabled val="1"/>
        </dgm:presLayoutVars>
      </dgm:prSet>
      <dgm:spPr/>
      <dgm:t>
        <a:bodyPr/>
        <a:lstStyle/>
        <a:p>
          <a:endParaRPr lang="pt-BR"/>
        </a:p>
      </dgm:t>
    </dgm:pt>
    <dgm:pt modelId="{A347A9E6-43B4-40A2-A07C-3C6F10575C72}" type="pres">
      <dgm:prSet presAssocID="{DCBBBD0D-DFF7-412C-959E-62D38F430EB5}" presName="sibTrans" presStyleCnt="0"/>
      <dgm:spPr/>
    </dgm:pt>
    <dgm:pt modelId="{AE00639C-5D90-4D0A-B282-A96DEBDB2085}" type="pres">
      <dgm:prSet presAssocID="{FC5CC0AD-3E3B-49C5-A9CE-DC7F9CFE9540}" presName="node" presStyleLbl="node1" presStyleIdx="4" presStyleCnt="5">
        <dgm:presLayoutVars>
          <dgm:bulletEnabled val="1"/>
        </dgm:presLayoutVars>
      </dgm:prSet>
      <dgm:spPr/>
      <dgm:t>
        <a:bodyPr/>
        <a:lstStyle/>
        <a:p>
          <a:endParaRPr lang="pt-BR"/>
        </a:p>
      </dgm:t>
    </dgm:pt>
  </dgm:ptLst>
  <dgm:cxnLst>
    <dgm:cxn modelId="{CEE74126-60DF-480C-8CDA-A3060CBD864A}" type="presOf" srcId="{3051291A-39E5-4AFE-AC6B-67E2FEB1FD53}" destId="{2B4F9E74-DF74-4A13-AF35-1CE62FD116CF}" srcOrd="0" destOrd="0" presId="urn:microsoft.com/office/officeart/2005/8/layout/default"/>
    <dgm:cxn modelId="{53B90CA5-E94A-40CE-A342-3F1D254C75B3}" srcId="{FC5CC0AD-3E3B-49C5-A9CE-DC7F9CFE9540}" destId="{EAADE0C5-BC62-4587-805E-F1CEC18ABB38}" srcOrd="1" destOrd="0" parTransId="{A8736D57-AE64-4F25-B09F-6190EB7D9A28}" sibTransId="{284A6870-E06A-40E4-994B-11AA0950BDF2}"/>
    <dgm:cxn modelId="{CC823DA1-71DA-4383-92F8-17885E1ECA1E}" srcId="{8B4A0720-9FA5-457C-86E8-85F51AA32B80}" destId="{32AE1AEE-DCD8-4EBE-B157-B1AD32D9B914}" srcOrd="0" destOrd="0" parTransId="{730933EF-2F61-4089-8B24-6019B7094FC6}" sibTransId="{6ABC1DA2-40E8-4A12-8DAE-9837D6DA52E9}"/>
    <dgm:cxn modelId="{7F752293-EEB4-44B2-BFD1-49B9BEDB9157}" type="presOf" srcId="{FCC05A08-9433-4A59-9542-638D4B18BA05}" destId="{B5CF52DE-BE5A-496B-9DDF-C8DBE90BAFB2}" srcOrd="0" destOrd="1" presId="urn:microsoft.com/office/officeart/2005/8/layout/default"/>
    <dgm:cxn modelId="{CCB3EE40-BDBF-437E-81B7-79D685F3674E}" srcId="{BA570F21-B26C-475A-9E27-3536E2EDF84E}" destId="{CAF6DCFD-FEEB-4EB2-9548-A65F9352EBB2}" srcOrd="1" destOrd="0" parTransId="{72151E26-6FE3-410B-8152-D11EA9753107}" sibTransId="{85AE7E5D-FD7F-41F4-8F74-F3B29AAC89FF}"/>
    <dgm:cxn modelId="{4B828B6B-D012-409C-8C12-93C3813F164C}" srcId="{FC5CC0AD-3E3B-49C5-A9CE-DC7F9CFE9540}" destId="{9775392E-1A14-4375-9D7D-5E717B960765}" srcOrd="0" destOrd="0" parTransId="{0F8AD45A-BC11-451D-BF5F-E3F6C5DC0A5B}" sibTransId="{1C3107C1-C3B2-44B6-BF97-226728AA3F92}"/>
    <dgm:cxn modelId="{2996BD1D-8550-4C5E-A933-B69642441FEE}" type="presOf" srcId="{43CF6D43-3F1B-4F32-AA9E-C1A1D52D254C}" destId="{B5CF52DE-BE5A-496B-9DDF-C8DBE90BAFB2}" srcOrd="0" destOrd="0" presId="urn:microsoft.com/office/officeart/2005/8/layout/default"/>
    <dgm:cxn modelId="{914B30BF-5A9F-46B1-9F22-C676FC4E2D3B}" type="presOf" srcId="{EAADE0C5-BC62-4587-805E-F1CEC18ABB38}" destId="{AE00639C-5D90-4D0A-B282-A96DEBDB2085}" srcOrd="0" destOrd="2" presId="urn:microsoft.com/office/officeart/2005/8/layout/default"/>
    <dgm:cxn modelId="{27D2E23F-3E89-4483-ABA0-E0669B3B0A04}" type="presOf" srcId="{C592218F-D41E-4DDE-8D1F-22C847B9EE25}" destId="{B5CF52DE-BE5A-496B-9DDF-C8DBE90BAFB2}" srcOrd="0" destOrd="2" presId="urn:microsoft.com/office/officeart/2005/8/layout/default"/>
    <dgm:cxn modelId="{1E1FF25E-17B9-4764-8C5C-90D536699DB6}" srcId="{3051291A-39E5-4AFE-AC6B-67E2FEB1FD53}" destId="{43CF6D43-3F1B-4F32-AA9E-C1A1D52D254C}" srcOrd="2" destOrd="0" parTransId="{5CEA0953-ADF5-4CD8-850F-DDB8E934EEBB}" sibTransId="{36FE89CD-C3A6-4C4E-A552-4E078D1F7533}"/>
    <dgm:cxn modelId="{46221961-942D-432E-8C33-AE0FC20BD830}" type="presOf" srcId="{34B92FDC-2259-4FAA-B983-5710B10870CC}" destId="{0F09B9D4-3367-4305-92C3-B67AC8B2F45E}" srcOrd="0" destOrd="2" presId="urn:microsoft.com/office/officeart/2005/8/layout/default"/>
    <dgm:cxn modelId="{FD30F562-E56E-472B-8C76-A4B4CDC329F3}" srcId="{BA570F21-B26C-475A-9E27-3536E2EDF84E}" destId="{A5BD6B1A-0BB1-48BA-9FD2-13D3D2EFAE61}" srcOrd="0" destOrd="0" parTransId="{E84949CD-ADD5-4578-840A-0AF49540EBB3}" sibTransId="{56CCEBC5-201D-4DD2-8BAF-FE283F23CEBD}"/>
    <dgm:cxn modelId="{AAAA2854-FA78-41BE-B44F-6145620B7470}" srcId="{A9CB2399-4DE2-42BF-A61A-A22F26C48B32}" destId="{F7FD2BEE-2F3B-4647-990C-66D3CF509805}" srcOrd="1" destOrd="0" parTransId="{A20E244B-90CF-4104-88FB-2F2295D4F319}" sibTransId="{464AFAC6-8ADD-411E-A925-4BEAA73D8E90}"/>
    <dgm:cxn modelId="{1A9BEDF9-4336-44F1-AB91-7744E986AB13}" type="presOf" srcId="{A9CB2399-4DE2-42BF-A61A-A22F26C48B32}" destId="{4CAB6D2C-90F5-4917-8E45-6F42CA68ED2F}" srcOrd="0" destOrd="0" presId="urn:microsoft.com/office/officeart/2005/8/layout/default"/>
    <dgm:cxn modelId="{B840E9EE-B0C0-4913-8B5F-AA083DA7F5D9}" srcId="{8B4A0720-9FA5-457C-86E8-85F51AA32B80}" destId="{34B92FDC-2259-4FAA-B983-5710B10870CC}" srcOrd="1" destOrd="0" parTransId="{5E0ECC67-79FB-4151-86D7-C72CB7B982A5}" sibTransId="{F63CE94A-20E5-455D-92EC-1E3D0F4D05D0}"/>
    <dgm:cxn modelId="{36F62610-142E-4FA7-A79E-58DB7B559E44}" srcId="{3051291A-39E5-4AFE-AC6B-67E2FEB1FD53}" destId="{8B4A0720-9FA5-457C-86E8-85F51AA32B80}" srcOrd="0" destOrd="0" parTransId="{902BACA7-9E37-4530-A67E-EEDDB3445000}" sibTransId="{539076D7-597F-4606-AE0C-BF2804AC8BD8}"/>
    <dgm:cxn modelId="{DFD07E15-589A-40BD-A828-C2A859721EF1}" type="presOf" srcId="{FC5CC0AD-3E3B-49C5-A9CE-DC7F9CFE9540}" destId="{AE00639C-5D90-4D0A-B282-A96DEBDB2085}" srcOrd="0" destOrd="0" presId="urn:microsoft.com/office/officeart/2005/8/layout/default"/>
    <dgm:cxn modelId="{B89F1222-22A5-46E7-868E-8630A373479A}" type="presOf" srcId="{32AE1AEE-DCD8-4EBE-B157-B1AD32D9B914}" destId="{0F09B9D4-3367-4305-92C3-B67AC8B2F45E}" srcOrd="0" destOrd="1" presId="urn:microsoft.com/office/officeart/2005/8/layout/default"/>
    <dgm:cxn modelId="{351C929A-7935-49D0-BEAB-54E7CA318E74}" type="presOf" srcId="{8B4A0720-9FA5-457C-86E8-85F51AA32B80}" destId="{0F09B9D4-3367-4305-92C3-B67AC8B2F45E}" srcOrd="0" destOrd="0" presId="urn:microsoft.com/office/officeart/2005/8/layout/default"/>
    <dgm:cxn modelId="{FD098F3E-E40E-4D15-8D67-A257BD915F36}" type="presOf" srcId="{9775392E-1A14-4375-9D7D-5E717B960765}" destId="{AE00639C-5D90-4D0A-B282-A96DEBDB2085}" srcOrd="0" destOrd="1" presId="urn:microsoft.com/office/officeart/2005/8/layout/default"/>
    <dgm:cxn modelId="{5ECA3953-47D9-4DBF-A701-35FB771EA02A}" srcId="{A9CB2399-4DE2-42BF-A61A-A22F26C48B32}" destId="{0C1CA021-B10B-4299-A927-AC6BDE5EB051}" srcOrd="0" destOrd="0" parTransId="{7743B116-A418-4448-A6D3-950C22FD4895}" sibTransId="{26C251EA-0D1C-479A-A277-8588EE875B22}"/>
    <dgm:cxn modelId="{FD8512DF-4A0C-4BB2-A7FC-51EA5BCE3E0D}" srcId="{43CF6D43-3F1B-4F32-AA9E-C1A1D52D254C}" destId="{FCC05A08-9433-4A59-9542-638D4B18BA05}" srcOrd="0" destOrd="0" parTransId="{6CEDA281-3BBB-4EDC-83F1-788206F0C6F3}" sibTransId="{A3E74A65-709C-47F6-9A04-B0241C5FFD0D}"/>
    <dgm:cxn modelId="{9CBE1076-E1CB-49B0-A58D-786A3E7FF34C}" type="presOf" srcId="{0C1CA021-B10B-4299-A927-AC6BDE5EB051}" destId="{4CAB6D2C-90F5-4917-8E45-6F42CA68ED2F}" srcOrd="0" destOrd="1" presId="urn:microsoft.com/office/officeart/2005/8/layout/default"/>
    <dgm:cxn modelId="{A06EE220-C419-4800-A4CB-CC80755C2D91}" type="presOf" srcId="{CAF6DCFD-FEEB-4EB2-9548-A65F9352EBB2}" destId="{B0B586CA-8653-4820-B725-E2BF4F310B4B}" srcOrd="0" destOrd="2" presId="urn:microsoft.com/office/officeart/2005/8/layout/default"/>
    <dgm:cxn modelId="{2E10804C-51DC-401E-984B-D2AE3343B7E5}" srcId="{3051291A-39E5-4AFE-AC6B-67E2FEB1FD53}" destId="{FC5CC0AD-3E3B-49C5-A9CE-DC7F9CFE9540}" srcOrd="4" destOrd="0" parTransId="{2BFC5D57-2CFB-400A-B45D-68EDDA732745}" sibTransId="{BBF6180A-EC0A-4BF6-B2F5-1C545BA4B7DE}"/>
    <dgm:cxn modelId="{86751AB0-9594-4DBF-A6A8-505C1FAF0F60}" type="presOf" srcId="{F7FD2BEE-2F3B-4647-990C-66D3CF509805}" destId="{4CAB6D2C-90F5-4917-8E45-6F42CA68ED2F}" srcOrd="0" destOrd="2" presId="urn:microsoft.com/office/officeart/2005/8/layout/default"/>
    <dgm:cxn modelId="{B4E93CEC-BF04-4546-ACC8-B5F9EF08F1FC}" type="presOf" srcId="{BA570F21-B26C-475A-9E27-3536E2EDF84E}" destId="{B0B586CA-8653-4820-B725-E2BF4F310B4B}" srcOrd="0" destOrd="0" presId="urn:microsoft.com/office/officeart/2005/8/layout/default"/>
    <dgm:cxn modelId="{B4FCB7C0-BBD3-497C-89AF-01CF1E74DF01}" srcId="{3051291A-39E5-4AFE-AC6B-67E2FEB1FD53}" destId="{BA570F21-B26C-475A-9E27-3536E2EDF84E}" srcOrd="1" destOrd="0" parTransId="{246B12B6-0816-410F-A355-D8F5B75E5156}" sibTransId="{78C5E34E-4ABB-4194-AB79-D7102A2ECBD1}"/>
    <dgm:cxn modelId="{7117EC78-F1C3-46CB-AA17-58BB9D863A97}" type="presOf" srcId="{A5BD6B1A-0BB1-48BA-9FD2-13D3D2EFAE61}" destId="{B0B586CA-8653-4820-B725-E2BF4F310B4B}" srcOrd="0" destOrd="1" presId="urn:microsoft.com/office/officeart/2005/8/layout/default"/>
    <dgm:cxn modelId="{4F645B19-D902-49C1-9725-2B8799BA0495}" srcId="{43CF6D43-3F1B-4F32-AA9E-C1A1D52D254C}" destId="{C592218F-D41E-4DDE-8D1F-22C847B9EE25}" srcOrd="1" destOrd="0" parTransId="{696C17F7-4F2A-4CB9-881B-32A78F38E6E3}" sibTransId="{CDB9C071-E45E-4217-93B6-84C5E6256D05}"/>
    <dgm:cxn modelId="{C3E13F60-11B9-49D7-AAC6-9D3B9BD9C74F}" srcId="{3051291A-39E5-4AFE-AC6B-67E2FEB1FD53}" destId="{A9CB2399-4DE2-42BF-A61A-A22F26C48B32}" srcOrd="3" destOrd="0" parTransId="{D21C4647-0227-464E-8152-388615AD043A}" sibTransId="{DCBBBD0D-DFF7-412C-959E-62D38F430EB5}"/>
    <dgm:cxn modelId="{A444476D-6460-45F2-B1B6-DE065BD5B525}" type="presParOf" srcId="{2B4F9E74-DF74-4A13-AF35-1CE62FD116CF}" destId="{0F09B9D4-3367-4305-92C3-B67AC8B2F45E}" srcOrd="0" destOrd="0" presId="urn:microsoft.com/office/officeart/2005/8/layout/default"/>
    <dgm:cxn modelId="{641B110E-E8DD-48BC-8F7E-A16FF79D3F50}" type="presParOf" srcId="{2B4F9E74-DF74-4A13-AF35-1CE62FD116CF}" destId="{920F9355-F0BB-4BB6-B079-D195A36796B6}" srcOrd="1" destOrd="0" presId="urn:microsoft.com/office/officeart/2005/8/layout/default"/>
    <dgm:cxn modelId="{36482FD9-1A3A-4FE7-ADEF-15CB271760E4}" type="presParOf" srcId="{2B4F9E74-DF74-4A13-AF35-1CE62FD116CF}" destId="{B0B586CA-8653-4820-B725-E2BF4F310B4B}" srcOrd="2" destOrd="0" presId="urn:microsoft.com/office/officeart/2005/8/layout/default"/>
    <dgm:cxn modelId="{58C65184-9045-4984-9ABC-7B6893E0DA98}" type="presParOf" srcId="{2B4F9E74-DF74-4A13-AF35-1CE62FD116CF}" destId="{C3EE0DA2-B0D5-461F-8FDE-1A50F272B809}" srcOrd="3" destOrd="0" presId="urn:microsoft.com/office/officeart/2005/8/layout/default"/>
    <dgm:cxn modelId="{D7716335-433A-4801-993A-3FAD163CF74D}" type="presParOf" srcId="{2B4F9E74-DF74-4A13-AF35-1CE62FD116CF}" destId="{B5CF52DE-BE5A-496B-9DDF-C8DBE90BAFB2}" srcOrd="4" destOrd="0" presId="urn:microsoft.com/office/officeart/2005/8/layout/default"/>
    <dgm:cxn modelId="{4C4ECC8B-B67A-4898-8E7F-3E8A6BB38490}" type="presParOf" srcId="{2B4F9E74-DF74-4A13-AF35-1CE62FD116CF}" destId="{7FE42256-8E78-4A8F-9E10-2C92F6276597}" srcOrd="5" destOrd="0" presId="urn:microsoft.com/office/officeart/2005/8/layout/default"/>
    <dgm:cxn modelId="{ABE043FC-DC48-47A3-BAED-2C9718C5014F}" type="presParOf" srcId="{2B4F9E74-DF74-4A13-AF35-1CE62FD116CF}" destId="{4CAB6D2C-90F5-4917-8E45-6F42CA68ED2F}" srcOrd="6" destOrd="0" presId="urn:microsoft.com/office/officeart/2005/8/layout/default"/>
    <dgm:cxn modelId="{F704C76D-7396-44D7-B717-E317FFD9DE64}" type="presParOf" srcId="{2B4F9E74-DF74-4A13-AF35-1CE62FD116CF}" destId="{A347A9E6-43B4-40A2-A07C-3C6F10575C72}" srcOrd="7" destOrd="0" presId="urn:microsoft.com/office/officeart/2005/8/layout/default"/>
    <dgm:cxn modelId="{FBD3B072-58A3-44B2-8467-4589D25B54DC}" type="presParOf" srcId="{2B4F9E74-DF74-4A13-AF35-1CE62FD116CF}" destId="{AE00639C-5D90-4D0A-B282-A96DEBDB2085}"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81E195-1ECF-4803-A3CB-122F0B79749C}"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pt-BR"/>
        </a:p>
      </dgm:t>
    </dgm:pt>
    <dgm:pt modelId="{67F24C6C-7F19-4FBC-BBBA-F30234215B46}">
      <dgm:prSet phldrT="[Texto]"/>
      <dgm:spPr/>
      <dgm:t>
        <a:bodyPr/>
        <a:lstStyle/>
        <a:p>
          <a:r>
            <a:rPr lang="pt-BR" dirty="0" smtClean="0"/>
            <a:t>Banco OLAP</a:t>
          </a:r>
        </a:p>
      </dgm:t>
    </dgm:pt>
    <dgm:pt modelId="{EA4110E1-85B4-458A-931D-2BCA2EF79717}" type="parTrans" cxnId="{AC366AAC-BF96-4630-A51D-C8EBA3E0AEF2}">
      <dgm:prSet/>
      <dgm:spPr/>
      <dgm:t>
        <a:bodyPr/>
        <a:lstStyle/>
        <a:p>
          <a:endParaRPr lang="pt-BR"/>
        </a:p>
      </dgm:t>
    </dgm:pt>
    <dgm:pt modelId="{0494AFC9-BB86-4729-887C-03682691DA8C}" type="sibTrans" cxnId="{AC366AAC-BF96-4630-A51D-C8EBA3E0AEF2}">
      <dgm:prSet/>
      <dgm:spPr/>
      <dgm:t>
        <a:bodyPr/>
        <a:lstStyle/>
        <a:p>
          <a:endParaRPr lang="pt-BR"/>
        </a:p>
      </dgm:t>
    </dgm:pt>
    <dgm:pt modelId="{B94ED965-8BE6-4DAC-99A3-E19B973C7D65}">
      <dgm:prSet phldrT="[Texto]"/>
      <dgm:spPr/>
      <dgm:t>
        <a:bodyPr/>
        <a:lstStyle/>
        <a:p>
          <a:r>
            <a:rPr lang="pt-BR" dirty="0" smtClean="0"/>
            <a:t>Utilizado apenas para leitura</a:t>
          </a:r>
          <a:endParaRPr lang="pt-BR" dirty="0"/>
        </a:p>
      </dgm:t>
    </dgm:pt>
    <dgm:pt modelId="{5CCE2C9E-FAB9-458B-AC7E-A485655A8C29}" type="parTrans" cxnId="{E8A4D7F4-407B-48E8-8302-9BEA25F3AC06}">
      <dgm:prSet/>
      <dgm:spPr/>
      <dgm:t>
        <a:bodyPr/>
        <a:lstStyle/>
        <a:p>
          <a:endParaRPr lang="pt-BR"/>
        </a:p>
      </dgm:t>
    </dgm:pt>
    <dgm:pt modelId="{DE03B995-C565-41C0-8586-E6C0DE89B2BE}" type="sibTrans" cxnId="{E8A4D7F4-407B-48E8-8302-9BEA25F3AC06}">
      <dgm:prSet/>
      <dgm:spPr/>
      <dgm:t>
        <a:bodyPr/>
        <a:lstStyle/>
        <a:p>
          <a:endParaRPr lang="pt-BR"/>
        </a:p>
      </dgm:t>
    </dgm:pt>
    <dgm:pt modelId="{555D17C1-8813-4122-955B-CF743DA68E4A}">
      <dgm:prSet phldrT="[Texto]"/>
      <dgm:spPr/>
      <dgm:t>
        <a:bodyPr/>
        <a:lstStyle/>
        <a:p>
          <a:r>
            <a:rPr lang="pt-BR" dirty="0" smtClean="0"/>
            <a:t>Os dados são </a:t>
          </a:r>
          <a:r>
            <a:rPr lang="pt-BR" i="1" dirty="0" err="1" smtClean="0"/>
            <a:t>desnormalizados</a:t>
          </a:r>
          <a:r>
            <a:rPr lang="pt-BR" dirty="0" smtClean="0"/>
            <a:t> para otimização da consulta</a:t>
          </a:r>
          <a:endParaRPr lang="pt-BR" dirty="0"/>
        </a:p>
      </dgm:t>
    </dgm:pt>
    <dgm:pt modelId="{59D13623-E733-4554-B731-4DE5C4EF711E}" type="parTrans" cxnId="{3ABD3296-1C04-4CC1-86E7-94611CDBFAB3}">
      <dgm:prSet/>
      <dgm:spPr/>
      <dgm:t>
        <a:bodyPr/>
        <a:lstStyle/>
        <a:p>
          <a:endParaRPr lang="pt-BR"/>
        </a:p>
      </dgm:t>
    </dgm:pt>
    <dgm:pt modelId="{89D1B668-E98D-4B2B-85F5-5D28F73505BF}" type="sibTrans" cxnId="{3ABD3296-1C04-4CC1-86E7-94611CDBFAB3}">
      <dgm:prSet/>
      <dgm:spPr/>
      <dgm:t>
        <a:bodyPr/>
        <a:lstStyle/>
        <a:p>
          <a:endParaRPr lang="pt-BR"/>
        </a:p>
      </dgm:t>
    </dgm:pt>
    <dgm:pt modelId="{0F4CD967-98FF-4B07-91D1-0B13352DD5CF}">
      <dgm:prSet phldrT="[Texto]"/>
      <dgm:spPr/>
      <dgm:t>
        <a:bodyPr/>
        <a:lstStyle/>
        <a:p>
          <a:r>
            <a:rPr lang="pt-BR" smtClean="0"/>
            <a:t>Utiliza um esquema estrela ou floco de neve</a:t>
          </a:r>
          <a:endParaRPr lang="pt-BR" dirty="0"/>
        </a:p>
      </dgm:t>
    </dgm:pt>
    <dgm:pt modelId="{012C7890-7102-4369-AF3F-A3D0998C9E1B}" type="parTrans" cxnId="{1480C280-A556-4B1F-AB3E-419D9F3B38B5}">
      <dgm:prSet/>
      <dgm:spPr/>
      <dgm:t>
        <a:bodyPr/>
        <a:lstStyle/>
        <a:p>
          <a:endParaRPr lang="pt-BR"/>
        </a:p>
      </dgm:t>
    </dgm:pt>
    <dgm:pt modelId="{E3A82544-DA94-4F28-834D-CFB8C1FC67C7}" type="sibTrans" cxnId="{1480C280-A556-4B1F-AB3E-419D9F3B38B5}">
      <dgm:prSet/>
      <dgm:spPr/>
      <dgm:t>
        <a:bodyPr/>
        <a:lstStyle/>
        <a:p>
          <a:endParaRPr lang="pt-BR"/>
        </a:p>
      </dgm:t>
    </dgm:pt>
    <dgm:pt modelId="{504CD5E6-AD77-44CE-8072-4C60617AAE09}" type="pres">
      <dgm:prSet presAssocID="{B881E195-1ECF-4803-A3CB-122F0B79749C}" presName="linear" presStyleCnt="0">
        <dgm:presLayoutVars>
          <dgm:dir/>
          <dgm:animLvl val="lvl"/>
          <dgm:resizeHandles val="exact"/>
        </dgm:presLayoutVars>
      </dgm:prSet>
      <dgm:spPr/>
      <dgm:t>
        <a:bodyPr/>
        <a:lstStyle/>
        <a:p>
          <a:endParaRPr lang="pt-BR"/>
        </a:p>
      </dgm:t>
    </dgm:pt>
    <dgm:pt modelId="{B37FE3EC-1CC8-4AD3-B77F-197A58760535}" type="pres">
      <dgm:prSet presAssocID="{67F24C6C-7F19-4FBC-BBBA-F30234215B46}" presName="parentLin" presStyleCnt="0"/>
      <dgm:spPr/>
    </dgm:pt>
    <dgm:pt modelId="{F569F577-0194-42EA-B59D-5BC60C6064EB}" type="pres">
      <dgm:prSet presAssocID="{67F24C6C-7F19-4FBC-BBBA-F30234215B46}" presName="parentLeftMargin" presStyleLbl="node1" presStyleIdx="0" presStyleCnt="3"/>
      <dgm:spPr/>
      <dgm:t>
        <a:bodyPr/>
        <a:lstStyle/>
        <a:p>
          <a:endParaRPr lang="pt-BR"/>
        </a:p>
      </dgm:t>
    </dgm:pt>
    <dgm:pt modelId="{27F7C86D-05C0-4813-8CA6-E6B25C7B284E}" type="pres">
      <dgm:prSet presAssocID="{67F24C6C-7F19-4FBC-BBBA-F30234215B46}" presName="parentText" presStyleLbl="node1" presStyleIdx="0" presStyleCnt="3">
        <dgm:presLayoutVars>
          <dgm:chMax val="0"/>
          <dgm:bulletEnabled val="1"/>
        </dgm:presLayoutVars>
      </dgm:prSet>
      <dgm:spPr/>
      <dgm:t>
        <a:bodyPr/>
        <a:lstStyle/>
        <a:p>
          <a:endParaRPr lang="pt-BR"/>
        </a:p>
      </dgm:t>
    </dgm:pt>
    <dgm:pt modelId="{E46C941E-BD05-476A-977D-12855E1B61FD}" type="pres">
      <dgm:prSet presAssocID="{67F24C6C-7F19-4FBC-BBBA-F30234215B46}" presName="negativeSpace" presStyleCnt="0"/>
      <dgm:spPr/>
    </dgm:pt>
    <dgm:pt modelId="{EBD8B777-E407-4E96-B80C-513D9280756A}" type="pres">
      <dgm:prSet presAssocID="{67F24C6C-7F19-4FBC-BBBA-F30234215B46}" presName="childText" presStyleLbl="conFgAcc1" presStyleIdx="0" presStyleCnt="3">
        <dgm:presLayoutVars>
          <dgm:bulletEnabled val="1"/>
        </dgm:presLayoutVars>
      </dgm:prSet>
      <dgm:spPr/>
      <dgm:t>
        <a:bodyPr/>
        <a:lstStyle/>
        <a:p>
          <a:endParaRPr lang="pt-BR"/>
        </a:p>
      </dgm:t>
    </dgm:pt>
    <dgm:pt modelId="{C24949F0-53D0-44AF-B3D4-938807AD1CBF}" type="pres">
      <dgm:prSet presAssocID="{0494AFC9-BB86-4729-887C-03682691DA8C}" presName="spaceBetweenRectangles" presStyleCnt="0"/>
      <dgm:spPr/>
    </dgm:pt>
    <dgm:pt modelId="{6EB6995D-8FD0-4BF7-B9A0-B76B579D109E}" type="pres">
      <dgm:prSet presAssocID="{555D17C1-8813-4122-955B-CF743DA68E4A}" presName="parentLin" presStyleCnt="0"/>
      <dgm:spPr/>
    </dgm:pt>
    <dgm:pt modelId="{EEA47CE2-2DE6-41C5-ABAC-635A67F0FB0C}" type="pres">
      <dgm:prSet presAssocID="{555D17C1-8813-4122-955B-CF743DA68E4A}" presName="parentLeftMargin" presStyleLbl="node1" presStyleIdx="0" presStyleCnt="3"/>
      <dgm:spPr/>
      <dgm:t>
        <a:bodyPr/>
        <a:lstStyle/>
        <a:p>
          <a:endParaRPr lang="pt-BR"/>
        </a:p>
      </dgm:t>
    </dgm:pt>
    <dgm:pt modelId="{AB478FCE-E6CD-4459-A550-BC8656268E88}" type="pres">
      <dgm:prSet presAssocID="{555D17C1-8813-4122-955B-CF743DA68E4A}" presName="parentText" presStyleLbl="node1" presStyleIdx="1" presStyleCnt="3">
        <dgm:presLayoutVars>
          <dgm:chMax val="0"/>
          <dgm:bulletEnabled val="1"/>
        </dgm:presLayoutVars>
      </dgm:prSet>
      <dgm:spPr/>
      <dgm:t>
        <a:bodyPr/>
        <a:lstStyle/>
        <a:p>
          <a:endParaRPr lang="pt-BR"/>
        </a:p>
      </dgm:t>
    </dgm:pt>
    <dgm:pt modelId="{9F19B949-5010-4510-887D-B3B60ABE6FB3}" type="pres">
      <dgm:prSet presAssocID="{555D17C1-8813-4122-955B-CF743DA68E4A}" presName="negativeSpace" presStyleCnt="0"/>
      <dgm:spPr/>
    </dgm:pt>
    <dgm:pt modelId="{F3AF452A-470F-4957-A5D2-EEA62E437C7F}" type="pres">
      <dgm:prSet presAssocID="{555D17C1-8813-4122-955B-CF743DA68E4A}" presName="childText" presStyleLbl="conFgAcc1" presStyleIdx="1" presStyleCnt="3">
        <dgm:presLayoutVars>
          <dgm:bulletEnabled val="1"/>
        </dgm:presLayoutVars>
      </dgm:prSet>
      <dgm:spPr/>
    </dgm:pt>
    <dgm:pt modelId="{544B89E3-1054-4161-91F2-22DD326C59DE}" type="pres">
      <dgm:prSet presAssocID="{89D1B668-E98D-4B2B-85F5-5D28F73505BF}" presName="spaceBetweenRectangles" presStyleCnt="0"/>
      <dgm:spPr/>
    </dgm:pt>
    <dgm:pt modelId="{9B6FD4F1-E30D-41F1-9053-7A9A6585F351}" type="pres">
      <dgm:prSet presAssocID="{0F4CD967-98FF-4B07-91D1-0B13352DD5CF}" presName="parentLin" presStyleCnt="0"/>
      <dgm:spPr/>
    </dgm:pt>
    <dgm:pt modelId="{7EF5D05A-726D-43CB-9205-073A4497CA5D}" type="pres">
      <dgm:prSet presAssocID="{0F4CD967-98FF-4B07-91D1-0B13352DD5CF}" presName="parentLeftMargin" presStyleLbl="node1" presStyleIdx="1" presStyleCnt="3"/>
      <dgm:spPr/>
      <dgm:t>
        <a:bodyPr/>
        <a:lstStyle/>
        <a:p>
          <a:endParaRPr lang="pt-BR"/>
        </a:p>
      </dgm:t>
    </dgm:pt>
    <dgm:pt modelId="{49D1F87E-D4DA-4517-8FEE-8C8B65F8DCFA}" type="pres">
      <dgm:prSet presAssocID="{0F4CD967-98FF-4B07-91D1-0B13352DD5CF}" presName="parentText" presStyleLbl="node1" presStyleIdx="2" presStyleCnt="3">
        <dgm:presLayoutVars>
          <dgm:chMax val="0"/>
          <dgm:bulletEnabled val="1"/>
        </dgm:presLayoutVars>
      </dgm:prSet>
      <dgm:spPr/>
      <dgm:t>
        <a:bodyPr/>
        <a:lstStyle/>
        <a:p>
          <a:endParaRPr lang="pt-BR"/>
        </a:p>
      </dgm:t>
    </dgm:pt>
    <dgm:pt modelId="{11963E3F-7A40-4B71-ADB4-424ADE7C0AD0}" type="pres">
      <dgm:prSet presAssocID="{0F4CD967-98FF-4B07-91D1-0B13352DD5CF}" presName="negativeSpace" presStyleCnt="0"/>
      <dgm:spPr/>
    </dgm:pt>
    <dgm:pt modelId="{83BEEA69-B492-4FA5-94C3-5D40D719FE3F}" type="pres">
      <dgm:prSet presAssocID="{0F4CD967-98FF-4B07-91D1-0B13352DD5CF}" presName="childText" presStyleLbl="conFgAcc1" presStyleIdx="2" presStyleCnt="3">
        <dgm:presLayoutVars>
          <dgm:bulletEnabled val="1"/>
        </dgm:presLayoutVars>
      </dgm:prSet>
      <dgm:spPr/>
    </dgm:pt>
  </dgm:ptLst>
  <dgm:cxnLst>
    <dgm:cxn modelId="{6C7CA9BE-C33B-4FAB-A7B8-FB6A7822AD7B}" type="presOf" srcId="{0F4CD967-98FF-4B07-91D1-0B13352DD5CF}" destId="{7EF5D05A-726D-43CB-9205-073A4497CA5D}" srcOrd="0" destOrd="0" presId="urn:microsoft.com/office/officeart/2005/8/layout/list1"/>
    <dgm:cxn modelId="{DCF7BA48-C3F6-4ABD-BC84-A086D2927449}" type="presOf" srcId="{67F24C6C-7F19-4FBC-BBBA-F30234215B46}" destId="{27F7C86D-05C0-4813-8CA6-E6B25C7B284E}" srcOrd="1" destOrd="0" presId="urn:microsoft.com/office/officeart/2005/8/layout/list1"/>
    <dgm:cxn modelId="{AC366AAC-BF96-4630-A51D-C8EBA3E0AEF2}" srcId="{B881E195-1ECF-4803-A3CB-122F0B79749C}" destId="{67F24C6C-7F19-4FBC-BBBA-F30234215B46}" srcOrd="0" destOrd="0" parTransId="{EA4110E1-85B4-458A-931D-2BCA2EF79717}" sibTransId="{0494AFC9-BB86-4729-887C-03682691DA8C}"/>
    <dgm:cxn modelId="{1480C280-A556-4B1F-AB3E-419D9F3B38B5}" srcId="{B881E195-1ECF-4803-A3CB-122F0B79749C}" destId="{0F4CD967-98FF-4B07-91D1-0B13352DD5CF}" srcOrd="2" destOrd="0" parTransId="{012C7890-7102-4369-AF3F-A3D0998C9E1B}" sibTransId="{E3A82544-DA94-4F28-834D-CFB8C1FC67C7}"/>
    <dgm:cxn modelId="{3ED61DE1-77DB-492F-97F3-DB5DBBD081F6}" type="presOf" srcId="{67F24C6C-7F19-4FBC-BBBA-F30234215B46}" destId="{F569F577-0194-42EA-B59D-5BC60C6064EB}" srcOrd="0" destOrd="0" presId="urn:microsoft.com/office/officeart/2005/8/layout/list1"/>
    <dgm:cxn modelId="{B981E40E-23B2-4D39-8A48-C1D29C82AECB}" type="presOf" srcId="{B94ED965-8BE6-4DAC-99A3-E19B973C7D65}" destId="{EBD8B777-E407-4E96-B80C-513D9280756A}" srcOrd="0" destOrd="0" presId="urn:microsoft.com/office/officeart/2005/8/layout/list1"/>
    <dgm:cxn modelId="{7AE043BB-F12B-439F-90C7-5FADA0B859ED}" type="presOf" srcId="{0F4CD967-98FF-4B07-91D1-0B13352DD5CF}" destId="{49D1F87E-D4DA-4517-8FEE-8C8B65F8DCFA}" srcOrd="1" destOrd="0" presId="urn:microsoft.com/office/officeart/2005/8/layout/list1"/>
    <dgm:cxn modelId="{7B747A14-EB07-4BC0-BF91-80E3800C107C}" type="presOf" srcId="{555D17C1-8813-4122-955B-CF743DA68E4A}" destId="{EEA47CE2-2DE6-41C5-ABAC-635A67F0FB0C}" srcOrd="0" destOrd="0" presId="urn:microsoft.com/office/officeart/2005/8/layout/list1"/>
    <dgm:cxn modelId="{8E4CC45F-2F2F-42FD-AA7D-C9D284F90C1D}" type="presOf" srcId="{555D17C1-8813-4122-955B-CF743DA68E4A}" destId="{AB478FCE-E6CD-4459-A550-BC8656268E88}" srcOrd="1" destOrd="0" presId="urn:microsoft.com/office/officeart/2005/8/layout/list1"/>
    <dgm:cxn modelId="{E8A4D7F4-407B-48E8-8302-9BEA25F3AC06}" srcId="{67F24C6C-7F19-4FBC-BBBA-F30234215B46}" destId="{B94ED965-8BE6-4DAC-99A3-E19B973C7D65}" srcOrd="0" destOrd="0" parTransId="{5CCE2C9E-FAB9-458B-AC7E-A485655A8C29}" sibTransId="{DE03B995-C565-41C0-8586-E6C0DE89B2BE}"/>
    <dgm:cxn modelId="{5DF6339B-4BD5-4B15-A0CE-D9CFC18622F3}" type="presOf" srcId="{B881E195-1ECF-4803-A3CB-122F0B79749C}" destId="{504CD5E6-AD77-44CE-8072-4C60617AAE09}" srcOrd="0" destOrd="0" presId="urn:microsoft.com/office/officeart/2005/8/layout/list1"/>
    <dgm:cxn modelId="{3ABD3296-1C04-4CC1-86E7-94611CDBFAB3}" srcId="{B881E195-1ECF-4803-A3CB-122F0B79749C}" destId="{555D17C1-8813-4122-955B-CF743DA68E4A}" srcOrd="1" destOrd="0" parTransId="{59D13623-E733-4554-B731-4DE5C4EF711E}" sibTransId="{89D1B668-E98D-4B2B-85F5-5D28F73505BF}"/>
    <dgm:cxn modelId="{569EAEC1-34EC-4F56-A34B-A40383642130}" type="presParOf" srcId="{504CD5E6-AD77-44CE-8072-4C60617AAE09}" destId="{B37FE3EC-1CC8-4AD3-B77F-197A58760535}" srcOrd="0" destOrd="0" presId="urn:microsoft.com/office/officeart/2005/8/layout/list1"/>
    <dgm:cxn modelId="{DD5D4417-AA62-4709-902E-DB7EAB1D3D33}" type="presParOf" srcId="{B37FE3EC-1CC8-4AD3-B77F-197A58760535}" destId="{F569F577-0194-42EA-B59D-5BC60C6064EB}" srcOrd="0" destOrd="0" presId="urn:microsoft.com/office/officeart/2005/8/layout/list1"/>
    <dgm:cxn modelId="{2A2A3DA0-FA4F-4577-972E-85C9FC9A55E9}" type="presParOf" srcId="{B37FE3EC-1CC8-4AD3-B77F-197A58760535}" destId="{27F7C86D-05C0-4813-8CA6-E6B25C7B284E}" srcOrd="1" destOrd="0" presId="urn:microsoft.com/office/officeart/2005/8/layout/list1"/>
    <dgm:cxn modelId="{7A4C1847-9349-46D5-AE22-A3C61D16DEF0}" type="presParOf" srcId="{504CD5E6-AD77-44CE-8072-4C60617AAE09}" destId="{E46C941E-BD05-476A-977D-12855E1B61FD}" srcOrd="1" destOrd="0" presId="urn:microsoft.com/office/officeart/2005/8/layout/list1"/>
    <dgm:cxn modelId="{DCCDCC3A-12DD-4A8F-9B33-0A21F5D7A3ED}" type="presParOf" srcId="{504CD5E6-AD77-44CE-8072-4C60617AAE09}" destId="{EBD8B777-E407-4E96-B80C-513D9280756A}" srcOrd="2" destOrd="0" presId="urn:microsoft.com/office/officeart/2005/8/layout/list1"/>
    <dgm:cxn modelId="{608A277F-128B-4ECD-B164-D836DA794810}" type="presParOf" srcId="{504CD5E6-AD77-44CE-8072-4C60617AAE09}" destId="{C24949F0-53D0-44AF-B3D4-938807AD1CBF}" srcOrd="3" destOrd="0" presId="urn:microsoft.com/office/officeart/2005/8/layout/list1"/>
    <dgm:cxn modelId="{A393F792-ADD3-46A7-8195-96B26116E77D}" type="presParOf" srcId="{504CD5E6-AD77-44CE-8072-4C60617AAE09}" destId="{6EB6995D-8FD0-4BF7-B9A0-B76B579D109E}" srcOrd="4" destOrd="0" presId="urn:microsoft.com/office/officeart/2005/8/layout/list1"/>
    <dgm:cxn modelId="{EA39B424-4E83-4ADB-B8D5-45F122F4F3EB}" type="presParOf" srcId="{6EB6995D-8FD0-4BF7-B9A0-B76B579D109E}" destId="{EEA47CE2-2DE6-41C5-ABAC-635A67F0FB0C}" srcOrd="0" destOrd="0" presId="urn:microsoft.com/office/officeart/2005/8/layout/list1"/>
    <dgm:cxn modelId="{49556CEF-97D2-4061-9AD4-224D1509560D}" type="presParOf" srcId="{6EB6995D-8FD0-4BF7-B9A0-B76B579D109E}" destId="{AB478FCE-E6CD-4459-A550-BC8656268E88}" srcOrd="1" destOrd="0" presId="urn:microsoft.com/office/officeart/2005/8/layout/list1"/>
    <dgm:cxn modelId="{FA18AFDD-D3BD-4FC9-8C09-119F55DBAE6A}" type="presParOf" srcId="{504CD5E6-AD77-44CE-8072-4C60617AAE09}" destId="{9F19B949-5010-4510-887D-B3B60ABE6FB3}" srcOrd="5" destOrd="0" presId="urn:microsoft.com/office/officeart/2005/8/layout/list1"/>
    <dgm:cxn modelId="{CFFACB5A-E805-4F84-B24A-9EC725166174}" type="presParOf" srcId="{504CD5E6-AD77-44CE-8072-4C60617AAE09}" destId="{F3AF452A-470F-4957-A5D2-EEA62E437C7F}" srcOrd="6" destOrd="0" presId="urn:microsoft.com/office/officeart/2005/8/layout/list1"/>
    <dgm:cxn modelId="{5108D85D-FC5F-4F93-A823-BEEB8A872127}" type="presParOf" srcId="{504CD5E6-AD77-44CE-8072-4C60617AAE09}" destId="{544B89E3-1054-4161-91F2-22DD326C59DE}" srcOrd="7" destOrd="0" presId="urn:microsoft.com/office/officeart/2005/8/layout/list1"/>
    <dgm:cxn modelId="{8A7ECAC2-0D3D-4AF3-A6FD-7812E7467E1A}" type="presParOf" srcId="{504CD5E6-AD77-44CE-8072-4C60617AAE09}" destId="{9B6FD4F1-E30D-41F1-9053-7A9A6585F351}" srcOrd="8" destOrd="0" presId="urn:microsoft.com/office/officeart/2005/8/layout/list1"/>
    <dgm:cxn modelId="{ED86F817-482C-431F-ACBC-68E6188128E0}" type="presParOf" srcId="{9B6FD4F1-E30D-41F1-9053-7A9A6585F351}" destId="{7EF5D05A-726D-43CB-9205-073A4497CA5D}" srcOrd="0" destOrd="0" presId="urn:microsoft.com/office/officeart/2005/8/layout/list1"/>
    <dgm:cxn modelId="{9D1C4AE5-65EC-4FFE-BF87-F3110E4296E9}" type="presParOf" srcId="{9B6FD4F1-E30D-41F1-9053-7A9A6585F351}" destId="{49D1F87E-D4DA-4517-8FEE-8C8B65F8DCFA}" srcOrd="1" destOrd="0" presId="urn:microsoft.com/office/officeart/2005/8/layout/list1"/>
    <dgm:cxn modelId="{7C70A2F0-15B6-4913-AC23-9002F56444B2}" type="presParOf" srcId="{504CD5E6-AD77-44CE-8072-4C60617AAE09}" destId="{11963E3F-7A40-4B71-ADB4-424ADE7C0AD0}" srcOrd="9" destOrd="0" presId="urn:microsoft.com/office/officeart/2005/8/layout/list1"/>
    <dgm:cxn modelId="{ADE26DF4-5F89-412E-88A5-3B42CFC3A177}" type="presParOf" srcId="{504CD5E6-AD77-44CE-8072-4C60617AAE09}" destId="{83BEEA69-B492-4FA5-94C3-5D40D719FE3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9B9D4-3367-4305-92C3-B67AC8B2F45E}">
      <dsp:nvSpPr>
        <dsp:cNvPr id="0" name=""/>
        <dsp:cNvSpPr/>
      </dsp:nvSpPr>
      <dsp:spPr>
        <a:xfrm>
          <a:off x="0" y="807508"/>
          <a:ext cx="2925884" cy="1755530"/>
        </a:xfrm>
        <a:prstGeom prst="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lvl="0" algn="ctr" defTabSz="1022350">
            <a:lnSpc>
              <a:spcPct val="90000"/>
            </a:lnSpc>
            <a:spcBef>
              <a:spcPct val="0"/>
            </a:spcBef>
            <a:spcAft>
              <a:spcPct val="35000"/>
            </a:spcAft>
          </a:pPr>
          <a:r>
            <a:rPr lang="pt-BR" sz="2300" b="1" kern="1200" dirty="0" smtClean="0">
              <a:solidFill>
                <a:schemeClr val="tx1"/>
              </a:solidFill>
            </a:rPr>
            <a:t>Descritiva</a:t>
          </a:r>
          <a:endParaRPr lang="pt-BR" sz="2300" b="1" kern="1200" dirty="0">
            <a:solidFill>
              <a:schemeClr val="tx1"/>
            </a:solidFill>
          </a:endParaRPr>
        </a:p>
        <a:p>
          <a:pPr marL="171450" lvl="1" indent="-171450" algn="l" defTabSz="800100">
            <a:lnSpc>
              <a:spcPct val="90000"/>
            </a:lnSpc>
            <a:spcBef>
              <a:spcPct val="0"/>
            </a:spcBef>
            <a:spcAft>
              <a:spcPct val="15000"/>
            </a:spcAft>
            <a:buChar char="••"/>
          </a:pPr>
          <a:r>
            <a:rPr lang="pt-BR" sz="1800" kern="1200" dirty="0" smtClean="0"/>
            <a:t>Analisa o atual</a:t>
          </a:r>
          <a:endParaRPr lang="pt-BR" sz="1800" kern="1200" dirty="0"/>
        </a:p>
        <a:p>
          <a:pPr marL="171450" lvl="1" indent="-171450" algn="l" defTabSz="800100">
            <a:lnSpc>
              <a:spcPct val="90000"/>
            </a:lnSpc>
            <a:spcBef>
              <a:spcPct val="0"/>
            </a:spcBef>
            <a:spcAft>
              <a:spcPct val="15000"/>
            </a:spcAft>
            <a:buChar char="••"/>
          </a:pPr>
          <a:r>
            <a:rPr lang="pt-BR" sz="1800" kern="1200" dirty="0" smtClean="0"/>
            <a:t>Oque está acontecendo</a:t>
          </a:r>
          <a:endParaRPr lang="pt-BR" sz="1800" kern="1200" dirty="0"/>
        </a:p>
      </dsp:txBody>
      <dsp:txXfrm>
        <a:off x="0" y="807508"/>
        <a:ext cx="2925884" cy="1755530"/>
      </dsp:txXfrm>
    </dsp:sp>
    <dsp:sp modelId="{B0B586CA-8653-4820-B725-E2BF4F310B4B}">
      <dsp:nvSpPr>
        <dsp:cNvPr id="0" name=""/>
        <dsp:cNvSpPr/>
      </dsp:nvSpPr>
      <dsp:spPr>
        <a:xfrm>
          <a:off x="3218473" y="807508"/>
          <a:ext cx="2925884" cy="1755530"/>
        </a:xfrm>
        <a:prstGeom prst="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lvl="0" algn="ctr" defTabSz="1022350">
            <a:lnSpc>
              <a:spcPct val="90000"/>
            </a:lnSpc>
            <a:spcBef>
              <a:spcPct val="0"/>
            </a:spcBef>
            <a:spcAft>
              <a:spcPct val="35000"/>
            </a:spcAft>
          </a:pPr>
          <a:r>
            <a:rPr lang="pt-BR" sz="2300" b="1" kern="1200" dirty="0" smtClean="0">
              <a:solidFill>
                <a:schemeClr val="tx1"/>
              </a:solidFill>
            </a:rPr>
            <a:t>Diagnóstica</a:t>
          </a:r>
          <a:endParaRPr lang="pt-BR" sz="2300" b="1" kern="1200" dirty="0">
            <a:solidFill>
              <a:schemeClr val="tx1"/>
            </a:solidFill>
          </a:endParaRPr>
        </a:p>
        <a:p>
          <a:pPr marL="171450" lvl="1" indent="-171450" algn="l" defTabSz="800100">
            <a:lnSpc>
              <a:spcPct val="90000"/>
            </a:lnSpc>
            <a:spcBef>
              <a:spcPct val="0"/>
            </a:spcBef>
            <a:spcAft>
              <a:spcPct val="15000"/>
            </a:spcAft>
            <a:buChar char="••"/>
          </a:pPr>
          <a:r>
            <a:rPr lang="pt-BR" sz="1800" kern="1200" dirty="0" smtClean="0"/>
            <a:t>Analisa o porque está desta forma.</a:t>
          </a:r>
          <a:endParaRPr lang="pt-BR" sz="1800" kern="1200" dirty="0"/>
        </a:p>
        <a:p>
          <a:pPr marL="171450" lvl="1" indent="-171450" algn="l" defTabSz="800100">
            <a:lnSpc>
              <a:spcPct val="90000"/>
            </a:lnSpc>
            <a:spcBef>
              <a:spcPct val="0"/>
            </a:spcBef>
            <a:spcAft>
              <a:spcPct val="15000"/>
            </a:spcAft>
            <a:buChar char="••"/>
          </a:pPr>
          <a:r>
            <a:rPr lang="pt-BR" sz="1800" kern="1200" dirty="0" err="1" smtClean="0"/>
            <a:t>Ex</a:t>
          </a:r>
          <a:r>
            <a:rPr lang="pt-BR" sz="1800" kern="1200" dirty="0" smtClean="0"/>
            <a:t>: Porque as minhas vendas caíram?</a:t>
          </a:r>
          <a:endParaRPr lang="pt-BR" sz="1800" kern="1200" dirty="0"/>
        </a:p>
      </dsp:txBody>
      <dsp:txXfrm>
        <a:off x="3218473" y="807508"/>
        <a:ext cx="2925884" cy="1755530"/>
      </dsp:txXfrm>
    </dsp:sp>
    <dsp:sp modelId="{B5CF52DE-BE5A-496B-9DDF-C8DBE90BAFB2}">
      <dsp:nvSpPr>
        <dsp:cNvPr id="0" name=""/>
        <dsp:cNvSpPr/>
      </dsp:nvSpPr>
      <dsp:spPr>
        <a:xfrm>
          <a:off x="6436946" y="807508"/>
          <a:ext cx="2925884" cy="1755530"/>
        </a:xfrm>
        <a:prstGeom prst="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lvl="0" algn="ctr" defTabSz="1022350">
            <a:lnSpc>
              <a:spcPct val="90000"/>
            </a:lnSpc>
            <a:spcBef>
              <a:spcPct val="0"/>
            </a:spcBef>
            <a:spcAft>
              <a:spcPct val="35000"/>
            </a:spcAft>
          </a:pPr>
          <a:r>
            <a:rPr lang="pt-BR" sz="2300" b="1" kern="1200" dirty="0" smtClean="0">
              <a:solidFill>
                <a:schemeClr val="tx1"/>
              </a:solidFill>
            </a:rPr>
            <a:t>Preditiva</a:t>
          </a:r>
          <a:endParaRPr lang="pt-BR" sz="2300" b="1" kern="1200" dirty="0">
            <a:solidFill>
              <a:schemeClr val="tx1"/>
            </a:solidFill>
          </a:endParaRPr>
        </a:p>
        <a:p>
          <a:pPr marL="171450" lvl="1" indent="-171450" algn="l" defTabSz="800100">
            <a:lnSpc>
              <a:spcPct val="90000"/>
            </a:lnSpc>
            <a:spcBef>
              <a:spcPct val="0"/>
            </a:spcBef>
            <a:spcAft>
              <a:spcPct val="15000"/>
            </a:spcAft>
            <a:buChar char="••"/>
          </a:pPr>
          <a:r>
            <a:rPr lang="pt-BR" sz="1800" kern="1200" dirty="0" smtClean="0"/>
            <a:t>Prevê como estará no futuro</a:t>
          </a:r>
          <a:endParaRPr lang="pt-BR" sz="1800" kern="1200" dirty="0"/>
        </a:p>
        <a:p>
          <a:pPr marL="171450" lvl="1" indent="-171450" algn="l" defTabSz="800100">
            <a:lnSpc>
              <a:spcPct val="90000"/>
            </a:lnSpc>
            <a:spcBef>
              <a:spcPct val="0"/>
            </a:spcBef>
            <a:spcAft>
              <a:spcPct val="15000"/>
            </a:spcAft>
            <a:buChar char="••"/>
          </a:pPr>
          <a:r>
            <a:rPr lang="pt-BR" sz="1800" kern="1200" dirty="0" err="1" smtClean="0"/>
            <a:t>Ex</a:t>
          </a:r>
          <a:r>
            <a:rPr lang="pt-BR" sz="1800" kern="1200" dirty="0" smtClean="0"/>
            <a:t>: Qual a previsão de vendas mês que vem?</a:t>
          </a:r>
          <a:endParaRPr lang="pt-BR" sz="1800" kern="1200" dirty="0"/>
        </a:p>
      </dsp:txBody>
      <dsp:txXfrm>
        <a:off x="6436946" y="807508"/>
        <a:ext cx="2925884" cy="1755530"/>
      </dsp:txXfrm>
    </dsp:sp>
    <dsp:sp modelId="{4CAB6D2C-90F5-4917-8E45-6F42CA68ED2F}">
      <dsp:nvSpPr>
        <dsp:cNvPr id="0" name=""/>
        <dsp:cNvSpPr/>
      </dsp:nvSpPr>
      <dsp:spPr>
        <a:xfrm>
          <a:off x="1609236" y="2855627"/>
          <a:ext cx="2925884" cy="1755530"/>
        </a:xfrm>
        <a:prstGeom prst="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lvl="0" algn="ctr" defTabSz="1022350">
            <a:lnSpc>
              <a:spcPct val="90000"/>
            </a:lnSpc>
            <a:spcBef>
              <a:spcPct val="0"/>
            </a:spcBef>
            <a:spcAft>
              <a:spcPct val="35000"/>
            </a:spcAft>
          </a:pPr>
          <a:r>
            <a:rPr lang="pt-BR" sz="2300" b="1" kern="1200" dirty="0" smtClean="0">
              <a:solidFill>
                <a:schemeClr val="tx1"/>
              </a:solidFill>
            </a:rPr>
            <a:t>Prescritiva</a:t>
          </a:r>
          <a:endParaRPr lang="pt-BR" sz="2300" b="1" kern="1200" dirty="0">
            <a:solidFill>
              <a:schemeClr val="tx1"/>
            </a:solidFill>
          </a:endParaRPr>
        </a:p>
        <a:p>
          <a:pPr marL="171450" lvl="1" indent="-171450" algn="l" defTabSz="800100">
            <a:lnSpc>
              <a:spcPct val="90000"/>
            </a:lnSpc>
            <a:spcBef>
              <a:spcPct val="0"/>
            </a:spcBef>
            <a:spcAft>
              <a:spcPct val="15000"/>
            </a:spcAft>
            <a:buChar char="••"/>
          </a:pPr>
          <a:r>
            <a:rPr lang="pt-BR" sz="1800" kern="1200" dirty="0" smtClean="0"/>
            <a:t>Analisa oque pode ser feito</a:t>
          </a:r>
          <a:endParaRPr lang="pt-BR" sz="1800" kern="1200" dirty="0"/>
        </a:p>
        <a:p>
          <a:pPr marL="171450" lvl="1" indent="-171450" algn="l" defTabSz="800100">
            <a:lnSpc>
              <a:spcPct val="90000"/>
            </a:lnSpc>
            <a:spcBef>
              <a:spcPct val="0"/>
            </a:spcBef>
            <a:spcAft>
              <a:spcPct val="15000"/>
            </a:spcAft>
            <a:buChar char="••"/>
          </a:pPr>
          <a:r>
            <a:rPr lang="pt-BR" sz="1800" kern="1200" dirty="0" err="1" smtClean="0"/>
            <a:t>Ex</a:t>
          </a:r>
          <a:r>
            <a:rPr lang="pt-BR" sz="1800" kern="1200" dirty="0" smtClean="0"/>
            <a:t>: Oque posso fazer para resolver para aumentar as vendas?</a:t>
          </a:r>
          <a:endParaRPr lang="pt-BR" sz="1800" kern="1200" dirty="0"/>
        </a:p>
      </dsp:txBody>
      <dsp:txXfrm>
        <a:off x="1609236" y="2855627"/>
        <a:ext cx="2925884" cy="1755530"/>
      </dsp:txXfrm>
    </dsp:sp>
    <dsp:sp modelId="{AE00639C-5D90-4D0A-B282-A96DEBDB2085}">
      <dsp:nvSpPr>
        <dsp:cNvPr id="0" name=""/>
        <dsp:cNvSpPr/>
      </dsp:nvSpPr>
      <dsp:spPr>
        <a:xfrm>
          <a:off x="4827709" y="2855627"/>
          <a:ext cx="2925884" cy="1755530"/>
        </a:xfrm>
        <a:prstGeom prst="rect">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lvl="0" algn="ctr" defTabSz="1022350">
            <a:lnSpc>
              <a:spcPct val="90000"/>
            </a:lnSpc>
            <a:spcBef>
              <a:spcPct val="0"/>
            </a:spcBef>
            <a:spcAft>
              <a:spcPct val="35000"/>
            </a:spcAft>
          </a:pPr>
          <a:r>
            <a:rPr lang="pt-BR" sz="2300" b="1" kern="1200" dirty="0" smtClean="0">
              <a:solidFill>
                <a:schemeClr val="tx1"/>
              </a:solidFill>
            </a:rPr>
            <a:t>Cognitiva</a:t>
          </a:r>
          <a:endParaRPr lang="pt-BR" sz="2300" b="1" kern="1200" dirty="0">
            <a:solidFill>
              <a:schemeClr val="tx1"/>
            </a:solidFill>
          </a:endParaRPr>
        </a:p>
        <a:p>
          <a:pPr marL="171450" lvl="1" indent="-171450" algn="l" defTabSz="800100">
            <a:lnSpc>
              <a:spcPct val="90000"/>
            </a:lnSpc>
            <a:spcBef>
              <a:spcPct val="0"/>
            </a:spcBef>
            <a:spcAft>
              <a:spcPct val="15000"/>
            </a:spcAft>
            <a:buChar char="••"/>
          </a:pPr>
          <a:r>
            <a:rPr lang="pt-BR" sz="1800" kern="1200" dirty="0" smtClean="0"/>
            <a:t>Extrai informações de imagens, áudios, texto, etc.</a:t>
          </a:r>
          <a:endParaRPr lang="pt-BR" sz="1800" kern="1200" dirty="0"/>
        </a:p>
        <a:p>
          <a:pPr marL="171450" lvl="1" indent="-171450" algn="l" defTabSz="800100">
            <a:lnSpc>
              <a:spcPct val="90000"/>
            </a:lnSpc>
            <a:spcBef>
              <a:spcPct val="0"/>
            </a:spcBef>
            <a:spcAft>
              <a:spcPct val="15000"/>
            </a:spcAft>
            <a:buChar char="••"/>
          </a:pPr>
          <a:r>
            <a:rPr lang="pt-BR" sz="1800" kern="1200" dirty="0" smtClean="0"/>
            <a:t>Muito associado com IA</a:t>
          </a:r>
          <a:endParaRPr lang="pt-BR" sz="1800" kern="1200" dirty="0"/>
        </a:p>
      </dsp:txBody>
      <dsp:txXfrm>
        <a:off x="4827709" y="2855627"/>
        <a:ext cx="2925884" cy="1755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8B777-E407-4E96-B80C-513D9280756A}">
      <dsp:nvSpPr>
        <dsp:cNvPr id="0" name=""/>
        <dsp:cNvSpPr/>
      </dsp:nvSpPr>
      <dsp:spPr>
        <a:xfrm>
          <a:off x="0" y="1636250"/>
          <a:ext cx="11368453" cy="978075"/>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2318" tIns="479044" rIns="882318" bIns="163576" numCol="1" spcCol="1270" anchor="t" anchorCtr="0">
          <a:noAutofit/>
        </a:bodyPr>
        <a:lstStyle/>
        <a:p>
          <a:pPr marL="228600" lvl="1" indent="-228600" algn="l" defTabSz="1022350">
            <a:lnSpc>
              <a:spcPct val="90000"/>
            </a:lnSpc>
            <a:spcBef>
              <a:spcPct val="0"/>
            </a:spcBef>
            <a:spcAft>
              <a:spcPct val="15000"/>
            </a:spcAft>
            <a:buChar char="••"/>
          </a:pPr>
          <a:r>
            <a:rPr lang="pt-BR" sz="2300" kern="1200" dirty="0" smtClean="0"/>
            <a:t>Utilizado apenas para leitura</a:t>
          </a:r>
          <a:endParaRPr lang="pt-BR" sz="2300" kern="1200" dirty="0"/>
        </a:p>
      </dsp:txBody>
      <dsp:txXfrm>
        <a:off x="0" y="1636250"/>
        <a:ext cx="11368453" cy="978075"/>
      </dsp:txXfrm>
    </dsp:sp>
    <dsp:sp modelId="{27F7C86D-05C0-4813-8CA6-E6B25C7B284E}">
      <dsp:nvSpPr>
        <dsp:cNvPr id="0" name=""/>
        <dsp:cNvSpPr/>
      </dsp:nvSpPr>
      <dsp:spPr>
        <a:xfrm>
          <a:off x="568422" y="1296770"/>
          <a:ext cx="7957917" cy="67896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790" tIns="0" rIns="300790" bIns="0" numCol="1" spcCol="1270" anchor="ctr" anchorCtr="0">
          <a:noAutofit/>
        </a:bodyPr>
        <a:lstStyle/>
        <a:p>
          <a:pPr lvl="0" algn="l" defTabSz="1022350">
            <a:lnSpc>
              <a:spcPct val="90000"/>
            </a:lnSpc>
            <a:spcBef>
              <a:spcPct val="0"/>
            </a:spcBef>
            <a:spcAft>
              <a:spcPct val="35000"/>
            </a:spcAft>
          </a:pPr>
          <a:r>
            <a:rPr lang="pt-BR" sz="2300" kern="1200" dirty="0" smtClean="0"/>
            <a:t>Banco OLAP</a:t>
          </a:r>
        </a:p>
      </dsp:txBody>
      <dsp:txXfrm>
        <a:off x="601566" y="1329914"/>
        <a:ext cx="7891629" cy="612672"/>
      </dsp:txXfrm>
    </dsp:sp>
    <dsp:sp modelId="{F3AF452A-470F-4957-A5D2-EEA62E437C7F}">
      <dsp:nvSpPr>
        <dsp:cNvPr id="0" name=""/>
        <dsp:cNvSpPr/>
      </dsp:nvSpPr>
      <dsp:spPr>
        <a:xfrm>
          <a:off x="0" y="3078005"/>
          <a:ext cx="11368453" cy="579600"/>
        </a:xfrm>
        <a:prstGeom prst="rect">
          <a:avLst/>
        </a:prstGeom>
        <a:solidFill>
          <a:schemeClr val="lt1">
            <a:alpha val="90000"/>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478FCE-E6CD-4459-A550-BC8656268E88}">
      <dsp:nvSpPr>
        <dsp:cNvPr id="0" name=""/>
        <dsp:cNvSpPr/>
      </dsp:nvSpPr>
      <dsp:spPr>
        <a:xfrm>
          <a:off x="568422" y="2738525"/>
          <a:ext cx="7957917" cy="678960"/>
        </a:xfrm>
        <a:prstGeom prst="roundRect">
          <a:avLst/>
        </a:prstGeom>
        <a:solidFill>
          <a:schemeClr val="accent3">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790" tIns="0" rIns="300790" bIns="0" numCol="1" spcCol="1270" anchor="ctr" anchorCtr="0">
          <a:noAutofit/>
        </a:bodyPr>
        <a:lstStyle/>
        <a:p>
          <a:pPr lvl="0" algn="l" defTabSz="1022350">
            <a:lnSpc>
              <a:spcPct val="90000"/>
            </a:lnSpc>
            <a:spcBef>
              <a:spcPct val="0"/>
            </a:spcBef>
            <a:spcAft>
              <a:spcPct val="35000"/>
            </a:spcAft>
          </a:pPr>
          <a:r>
            <a:rPr lang="pt-BR" sz="2300" kern="1200" dirty="0" smtClean="0"/>
            <a:t>Os dados são </a:t>
          </a:r>
          <a:r>
            <a:rPr lang="pt-BR" sz="2300" i="1" kern="1200" dirty="0" err="1" smtClean="0"/>
            <a:t>desnormalizados</a:t>
          </a:r>
          <a:r>
            <a:rPr lang="pt-BR" sz="2300" kern="1200" dirty="0" smtClean="0"/>
            <a:t> para otimização da consulta</a:t>
          </a:r>
          <a:endParaRPr lang="pt-BR" sz="2300" kern="1200" dirty="0"/>
        </a:p>
      </dsp:txBody>
      <dsp:txXfrm>
        <a:off x="601566" y="2771669"/>
        <a:ext cx="7891629" cy="612672"/>
      </dsp:txXfrm>
    </dsp:sp>
    <dsp:sp modelId="{83BEEA69-B492-4FA5-94C3-5D40D719FE3F}">
      <dsp:nvSpPr>
        <dsp:cNvPr id="0" name=""/>
        <dsp:cNvSpPr/>
      </dsp:nvSpPr>
      <dsp:spPr>
        <a:xfrm>
          <a:off x="0" y="4121285"/>
          <a:ext cx="11368453" cy="579600"/>
        </a:xfrm>
        <a:prstGeom prst="rect">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9D1F87E-D4DA-4517-8FEE-8C8B65F8DCFA}">
      <dsp:nvSpPr>
        <dsp:cNvPr id="0" name=""/>
        <dsp:cNvSpPr/>
      </dsp:nvSpPr>
      <dsp:spPr>
        <a:xfrm>
          <a:off x="568422" y="3781805"/>
          <a:ext cx="7957917" cy="678960"/>
        </a:xfrm>
        <a:prstGeom prst="roundRect">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790" tIns="0" rIns="300790" bIns="0" numCol="1" spcCol="1270" anchor="ctr" anchorCtr="0">
          <a:noAutofit/>
        </a:bodyPr>
        <a:lstStyle/>
        <a:p>
          <a:pPr lvl="0" algn="l" defTabSz="1022350">
            <a:lnSpc>
              <a:spcPct val="90000"/>
            </a:lnSpc>
            <a:spcBef>
              <a:spcPct val="0"/>
            </a:spcBef>
            <a:spcAft>
              <a:spcPct val="35000"/>
            </a:spcAft>
          </a:pPr>
          <a:r>
            <a:rPr lang="pt-BR" sz="2300" kern="1200" smtClean="0"/>
            <a:t>Utiliza um esquema estrela ou floco de neve</a:t>
          </a:r>
          <a:endParaRPr lang="pt-BR" sz="2300" kern="1200" dirty="0"/>
        </a:p>
      </dsp:txBody>
      <dsp:txXfrm>
        <a:off x="601566" y="3814949"/>
        <a:ext cx="7891629"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23E84A-0776-48AF-B28B-836904BCC752}" type="datetimeFigureOut">
              <a:rPr lang="pt-BR" smtClean="0"/>
              <a:t>08/10/2022</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7BABEE-A6D8-45C2-B8EC-CE32C07F62A8}" type="slidenum">
              <a:rPr lang="pt-BR" smtClean="0"/>
              <a:t>‹nº›</a:t>
            </a:fld>
            <a:endParaRPr lang="pt-BR"/>
          </a:p>
        </p:txBody>
      </p:sp>
    </p:spTree>
    <p:extLst>
      <p:ext uri="{BB962C8B-B14F-4D97-AF65-F5344CB8AC3E}">
        <p14:creationId xmlns:p14="http://schemas.microsoft.com/office/powerpoint/2010/main" val="585221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pPr>
            <a:r>
              <a:rPr lang="pt-BR" b="0" i="0" dirty="0">
                <a:solidFill>
                  <a:srgbClr val="171717"/>
                </a:solidFill>
                <a:latin typeface="Segoe UI" panose="020B0502040204020203" pitchFamily="34" charset="0"/>
              </a:rPr>
              <a:t>O processamento de dados é simplesmente a conversão de dados brutos em informações relevantes por meio de um processo. Há duas maneiras gerais de processar dados:</a:t>
            </a:r>
          </a:p>
          <a:p>
            <a:pPr marL="171450" indent="-171450" algn="l">
              <a:lnSpc>
                <a:spcPct val="100000"/>
              </a:lnSpc>
              <a:buFont typeface="Arial" panose="020B0604020202020204" pitchFamily="34" charset="0"/>
              <a:buChar char="•"/>
            </a:pPr>
            <a:r>
              <a:rPr lang="pt-BR" b="0" i="1" dirty="0">
                <a:solidFill>
                  <a:srgbClr val="171717"/>
                </a:solidFill>
                <a:latin typeface="Segoe UI" panose="020B0502040204020203" pitchFamily="34" charset="0"/>
              </a:rPr>
              <a:t>Processamento em lote</a:t>
            </a:r>
            <a:r>
              <a:rPr lang="pt-BR" b="0" dirty="0">
                <a:solidFill>
                  <a:srgbClr val="171717"/>
                </a:solidFill>
                <a:latin typeface="Segoe UI" panose="020B0502040204020203" pitchFamily="34" charset="0"/>
              </a:rPr>
              <a:t> no qual vários registros de dados são coletados e armazenados antes de serem processados​juntos em uma única operação.</a:t>
            </a:r>
          </a:p>
          <a:p>
            <a:pPr marL="171450" indent="-171450" algn="l">
              <a:lnSpc>
                <a:spcPct val="100000"/>
              </a:lnSpc>
              <a:buFont typeface="Arial" panose="020B0604020202020204" pitchFamily="34" charset="0"/>
              <a:buChar char="•"/>
            </a:pPr>
            <a:r>
              <a:rPr lang="pt-BR" b="0" i="1" dirty="0">
                <a:solidFill>
                  <a:srgbClr val="171717"/>
                </a:solidFill>
                <a:latin typeface="Segoe UI" panose="020B0502040204020203" pitchFamily="34" charset="0"/>
              </a:rPr>
              <a:t>Processamento de fluxo</a:t>
            </a:r>
            <a:r>
              <a:rPr lang="pt-BR" b="0" dirty="0">
                <a:solidFill>
                  <a:srgbClr val="171717"/>
                </a:solidFill>
                <a:latin typeface="Segoe UI" panose="020B0502040204020203" pitchFamily="34" charset="0"/>
              </a:rPr>
              <a:t> no qual uma fonte de dados é constantemente monitorada e processada em tempo real à medida que novos eventos de dados ocorrem.</a:t>
            </a:r>
          </a:p>
          <a:p>
            <a:pPr>
              <a:lnSpc>
                <a:spcPct val="100000"/>
              </a:lnSpc>
            </a:pPr>
            <a:endParaRPr lang="en-US" dirty="0"/>
          </a:p>
          <a:p>
            <a:pPr algn="l">
              <a:lnSpc>
                <a:spcPct val="100000"/>
              </a:lnSpc>
            </a:pPr>
            <a:r>
              <a:rPr lang="pt-BR" b="0" i="0" dirty="0">
                <a:solidFill>
                  <a:srgbClr val="171717"/>
                </a:solidFill>
                <a:latin typeface="Segoe UI" panose="020B0502040204020203" pitchFamily="34" charset="0"/>
              </a:rPr>
              <a:t>No processamento em lotes, os elementos de dados que acabaram de ser recebidos são coletados em um grupo. Depois o grupo inteiro é processado no futuro como um lote. Há várias maneiras de determinar o momento exato em que cada grupo é processado. Por exemplo, você pode processar dados com base em um intervalo de tempo agendado (por exemplo, a cada hora), ou o processamento pode ser disparado quando determinado volume de dados tiver sido recebido ou ainda como resultado de algum outro evento.</a:t>
            </a:r>
          </a:p>
          <a:p>
            <a:pPr algn="l">
              <a:lnSpc>
                <a:spcPct val="100000"/>
              </a:lnSpc>
            </a:pPr>
            <a:r>
              <a:rPr lang="pt-BR" b="0" i="0" dirty="0">
                <a:solidFill>
                  <a:srgbClr val="171717"/>
                </a:solidFill>
                <a:latin typeface="Segoe UI" panose="020B0502040204020203" pitchFamily="34" charset="0"/>
              </a:rPr>
              <a:t>Por exemplo, suponha que você queira analisar o tráfego rodoviário contando o número de carros em um trecho da estrada. Uma abordagem de processamento em lote para isso exigiria que você reunisse os carros em um estacionamento e os contasse em uma única operação enquanto eles estivessem parados.</a:t>
            </a:r>
          </a:p>
          <a:p>
            <a:pPr>
              <a:lnSpc>
                <a:spcPct val="100000"/>
              </a:lnSpc>
            </a:pPr>
            <a:endParaRPr lang="en-US" dirty="0"/>
          </a:p>
          <a:p>
            <a:pPr algn="l">
              <a:lnSpc>
                <a:spcPct val="100000"/>
              </a:lnSpc>
            </a:pPr>
            <a:r>
              <a:rPr lang="pt-BR" b="0" i="0" dirty="0">
                <a:solidFill>
                  <a:srgbClr val="171717"/>
                </a:solidFill>
                <a:latin typeface="Segoe UI" panose="020B0502040204020203" pitchFamily="34" charset="0"/>
              </a:rPr>
              <a:t>No processamento de fluxo, cada parte de dados é processada ao ser recebida. Ao contrário do processamento em lotes, não há espera até o próximo intervalo de processamento em lotes. Os dados são processados como unidades individuais em tempo real, não um lote por vez. O processamento de dados de fluxo é útil na maioria dos cenários em que novos dados dinâmicos são gerados continuamente.</a:t>
            </a:r>
          </a:p>
          <a:p>
            <a:pPr algn="l">
              <a:lnSpc>
                <a:spcPct val="100000"/>
              </a:lnSpc>
            </a:pPr>
            <a:r>
              <a:rPr lang="pt-BR" b="0" dirty="0">
                <a:solidFill>
                  <a:srgbClr val="171717"/>
                </a:solidFill>
                <a:latin typeface="Segoe UI" panose="020B0502040204020203" pitchFamily="34" charset="0"/>
              </a:rPr>
              <a:t>Por exemplo, para nosso problema hipotético de contagem de carros poderia ser melhor aplicar uma</a:t>
            </a:r>
            <a:r>
              <a:rPr lang="pt-BR" b="0" i="0" dirty="0">
                <a:solidFill>
                  <a:srgbClr val="171717"/>
                </a:solidFill>
                <a:latin typeface="Segoe UI" panose="020B0502040204020203" pitchFamily="34" charset="0"/>
              </a:rPr>
              <a:t> </a:t>
            </a:r>
            <a:r>
              <a:rPr lang="pt-BR" b="0" dirty="0">
                <a:solidFill>
                  <a:srgbClr val="171717"/>
                </a:solidFill>
                <a:latin typeface="Segoe UI" panose="020B0502040204020203" pitchFamily="34" charset="0"/>
              </a:rPr>
              <a:t>abordagem</a:t>
            </a:r>
            <a:r>
              <a:rPr lang="pt-BR" b="0" i="0" dirty="0">
                <a:solidFill>
                  <a:srgbClr val="171717"/>
                </a:solidFill>
                <a:latin typeface="Segoe UI" panose="020B0502040204020203" pitchFamily="34" charset="0"/>
              </a:rPr>
              <a:t> </a:t>
            </a:r>
            <a:r>
              <a:rPr lang="pt-BR" b="0" dirty="0">
                <a:solidFill>
                  <a:srgbClr val="171717"/>
                </a:solidFill>
                <a:latin typeface="Segoe UI" panose="020B0502040204020203" pitchFamily="34" charset="0"/>
              </a:rPr>
              <a:t>de</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streaming</a:t>
            </a:r>
            <a:r>
              <a:rPr lang="pt-BR" b="0" dirty="0">
                <a:solidFill>
                  <a:srgbClr val="171717"/>
                </a:solidFill>
                <a:latin typeface="Segoe UI" panose="020B0502040204020203" pitchFamily="34" charset="0"/>
              </a:rPr>
              <a:t>, contando os carros em tempo real à medida que eles fossem passando:</a:t>
            </a:r>
          </a:p>
          <a:p>
            <a:pPr>
              <a:lnSpc>
                <a:spcPct val="100000"/>
              </a:lnSpc>
            </a:pPr>
            <a:endParaRPr lang="en-US" dirty="0"/>
          </a:p>
          <a:p>
            <a:pPr>
              <a:lnSpc>
                <a:spcPct val="100000"/>
              </a:lnSpc>
            </a:pPr>
            <a:r>
              <a:rPr lang="pt-BR" b="0" i="0" dirty="0">
                <a:solidFill>
                  <a:srgbClr val="171717"/>
                </a:solidFill>
                <a:latin typeface="Segoe UI" panose="020B0502040204020203" pitchFamily="34" charset="0"/>
              </a:rPr>
              <a:t>Nessa abordagem, você não precisa esperar até que todos os carros estejam estacionados para começar a processá-los e pode agregar os dados em intervalos de tempo, por exemplo, contando o número de carros que passam por minuto.</a:t>
            </a:r>
          </a:p>
          <a:p>
            <a:pPr>
              <a:lnSpc>
                <a:spcPct val="100000"/>
              </a:lnSpc>
            </a:pPr>
            <a:endParaRPr lang="en-US" b="0" i="0" dirty="0">
              <a:solidFill>
                <a:srgbClr val="171717"/>
              </a:solidFill>
              <a:effectLst/>
              <a:latin typeface="Segoe UI" panose="020B0502040204020203" pitchFamily="34" charset="0"/>
            </a:endParaRPr>
          </a:p>
          <a:p>
            <a:pPr>
              <a:lnSpc>
                <a:spcPct val="100000"/>
              </a:lnSpc>
            </a:pPr>
            <a:r>
              <a:rPr lang="pt-BR" b="0" i="0" dirty="0">
                <a:solidFill>
                  <a:srgbClr val="171717"/>
                </a:solidFill>
                <a:latin typeface="Segoe UI" panose="020B0502040204020203" pitchFamily="34" charset="0"/>
              </a:rPr>
              <a:t>Várias soluções de análise em grande escala incluem uma combinação de processamento em lote e fluxo para análise de dados históricos e em tempo real. É comum que as soluções de processamento de fluxo capturem dados em tempo real, processem esses dados filtrando-os ou agregando-os e apresente-os em painéis e visualizações em tempo real (por exemplo, mostrando o total de carros que passaram por uma estrada durante a hora específica), ao mesmo tempo mantendo os resultados processados em um armazenamento de dados para análise histórica junto com os dados processados​em lote (por exemplo, para permitir a análise de volumes de tráfego no ano anterior).</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26040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pt-BR" dirty="0"/>
              <a:t>Agora que você entende um pouco sobre a arquitetura de uma solução de data warehouse moderna e algumas das tecnologias de processamento distribuído que podem ser usadas para lidar com grandes volumes de dados, é hora de saber como os dados são ingeridos em um armazenamento de dados analíticos de uma ou mais fontes.</a:t>
            </a:r>
          </a:p>
          <a:p>
            <a:pPr>
              <a:lnSpc>
                <a:spcPct val="100000"/>
              </a:lnSpc>
            </a:pPr>
            <a:endParaRPr lang="en-US" dirty="0"/>
          </a:p>
          <a:p>
            <a:pPr>
              <a:lnSpc>
                <a:spcPct val="100000"/>
              </a:lnSpc>
            </a:pPr>
            <a:r>
              <a:rPr lang="pt-BR" dirty="0"/>
              <a:t>No Azure, a ingestão de dados em grande escala é implementada melhor criando </a:t>
            </a:r>
            <a:r>
              <a:rPr lang="pt-BR" i="1" dirty="0"/>
              <a:t>pipelines</a:t>
            </a:r>
            <a:r>
              <a:rPr lang="pt-BR" dirty="0"/>
              <a:t> que orquestram processos ETL.</a:t>
            </a:r>
            <a:r>
              <a:rPr lang="pt-BR" i="0" dirty="0"/>
              <a:t> Você pode criar e executar pipelines usando o Azure Data Factory ou usar o mesmo mecanismo de pipeline no Azure Synapse Analytics se quiser gerenciar todos os componentes da solução de data warehouse em um workspace unificado.</a:t>
            </a:r>
          </a:p>
          <a:p>
            <a:pPr>
              <a:lnSpc>
                <a:spcPct val="100000"/>
              </a:lnSpc>
            </a:pPr>
            <a:endParaRPr lang="en-US" i="0" dirty="0"/>
          </a:p>
          <a:p>
            <a:pPr>
              <a:lnSpc>
                <a:spcPct val="100000"/>
              </a:lnSpc>
            </a:pPr>
            <a:r>
              <a:rPr lang="pt-BR" dirty="0"/>
              <a:t>Em ambos os casos, os pipelines consistem em uma ou mais atividades que são operadas nos dados.</a:t>
            </a:r>
            <a:r>
              <a:rPr lang="pt-BR" i="0" dirty="0"/>
              <a:t> Um conjunto de dados de entrada fornece os dados de origem, e as atividades podem ser definidas como um fluxo de dados que manipula os dados de forma incremental até produzir um conjunto de dados de saída. </a:t>
            </a:r>
            <a:r>
              <a:rPr lang="pt-BR" dirty="0"/>
              <a:t>Os pipelines usam </a:t>
            </a:r>
            <a:r>
              <a:rPr lang="pt-BR" i="1" dirty="0"/>
              <a:t>serviços vinculados</a:t>
            </a:r>
            <a:r>
              <a:rPr lang="pt-BR" dirty="0"/>
              <a:t> para carregar e processar dados, permitindo que você use a tecnologia certa para cada etapa do fluxo de trabalho.</a:t>
            </a:r>
            <a:r>
              <a:rPr lang="pt-BR" i="0" dirty="0"/>
              <a:t> Por exemplo, você pode usar um serviço vinculado do Armazenamento de Blobs do Azure para ingerir o conjunto de dados de entrada, depois usar serviços, como o SQL do Azure, para executar um procedimento armazenado que pesquise valores de dados relacionados antes de executar uma tarefa de processamento de dados no Azure Databricks ou Azure HDInsight ou aplicar lógica personalizada usando uma Azure Function. Por fim, você pode salvar o conjunto de dados de saída em um serviço vinculado, como o Azure Synapse Analytics. Observe que os pipelines podem dar suporte a algumas atividades internas, que não exigem um serviço vinculado.</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2764396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ct val="100000"/>
              </a:lnSpc>
            </a:pPr>
            <a:r>
              <a:rPr lang="pt-BR" b="0" i="0" dirty="0">
                <a:solidFill>
                  <a:srgbClr val="171717"/>
                </a:solidFill>
                <a:latin typeface="Segoe UI" panose="020B0502040204020203" pitchFamily="34" charset="0"/>
              </a:rPr>
              <a:t>O Azure Stream Analytics é um serviço de processamento complexo de eventos e análise de dados de streaming. Ele é usado para:</a:t>
            </a:r>
          </a:p>
          <a:p>
            <a:pPr marL="171450" indent="-171450" algn="l">
              <a:lnSpc>
                <a:spcPct val="100000"/>
              </a:lnSpc>
              <a:buFont typeface="Arial" panose="020B0604020202020204" pitchFamily="34" charset="0"/>
              <a:buChar char="•"/>
            </a:pPr>
            <a:r>
              <a:rPr lang="pt-BR" b="0" dirty="0">
                <a:solidFill>
                  <a:srgbClr val="171717"/>
                </a:solidFill>
                <a:latin typeface="Segoe UI" panose="020B0502040204020203" pitchFamily="34" charset="0"/>
              </a:rPr>
              <a:t>Ingerir dados de uma</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entrada</a:t>
            </a:r>
            <a:r>
              <a:rPr lang="pt-BR" b="0" dirty="0">
                <a:solidFill>
                  <a:srgbClr val="171717"/>
                </a:solidFill>
                <a:latin typeface="Segoe UI" panose="020B0502040204020203" pitchFamily="34" charset="0"/>
              </a:rPr>
              <a:t>, como um hub de eventos do Azure, um Hub IoT do Azure ou um contêiner do Azure Storage Blob.</a:t>
            </a:r>
          </a:p>
          <a:p>
            <a:pPr marL="171450" indent="-171450" algn="l">
              <a:lnSpc>
                <a:spcPct val="100000"/>
              </a:lnSpc>
              <a:buFont typeface="Arial" panose="020B0604020202020204" pitchFamily="34" charset="0"/>
              <a:buChar char="•"/>
            </a:pPr>
            <a:r>
              <a:rPr lang="pt-BR" b="0" dirty="0">
                <a:solidFill>
                  <a:srgbClr val="171717"/>
                </a:solidFill>
                <a:latin typeface="Segoe UI" panose="020B0502040204020203" pitchFamily="34" charset="0"/>
              </a:rPr>
              <a:t>Processe os dados usando uma </a:t>
            </a:r>
            <a:r>
              <a:rPr lang="pt-BR" b="0" i="1" dirty="0">
                <a:solidFill>
                  <a:srgbClr val="171717"/>
                </a:solidFill>
                <a:latin typeface="Segoe UI" panose="020B0502040204020203" pitchFamily="34" charset="0"/>
              </a:rPr>
              <a:t>consulta </a:t>
            </a:r>
            <a:r>
              <a:rPr lang="pt-BR" b="0" dirty="0">
                <a:solidFill>
                  <a:srgbClr val="171717"/>
                </a:solidFill>
                <a:latin typeface="Segoe UI" panose="020B0502040204020203" pitchFamily="34" charset="0"/>
              </a:rPr>
              <a:t>para selecionar, projetar e agregar valores de dados.</a:t>
            </a:r>
          </a:p>
          <a:p>
            <a:pPr marL="171450" indent="-171450" algn="l">
              <a:lnSpc>
                <a:spcPct val="100000"/>
              </a:lnSpc>
              <a:buFont typeface="Arial" panose="020B0604020202020204" pitchFamily="34" charset="0"/>
              <a:buChar char="•"/>
            </a:pPr>
            <a:r>
              <a:rPr lang="pt-BR" b="0" dirty="0">
                <a:solidFill>
                  <a:srgbClr val="171717"/>
                </a:solidFill>
                <a:latin typeface="Segoe UI" panose="020B0502040204020203" pitchFamily="34" charset="0"/>
              </a:rPr>
              <a:t>Gravar os resultados em uma</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saída</a:t>
            </a:r>
            <a:r>
              <a:rPr lang="pt-BR" b="0" dirty="0">
                <a:solidFill>
                  <a:srgbClr val="171717"/>
                </a:solidFill>
                <a:latin typeface="Segoe UI" panose="020B0502040204020203" pitchFamily="34" charset="0"/>
              </a:rPr>
              <a:t>, como Azure Data Lake Gen 2, Banco de Dados SQL do Azure, Azure Synapse Analytics, Azure Functions, hub de eventos do Azure, Microsoft Power BI ou outros.</a:t>
            </a:r>
          </a:p>
          <a:p>
            <a:pPr>
              <a:lnSpc>
                <a:spcPct val="100000"/>
              </a:lnSpc>
            </a:pPr>
            <a:endParaRPr lang="en-US" dirty="0"/>
          </a:p>
          <a:p>
            <a:pPr>
              <a:lnSpc>
                <a:spcPct val="100000"/>
              </a:lnSpc>
            </a:pPr>
            <a:r>
              <a:rPr lang="pt-BR" b="0" i="0" dirty="0">
                <a:solidFill>
                  <a:srgbClr val="171717"/>
                </a:solidFill>
                <a:latin typeface="Segoe UI" panose="020B0502040204020203" pitchFamily="34" charset="0"/>
              </a:rPr>
              <a:t>Uma vez iniciada, uma consulta do Stream Analytics será executada perpetuamente, processando os novos dados à medida que eles forem recebidos na entrada e armazenando os resultados na saída.</a:t>
            </a:r>
          </a:p>
          <a:p>
            <a:pPr>
              <a:lnSpc>
                <a:spcPct val="100000"/>
              </a:lnSpc>
            </a:pPr>
            <a:endParaRPr lang="en-US" b="0" i="0" dirty="0">
              <a:solidFill>
                <a:srgbClr val="171717"/>
              </a:solidFill>
              <a:effectLst/>
              <a:latin typeface="Segoe UI" panose="020B0502040204020203" pitchFamily="34" charset="0"/>
            </a:endParaRPr>
          </a:p>
          <a:p>
            <a:pPr algn="l">
              <a:lnSpc>
                <a:spcPct val="100000"/>
              </a:lnSpc>
            </a:pPr>
            <a:r>
              <a:rPr lang="pt-BR" b="0" dirty="0">
                <a:solidFill>
                  <a:srgbClr val="171717"/>
                </a:solidFill>
                <a:latin typeface="Segoe UI" panose="020B0502040204020203" pitchFamily="34" charset="0"/>
              </a:rPr>
              <a:t>A maneira mais fácil de usar o Azure Stream Analytics é criar um</a:t>
            </a:r>
            <a:r>
              <a:rPr lang="pt-BR" b="0" i="0" dirty="0">
                <a:solidFill>
                  <a:srgbClr val="171717"/>
                </a:solidFill>
                <a:latin typeface="Segoe UI" panose="020B0502040204020203" pitchFamily="34" charset="0"/>
              </a:rPr>
              <a:t> </a:t>
            </a:r>
            <a:r>
              <a:rPr lang="pt-BR" b="0" i="1" dirty="0">
                <a:solidFill>
                  <a:srgbClr val="171717"/>
                </a:solidFill>
                <a:latin typeface="Segoe UI" panose="020B0502040204020203" pitchFamily="34" charset="0"/>
              </a:rPr>
              <a:t>trabalho</a:t>
            </a:r>
            <a:r>
              <a:rPr lang="pt-BR" b="0" i="0" dirty="0">
                <a:solidFill>
                  <a:srgbClr val="171717"/>
                </a:solidFill>
                <a:latin typeface="Segoe UI" panose="020B0502040204020203" pitchFamily="34" charset="0"/>
              </a:rPr>
              <a:t> </a:t>
            </a:r>
            <a:r>
              <a:rPr lang="pt-BR" b="0" dirty="0">
                <a:solidFill>
                  <a:srgbClr val="171717"/>
                </a:solidFill>
                <a:latin typeface="Segoe UI" panose="020B0502040204020203" pitchFamily="34" charset="0"/>
              </a:rPr>
              <a:t>do Stream Analytics em uma assinatura do Azure, configurar as respectivas entradas e saídas e definir a consulta que o trabalho usará para processar os dados.</a:t>
            </a:r>
            <a:r>
              <a:rPr lang="pt-BR" b="0" i="0" dirty="0">
                <a:solidFill>
                  <a:srgbClr val="171717"/>
                </a:solidFill>
                <a:latin typeface="Segoe UI" panose="020B0502040204020203" pitchFamily="34" charset="0"/>
              </a:rPr>
              <a:t> A consulta é expressa usando a sintaxe da linguagem SQL e pode incorporar dados estáticos de referência de várias fontes de dados para fornecer valores de pesquisa que podem ser combinados com os dados de streaming ingeridos de uma entrada.</a:t>
            </a:r>
          </a:p>
          <a:p>
            <a:pPr algn="l">
              <a:lnSpc>
                <a:spcPct val="100000"/>
              </a:lnSpc>
            </a:pPr>
            <a:endParaRPr lang="en-US" b="0" i="0" dirty="0">
              <a:solidFill>
                <a:srgbClr val="171717"/>
              </a:solidFill>
              <a:effectLst/>
              <a:latin typeface="Segoe UI" panose="020B0502040204020203" pitchFamily="34" charset="0"/>
            </a:endParaRPr>
          </a:p>
          <a:p>
            <a:pPr algn="l">
              <a:lnSpc>
                <a:spcPct val="100000"/>
              </a:lnSpc>
            </a:pPr>
            <a:r>
              <a:rPr lang="pt-BR" b="0" dirty="0">
                <a:solidFill>
                  <a:srgbClr val="171717"/>
                </a:solidFill>
                <a:latin typeface="Segoe UI" panose="020B0502040204020203" pitchFamily="34" charset="0"/>
              </a:rPr>
              <a:t>Se os requisitos do processo de fluxo forem complexos ou consumirem muitos recursos, você poderá criar um </a:t>
            </a:r>
            <a:r>
              <a:rPr lang="pt-BR" b="0" i="1" dirty="0">
                <a:solidFill>
                  <a:srgbClr val="171717"/>
                </a:solidFill>
                <a:latin typeface="Segoe UI" panose="020B0502040204020203" pitchFamily="34" charset="0"/>
              </a:rPr>
              <a:t>cluster</a:t>
            </a:r>
            <a:r>
              <a:rPr lang="pt-BR" b="0" dirty="0">
                <a:solidFill>
                  <a:srgbClr val="171717"/>
                </a:solidFill>
                <a:latin typeface="Segoe UI" panose="020B0502040204020203" pitchFamily="34" charset="0"/>
              </a:rPr>
              <a:t> do Stream Analysis, que usa o mesmo mecanismo de processamento subjacente de um trabalho do Stream Analytics, mas em um locatário dedicado (para que seu processamento não seja afetado por outros clientes) e com escalabilidade configurável que permite definir o equilíbrio certo de taxa de transferência e custo para seu cenário específico.</a:t>
            </a:r>
          </a:p>
          <a:p>
            <a:pPr>
              <a:lnSpc>
                <a:spcPct val="100000"/>
              </a:lnSpc>
            </a:pP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pt-BR"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3300477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19" name="Group 18"/>
          <p:cNvGrpSpPr/>
          <p:nvPr userDrawn="1"/>
        </p:nvGrpSpPr>
        <p:grpSpPr>
          <a:xfrm rot="6093728">
            <a:off x="4576147" y="-5034119"/>
            <a:ext cx="2927017" cy="12329825"/>
            <a:chOff x="2928939" y="196161"/>
            <a:chExt cx="4698400" cy="6463472"/>
          </a:xfrm>
        </p:grpSpPr>
        <p:sp>
          <p:nvSpPr>
            <p:cNvPr id="22" name="Freeform 6"/>
            <p:cNvSpPr/>
            <p:nvPr/>
          </p:nvSpPr>
          <p:spPr bwMode="auto">
            <a:xfrm>
              <a:off x="3367088" y="196161"/>
              <a:ext cx="1013847" cy="2581964"/>
            </a:xfrm>
            <a:custGeom>
              <a:avLst/>
              <a:gdLst>
                <a:gd name="connsiteX0" fmla="*/ 0 w 10000"/>
                <a:gd name="connsiteY0" fmla="*/ 9675 h 10000"/>
                <a:gd name="connsiteX1" fmla="*/ 3358 w 10000"/>
                <a:gd name="connsiteY1" fmla="*/ 10000 h 10000"/>
                <a:gd name="connsiteX2" fmla="*/ 10000 w 10000"/>
                <a:gd name="connsiteY2" fmla="*/ 0 h 10000"/>
                <a:gd name="connsiteX3" fmla="*/ 5953 w 10000"/>
                <a:gd name="connsiteY3" fmla="*/ 790 h 10000"/>
                <a:gd name="connsiteX4" fmla="*/ 0 w 10000"/>
                <a:gd name="connsiteY4" fmla="*/ 9675 h 10000"/>
                <a:gd name="connsiteX0" fmla="*/ 0 w 9532"/>
                <a:gd name="connsiteY0" fmla="*/ 8953 h 9278"/>
                <a:gd name="connsiteX1" fmla="*/ 3358 w 9532"/>
                <a:gd name="connsiteY1" fmla="*/ 9278 h 9278"/>
                <a:gd name="connsiteX2" fmla="*/ 9532 w 9532"/>
                <a:gd name="connsiteY2" fmla="*/ 0 h 9278"/>
                <a:gd name="connsiteX3" fmla="*/ 5953 w 9532"/>
                <a:gd name="connsiteY3" fmla="*/ 68 h 9278"/>
                <a:gd name="connsiteX4" fmla="*/ 0 w 9532"/>
                <a:gd name="connsiteY4" fmla="*/ 8953 h 9278"/>
                <a:gd name="connsiteX0" fmla="*/ 0 w 10000"/>
                <a:gd name="connsiteY0" fmla="*/ 9650 h 10000"/>
                <a:gd name="connsiteX1" fmla="*/ 3523 w 10000"/>
                <a:gd name="connsiteY1" fmla="*/ 10000 h 10000"/>
                <a:gd name="connsiteX2" fmla="*/ 10000 w 10000"/>
                <a:gd name="connsiteY2" fmla="*/ 0 h 10000"/>
                <a:gd name="connsiteX3" fmla="*/ 6223 w 10000"/>
                <a:gd name="connsiteY3" fmla="*/ 83 h 10000"/>
                <a:gd name="connsiteX4" fmla="*/ 0 w 10000"/>
                <a:gd name="connsiteY4" fmla="*/ 965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9650"/>
                  </a:moveTo>
                  <a:lnTo>
                    <a:pt x="3523" y="10000"/>
                  </a:lnTo>
                  <a:lnTo>
                    <a:pt x="10000" y="0"/>
                  </a:lnTo>
                  <a:lnTo>
                    <a:pt x="6223" y="83"/>
                  </a:lnTo>
                  <a:lnTo>
                    <a:pt x="0" y="9650"/>
                  </a:lnTo>
                  <a:close/>
                </a:path>
              </a:pathLst>
            </a:custGeom>
            <a:solidFill>
              <a:schemeClr val="accent1"/>
            </a:solidFill>
            <a:ln>
              <a:noFill/>
            </a:ln>
          </p:spPr>
        </p:sp>
        <p:sp>
          <p:nvSpPr>
            <p:cNvPr id="23" name="Freeform 7"/>
            <p:cNvSpPr/>
            <p:nvPr/>
          </p:nvSpPr>
          <p:spPr bwMode="auto">
            <a:xfrm>
              <a:off x="2928939" y="228621"/>
              <a:ext cx="974499" cy="2439966"/>
            </a:xfrm>
            <a:custGeom>
              <a:avLst/>
              <a:gdLst>
                <a:gd name="connsiteX0" fmla="*/ 3451 w 9415"/>
                <a:gd name="connsiteY0" fmla="*/ 10000 h 10000"/>
                <a:gd name="connsiteX1" fmla="*/ 9415 w 9415"/>
                <a:gd name="connsiteY1" fmla="*/ 873 h 10000"/>
                <a:gd name="connsiteX2" fmla="*/ 6304 w 9415"/>
                <a:gd name="connsiteY2" fmla="*/ 0 h 10000"/>
                <a:gd name="connsiteX3" fmla="*/ 0 w 9415"/>
                <a:gd name="connsiteY3" fmla="*/ 9662 h 10000"/>
                <a:gd name="connsiteX4" fmla="*/ 3359 w 9415"/>
                <a:gd name="connsiteY4" fmla="*/ 9982 h 10000"/>
                <a:gd name="connsiteX5" fmla="*/ 3451 w 9415"/>
                <a:gd name="connsiteY5" fmla="*/ 10000 h 10000"/>
                <a:gd name="connsiteX0" fmla="*/ 3665 w 10000"/>
                <a:gd name="connsiteY0" fmla="*/ 9127 h 9127"/>
                <a:gd name="connsiteX1" fmla="*/ 10000 w 10000"/>
                <a:gd name="connsiteY1" fmla="*/ 0 h 9127"/>
                <a:gd name="connsiteX2" fmla="*/ 6040 w 10000"/>
                <a:gd name="connsiteY2" fmla="*/ 96 h 9127"/>
                <a:gd name="connsiteX3" fmla="*/ 0 w 10000"/>
                <a:gd name="connsiteY3" fmla="*/ 8789 h 9127"/>
                <a:gd name="connsiteX4" fmla="*/ 3568 w 10000"/>
                <a:gd name="connsiteY4" fmla="*/ 9109 h 9127"/>
                <a:gd name="connsiteX5" fmla="*/ 3665 w 10000"/>
                <a:gd name="connsiteY5" fmla="*/ 9127 h 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127">
                  <a:moveTo>
                    <a:pt x="3665" y="9127"/>
                  </a:moveTo>
                  <a:lnTo>
                    <a:pt x="10000" y="0"/>
                  </a:lnTo>
                  <a:lnTo>
                    <a:pt x="6040" y="96"/>
                  </a:lnTo>
                  <a:lnTo>
                    <a:pt x="0" y="8789"/>
                  </a:lnTo>
                  <a:lnTo>
                    <a:pt x="3568" y="9109"/>
                  </a:lnTo>
                  <a:lnTo>
                    <a:pt x="3665" y="9127"/>
                  </a:lnTo>
                  <a:close/>
                </a:path>
              </a:pathLst>
            </a:custGeom>
            <a:solidFill>
              <a:schemeClr val="tx1">
                <a:lumMod val="65000"/>
                <a:lumOff val="35000"/>
              </a:schemeClr>
            </a:solidFill>
            <a:ln>
              <a:noFill/>
            </a:ln>
          </p:spPr>
        </p:sp>
        <p:sp>
          <p:nvSpPr>
            <p:cNvPr id="24" name="Freeform 9"/>
            <p:cNvSpPr/>
            <p:nvPr/>
          </p:nvSpPr>
          <p:spPr bwMode="auto">
            <a:xfrm>
              <a:off x="2928939" y="2582862"/>
              <a:ext cx="2556630" cy="4076771"/>
            </a:xfrm>
            <a:custGeom>
              <a:avLst/>
              <a:gdLst>
                <a:gd name="connsiteX0" fmla="*/ 0 w 9558"/>
                <a:gd name="connsiteY0" fmla="*/ 0 h 10000"/>
                <a:gd name="connsiteX1" fmla="*/ 9558 w 9558"/>
                <a:gd name="connsiteY1" fmla="*/ 10000 h 10000"/>
                <a:gd name="connsiteX2" fmla="*/ 9490 w 9558"/>
                <a:gd name="connsiteY2" fmla="*/ 9487 h 10000"/>
                <a:gd name="connsiteX3" fmla="*/ 0 w 9558"/>
                <a:gd name="connsiteY3" fmla="*/ 0 h 10000"/>
                <a:gd name="connsiteX0" fmla="*/ 0 w 9929"/>
                <a:gd name="connsiteY0" fmla="*/ 0 h 9536"/>
                <a:gd name="connsiteX1" fmla="*/ 9467 w 9929"/>
                <a:gd name="connsiteY1" fmla="*/ 9487 h 9536"/>
                <a:gd name="connsiteX2" fmla="*/ 9929 w 9929"/>
                <a:gd name="connsiteY2" fmla="*/ 9487 h 9536"/>
                <a:gd name="connsiteX3" fmla="*/ 0 w 9929"/>
                <a:gd name="connsiteY3" fmla="*/ 0 h 9536"/>
              </a:gdLst>
              <a:ahLst/>
              <a:cxnLst>
                <a:cxn ang="0">
                  <a:pos x="connsiteX0" y="connsiteY0"/>
                </a:cxn>
                <a:cxn ang="0">
                  <a:pos x="connsiteX1" y="connsiteY1"/>
                </a:cxn>
                <a:cxn ang="0">
                  <a:pos x="connsiteX2" y="connsiteY2"/>
                </a:cxn>
                <a:cxn ang="0">
                  <a:pos x="connsiteX3" y="connsiteY3"/>
                </a:cxn>
              </a:cxnLst>
              <a:rect l="l" t="t" r="r" b="b"/>
              <a:pathLst>
                <a:path w="9929" h="9536">
                  <a:moveTo>
                    <a:pt x="0" y="0"/>
                  </a:moveTo>
                  <a:lnTo>
                    <a:pt x="9467" y="9487"/>
                  </a:lnTo>
                  <a:cubicBezTo>
                    <a:pt x="9443" y="9316"/>
                    <a:pt x="9953" y="9658"/>
                    <a:pt x="9929" y="9487"/>
                  </a:cubicBez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122225" cy="3900251"/>
            </a:xfrm>
            <a:custGeom>
              <a:avLst/>
              <a:gdLst>
                <a:gd name="connsiteX0" fmla="*/ 9370 w 9628"/>
                <a:gd name="connsiteY0" fmla="*/ 9339 h 10000"/>
                <a:gd name="connsiteX1" fmla="*/ 0 w 9628"/>
                <a:gd name="connsiteY1" fmla="*/ 0 h 10000"/>
                <a:gd name="connsiteX2" fmla="*/ 9628 w 9628"/>
                <a:gd name="connsiteY2" fmla="*/ 10000 h 10000"/>
                <a:gd name="connsiteX3" fmla="*/ 9370 w 9628"/>
                <a:gd name="connsiteY3" fmla="*/ 9339 h 10000"/>
                <a:gd name="connsiteX0" fmla="*/ 9732 w 9732"/>
                <a:gd name="connsiteY0" fmla="*/ 9339 h 9363"/>
                <a:gd name="connsiteX1" fmla="*/ 0 w 9732"/>
                <a:gd name="connsiteY1" fmla="*/ 0 h 9363"/>
                <a:gd name="connsiteX2" fmla="*/ 9443 w 9732"/>
                <a:gd name="connsiteY2" fmla="*/ 9363 h 9363"/>
                <a:gd name="connsiteX3" fmla="*/ 9732 w 9732"/>
                <a:gd name="connsiteY3" fmla="*/ 9339 h 9363"/>
              </a:gdLst>
              <a:ahLst/>
              <a:cxnLst>
                <a:cxn ang="0">
                  <a:pos x="connsiteX0" y="connsiteY0"/>
                </a:cxn>
                <a:cxn ang="0">
                  <a:pos x="connsiteX1" y="connsiteY1"/>
                </a:cxn>
                <a:cxn ang="0">
                  <a:pos x="connsiteX2" y="connsiteY2"/>
                </a:cxn>
                <a:cxn ang="0">
                  <a:pos x="connsiteX3" y="connsiteY3"/>
                </a:cxn>
              </a:cxnLst>
              <a:rect l="l" t="t" r="r" b="b"/>
              <a:pathLst>
                <a:path w="9732" h="9363">
                  <a:moveTo>
                    <a:pt x="9732" y="9339"/>
                  </a:moveTo>
                  <a:lnTo>
                    <a:pt x="0" y="0"/>
                  </a:lnTo>
                  <a:lnTo>
                    <a:pt x="9443" y="9363"/>
                  </a:lnTo>
                  <a:lnTo>
                    <a:pt x="9732" y="9339"/>
                  </a:lnTo>
                  <a:close/>
                </a:path>
              </a:pathLst>
            </a:custGeom>
            <a:solidFill>
              <a:schemeClr val="accent1">
                <a:lumMod val="50000"/>
              </a:schemeClr>
            </a:solidFill>
            <a:ln>
              <a:noFill/>
            </a:ln>
          </p:spPr>
        </p:sp>
        <p:sp>
          <p:nvSpPr>
            <p:cNvPr id="26" name="Freeform 11"/>
            <p:cNvSpPr/>
            <p:nvPr/>
          </p:nvSpPr>
          <p:spPr bwMode="auto">
            <a:xfrm>
              <a:off x="3367087" y="2687637"/>
              <a:ext cx="4260252" cy="3900155"/>
            </a:xfrm>
            <a:custGeom>
              <a:avLst/>
              <a:gdLst>
                <a:gd name="connsiteX0" fmla="*/ 0 w 10000"/>
                <a:gd name="connsiteY0" fmla="*/ 0 h 10000"/>
                <a:gd name="connsiteX1" fmla="*/ 10 w 10000"/>
                <a:gd name="connsiteY1" fmla="*/ 11 h 10000"/>
                <a:gd name="connsiteX2" fmla="*/ 6891 w 10000"/>
                <a:gd name="connsiteY2" fmla="*/ 9418 h 10000"/>
                <a:gd name="connsiteX3" fmla="*/ 10000 w 10000"/>
                <a:gd name="connsiteY3" fmla="*/ 10000 h 10000"/>
                <a:gd name="connsiteX4" fmla="*/ 780 w 10000"/>
                <a:gd name="connsiteY4" fmla="*/ 217 h 10000"/>
                <a:gd name="connsiteX5" fmla="*/ 0 w 10000"/>
                <a:gd name="connsiteY5" fmla="*/ 0 h 10000"/>
                <a:gd name="connsiteX0" fmla="*/ 0 w 9375"/>
                <a:gd name="connsiteY0" fmla="*/ 0 h 9418"/>
                <a:gd name="connsiteX1" fmla="*/ 10 w 9375"/>
                <a:gd name="connsiteY1" fmla="*/ 11 h 9418"/>
                <a:gd name="connsiteX2" fmla="*/ 6891 w 9375"/>
                <a:gd name="connsiteY2" fmla="*/ 9418 h 9418"/>
                <a:gd name="connsiteX3" fmla="*/ 9375 w 9375"/>
                <a:gd name="connsiteY3" fmla="*/ 9264 h 9418"/>
                <a:gd name="connsiteX4" fmla="*/ 780 w 9375"/>
                <a:gd name="connsiteY4" fmla="*/ 217 h 9418"/>
                <a:gd name="connsiteX5" fmla="*/ 0 w 9375"/>
                <a:gd name="connsiteY5" fmla="*/ 0 h 9418"/>
                <a:gd name="connsiteX0" fmla="*/ 0 w 9929"/>
                <a:gd name="connsiteY0" fmla="*/ 0 h 10000"/>
                <a:gd name="connsiteX1" fmla="*/ 11 w 9929"/>
                <a:gd name="connsiteY1" fmla="*/ 12 h 10000"/>
                <a:gd name="connsiteX2" fmla="*/ 7350 w 9929"/>
                <a:gd name="connsiteY2" fmla="*/ 10000 h 10000"/>
                <a:gd name="connsiteX3" fmla="*/ 9929 w 9929"/>
                <a:gd name="connsiteY3" fmla="*/ 9711 h 10000"/>
                <a:gd name="connsiteX4" fmla="*/ 832 w 9929"/>
                <a:gd name="connsiteY4" fmla="*/ 230 h 10000"/>
                <a:gd name="connsiteX5" fmla="*/ 0 w 9929"/>
                <a:gd name="connsiteY5" fmla="*/ 0 h 10000"/>
                <a:gd name="connsiteX0" fmla="*/ 0 w 10000"/>
                <a:gd name="connsiteY0" fmla="*/ 0 h 9930"/>
                <a:gd name="connsiteX1" fmla="*/ 11 w 10000"/>
                <a:gd name="connsiteY1" fmla="*/ 12 h 9930"/>
                <a:gd name="connsiteX2" fmla="*/ 7290 w 10000"/>
                <a:gd name="connsiteY2" fmla="*/ 9930 h 9930"/>
                <a:gd name="connsiteX3" fmla="*/ 10000 w 10000"/>
                <a:gd name="connsiteY3" fmla="*/ 9711 h 9930"/>
                <a:gd name="connsiteX4" fmla="*/ 838 w 10000"/>
                <a:gd name="connsiteY4" fmla="*/ 230 h 9930"/>
                <a:gd name="connsiteX5" fmla="*/ 0 w 10000"/>
                <a:gd name="connsiteY5" fmla="*/ 0 h 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30">
                  <a:moveTo>
                    <a:pt x="0" y="0"/>
                  </a:moveTo>
                  <a:cubicBezTo>
                    <a:pt x="3" y="4"/>
                    <a:pt x="7" y="7"/>
                    <a:pt x="11" y="12"/>
                  </a:cubicBezTo>
                  <a:lnTo>
                    <a:pt x="7290" y="9930"/>
                  </a:lnTo>
                  <a:lnTo>
                    <a:pt x="10000" y="9711"/>
                  </a:lnTo>
                  <a:lnTo>
                    <a:pt x="838" y="230"/>
                  </a:lnTo>
                  <a:lnTo>
                    <a:pt x="0" y="0"/>
                  </a:lnTo>
                  <a:close/>
                </a:path>
              </a:pathLst>
            </a:custGeom>
            <a:solidFill>
              <a:schemeClr val="accent1">
                <a:lumMod val="75000"/>
              </a:schemeClr>
            </a:solidFill>
            <a:ln>
              <a:noFill/>
            </a:ln>
          </p:spPr>
        </p:sp>
        <p:sp>
          <p:nvSpPr>
            <p:cNvPr id="27" name="Freeform 12"/>
            <p:cNvSpPr/>
            <p:nvPr/>
          </p:nvSpPr>
          <p:spPr bwMode="auto">
            <a:xfrm>
              <a:off x="2928939" y="2578100"/>
              <a:ext cx="3345841" cy="4068473"/>
            </a:xfrm>
            <a:custGeom>
              <a:avLst/>
              <a:gdLst>
                <a:gd name="connsiteX0" fmla="*/ 9334 w 9334"/>
                <a:gd name="connsiteY0" fmla="*/ 9389 h 10000"/>
                <a:gd name="connsiteX1" fmla="*/ 1169 w 9334"/>
                <a:gd name="connsiteY1" fmla="*/ 412 h 10000"/>
                <a:gd name="connsiteX2" fmla="*/ 1010 w 9334"/>
                <a:gd name="connsiteY2" fmla="*/ 223 h 10000"/>
                <a:gd name="connsiteX3" fmla="*/ 996 w 9334"/>
                <a:gd name="connsiteY3" fmla="*/ 211 h 10000"/>
                <a:gd name="connsiteX4" fmla="*/ 0 w 9334"/>
                <a:gd name="connsiteY4" fmla="*/ 0 h 10000"/>
                <a:gd name="connsiteX5" fmla="*/ 0 w 9334"/>
                <a:gd name="connsiteY5" fmla="*/ 11 h 10000"/>
                <a:gd name="connsiteX6" fmla="*/ 7516 w 9334"/>
                <a:gd name="connsiteY6" fmla="*/ 10000 h 10000"/>
                <a:gd name="connsiteX7" fmla="*/ 9334 w 9334"/>
                <a:gd name="connsiteY7" fmla="*/ 9389 h 10000"/>
                <a:gd name="connsiteX0" fmla="*/ 10000 w 10000"/>
                <a:gd name="connsiteY0" fmla="*/ 9389 h 9506"/>
                <a:gd name="connsiteX1" fmla="*/ 1252 w 10000"/>
                <a:gd name="connsiteY1" fmla="*/ 412 h 9506"/>
                <a:gd name="connsiteX2" fmla="*/ 1082 w 10000"/>
                <a:gd name="connsiteY2" fmla="*/ 223 h 9506"/>
                <a:gd name="connsiteX3" fmla="*/ 1067 w 10000"/>
                <a:gd name="connsiteY3" fmla="*/ 211 h 9506"/>
                <a:gd name="connsiteX4" fmla="*/ 0 w 10000"/>
                <a:gd name="connsiteY4" fmla="*/ 0 h 9506"/>
                <a:gd name="connsiteX5" fmla="*/ 0 w 10000"/>
                <a:gd name="connsiteY5" fmla="*/ 11 h 9506"/>
                <a:gd name="connsiteX6" fmla="*/ 7656 w 10000"/>
                <a:gd name="connsiteY6" fmla="*/ 9506 h 9506"/>
                <a:gd name="connsiteX7" fmla="*/ 10000 w 10000"/>
                <a:gd name="connsiteY7" fmla="*/ 9389 h 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9506">
                  <a:moveTo>
                    <a:pt x="10000" y="9389"/>
                  </a:moveTo>
                  <a:lnTo>
                    <a:pt x="1252" y="412"/>
                  </a:lnTo>
                  <a:lnTo>
                    <a:pt x="1082" y="223"/>
                  </a:lnTo>
                  <a:lnTo>
                    <a:pt x="1067" y="211"/>
                  </a:lnTo>
                  <a:lnTo>
                    <a:pt x="0" y="0"/>
                  </a:lnTo>
                  <a:lnTo>
                    <a:pt x="0" y="11"/>
                  </a:lnTo>
                  <a:lnTo>
                    <a:pt x="7656" y="9506"/>
                  </a:lnTo>
                  <a:lnTo>
                    <a:pt x="10000" y="9389"/>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pt-BR"/>
              <a:t>Clique para editar o título mestre</a:t>
            </a:r>
            <a:endParaRPr lang="en-US"/>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a:xfrm>
            <a:off x="5332412" y="5883275"/>
            <a:ext cx="4324044" cy="365125"/>
          </a:xfrm>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grpSp>
        <p:nvGrpSpPr>
          <p:cNvPr id="35" name="Group 18"/>
          <p:cNvGrpSpPr/>
          <p:nvPr userDrawn="1"/>
        </p:nvGrpSpPr>
        <p:grpSpPr>
          <a:xfrm rot="16865565">
            <a:off x="4691646" y="-421173"/>
            <a:ext cx="2927017" cy="12329825"/>
            <a:chOff x="2928939" y="196161"/>
            <a:chExt cx="4698400" cy="6463472"/>
          </a:xfrm>
        </p:grpSpPr>
        <p:sp>
          <p:nvSpPr>
            <p:cNvPr id="36" name="Freeform 6"/>
            <p:cNvSpPr/>
            <p:nvPr/>
          </p:nvSpPr>
          <p:spPr bwMode="auto">
            <a:xfrm>
              <a:off x="3367088" y="196161"/>
              <a:ext cx="1013847" cy="2581964"/>
            </a:xfrm>
            <a:custGeom>
              <a:avLst/>
              <a:gdLst>
                <a:gd name="connsiteX0" fmla="*/ 0 w 10000"/>
                <a:gd name="connsiteY0" fmla="*/ 9675 h 10000"/>
                <a:gd name="connsiteX1" fmla="*/ 3358 w 10000"/>
                <a:gd name="connsiteY1" fmla="*/ 10000 h 10000"/>
                <a:gd name="connsiteX2" fmla="*/ 10000 w 10000"/>
                <a:gd name="connsiteY2" fmla="*/ 0 h 10000"/>
                <a:gd name="connsiteX3" fmla="*/ 5953 w 10000"/>
                <a:gd name="connsiteY3" fmla="*/ 790 h 10000"/>
                <a:gd name="connsiteX4" fmla="*/ 0 w 10000"/>
                <a:gd name="connsiteY4" fmla="*/ 9675 h 10000"/>
                <a:gd name="connsiteX0" fmla="*/ 0 w 9532"/>
                <a:gd name="connsiteY0" fmla="*/ 8953 h 9278"/>
                <a:gd name="connsiteX1" fmla="*/ 3358 w 9532"/>
                <a:gd name="connsiteY1" fmla="*/ 9278 h 9278"/>
                <a:gd name="connsiteX2" fmla="*/ 9532 w 9532"/>
                <a:gd name="connsiteY2" fmla="*/ 0 h 9278"/>
                <a:gd name="connsiteX3" fmla="*/ 5953 w 9532"/>
                <a:gd name="connsiteY3" fmla="*/ 68 h 9278"/>
                <a:gd name="connsiteX4" fmla="*/ 0 w 9532"/>
                <a:gd name="connsiteY4" fmla="*/ 8953 h 9278"/>
                <a:gd name="connsiteX0" fmla="*/ 0 w 10000"/>
                <a:gd name="connsiteY0" fmla="*/ 9650 h 10000"/>
                <a:gd name="connsiteX1" fmla="*/ 3523 w 10000"/>
                <a:gd name="connsiteY1" fmla="*/ 10000 h 10000"/>
                <a:gd name="connsiteX2" fmla="*/ 10000 w 10000"/>
                <a:gd name="connsiteY2" fmla="*/ 0 h 10000"/>
                <a:gd name="connsiteX3" fmla="*/ 6223 w 10000"/>
                <a:gd name="connsiteY3" fmla="*/ 83 h 10000"/>
                <a:gd name="connsiteX4" fmla="*/ 0 w 10000"/>
                <a:gd name="connsiteY4" fmla="*/ 965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9650"/>
                  </a:moveTo>
                  <a:lnTo>
                    <a:pt x="3523" y="10000"/>
                  </a:lnTo>
                  <a:lnTo>
                    <a:pt x="10000" y="0"/>
                  </a:lnTo>
                  <a:lnTo>
                    <a:pt x="6223" y="83"/>
                  </a:lnTo>
                  <a:lnTo>
                    <a:pt x="0" y="9650"/>
                  </a:lnTo>
                  <a:close/>
                </a:path>
              </a:pathLst>
            </a:custGeom>
            <a:solidFill>
              <a:schemeClr val="accent1"/>
            </a:solidFill>
            <a:ln>
              <a:noFill/>
            </a:ln>
          </p:spPr>
        </p:sp>
        <p:sp>
          <p:nvSpPr>
            <p:cNvPr id="37" name="Freeform 7"/>
            <p:cNvSpPr/>
            <p:nvPr/>
          </p:nvSpPr>
          <p:spPr bwMode="auto">
            <a:xfrm>
              <a:off x="2928939" y="228621"/>
              <a:ext cx="974499" cy="2439966"/>
            </a:xfrm>
            <a:custGeom>
              <a:avLst/>
              <a:gdLst>
                <a:gd name="connsiteX0" fmla="*/ 3451 w 9415"/>
                <a:gd name="connsiteY0" fmla="*/ 10000 h 10000"/>
                <a:gd name="connsiteX1" fmla="*/ 9415 w 9415"/>
                <a:gd name="connsiteY1" fmla="*/ 873 h 10000"/>
                <a:gd name="connsiteX2" fmla="*/ 6304 w 9415"/>
                <a:gd name="connsiteY2" fmla="*/ 0 h 10000"/>
                <a:gd name="connsiteX3" fmla="*/ 0 w 9415"/>
                <a:gd name="connsiteY3" fmla="*/ 9662 h 10000"/>
                <a:gd name="connsiteX4" fmla="*/ 3359 w 9415"/>
                <a:gd name="connsiteY4" fmla="*/ 9982 h 10000"/>
                <a:gd name="connsiteX5" fmla="*/ 3451 w 9415"/>
                <a:gd name="connsiteY5" fmla="*/ 10000 h 10000"/>
                <a:gd name="connsiteX0" fmla="*/ 3665 w 10000"/>
                <a:gd name="connsiteY0" fmla="*/ 9127 h 9127"/>
                <a:gd name="connsiteX1" fmla="*/ 10000 w 10000"/>
                <a:gd name="connsiteY1" fmla="*/ 0 h 9127"/>
                <a:gd name="connsiteX2" fmla="*/ 6040 w 10000"/>
                <a:gd name="connsiteY2" fmla="*/ 96 h 9127"/>
                <a:gd name="connsiteX3" fmla="*/ 0 w 10000"/>
                <a:gd name="connsiteY3" fmla="*/ 8789 h 9127"/>
                <a:gd name="connsiteX4" fmla="*/ 3568 w 10000"/>
                <a:gd name="connsiteY4" fmla="*/ 9109 h 9127"/>
                <a:gd name="connsiteX5" fmla="*/ 3665 w 10000"/>
                <a:gd name="connsiteY5" fmla="*/ 9127 h 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127">
                  <a:moveTo>
                    <a:pt x="3665" y="9127"/>
                  </a:moveTo>
                  <a:lnTo>
                    <a:pt x="10000" y="0"/>
                  </a:lnTo>
                  <a:lnTo>
                    <a:pt x="6040" y="96"/>
                  </a:lnTo>
                  <a:lnTo>
                    <a:pt x="0" y="8789"/>
                  </a:lnTo>
                  <a:lnTo>
                    <a:pt x="3568" y="9109"/>
                  </a:lnTo>
                  <a:lnTo>
                    <a:pt x="3665" y="9127"/>
                  </a:lnTo>
                  <a:close/>
                </a:path>
              </a:pathLst>
            </a:custGeom>
            <a:solidFill>
              <a:schemeClr val="tx1">
                <a:lumMod val="65000"/>
                <a:lumOff val="35000"/>
              </a:schemeClr>
            </a:solidFill>
            <a:ln>
              <a:noFill/>
            </a:ln>
          </p:spPr>
        </p:sp>
        <p:sp>
          <p:nvSpPr>
            <p:cNvPr id="38" name="Freeform 9"/>
            <p:cNvSpPr/>
            <p:nvPr/>
          </p:nvSpPr>
          <p:spPr bwMode="auto">
            <a:xfrm>
              <a:off x="2928939" y="2582862"/>
              <a:ext cx="2556630" cy="4076771"/>
            </a:xfrm>
            <a:custGeom>
              <a:avLst/>
              <a:gdLst>
                <a:gd name="connsiteX0" fmla="*/ 0 w 9558"/>
                <a:gd name="connsiteY0" fmla="*/ 0 h 10000"/>
                <a:gd name="connsiteX1" fmla="*/ 9558 w 9558"/>
                <a:gd name="connsiteY1" fmla="*/ 10000 h 10000"/>
                <a:gd name="connsiteX2" fmla="*/ 9490 w 9558"/>
                <a:gd name="connsiteY2" fmla="*/ 9487 h 10000"/>
                <a:gd name="connsiteX3" fmla="*/ 0 w 9558"/>
                <a:gd name="connsiteY3" fmla="*/ 0 h 10000"/>
                <a:gd name="connsiteX0" fmla="*/ 0 w 9929"/>
                <a:gd name="connsiteY0" fmla="*/ 0 h 9536"/>
                <a:gd name="connsiteX1" fmla="*/ 9467 w 9929"/>
                <a:gd name="connsiteY1" fmla="*/ 9487 h 9536"/>
                <a:gd name="connsiteX2" fmla="*/ 9929 w 9929"/>
                <a:gd name="connsiteY2" fmla="*/ 9487 h 9536"/>
                <a:gd name="connsiteX3" fmla="*/ 0 w 9929"/>
                <a:gd name="connsiteY3" fmla="*/ 0 h 9536"/>
              </a:gdLst>
              <a:ahLst/>
              <a:cxnLst>
                <a:cxn ang="0">
                  <a:pos x="connsiteX0" y="connsiteY0"/>
                </a:cxn>
                <a:cxn ang="0">
                  <a:pos x="connsiteX1" y="connsiteY1"/>
                </a:cxn>
                <a:cxn ang="0">
                  <a:pos x="connsiteX2" y="connsiteY2"/>
                </a:cxn>
                <a:cxn ang="0">
                  <a:pos x="connsiteX3" y="connsiteY3"/>
                </a:cxn>
              </a:cxnLst>
              <a:rect l="l" t="t" r="r" b="b"/>
              <a:pathLst>
                <a:path w="9929" h="9536">
                  <a:moveTo>
                    <a:pt x="0" y="0"/>
                  </a:moveTo>
                  <a:lnTo>
                    <a:pt x="9467" y="9487"/>
                  </a:lnTo>
                  <a:cubicBezTo>
                    <a:pt x="9443" y="9316"/>
                    <a:pt x="9953" y="9658"/>
                    <a:pt x="9929" y="9487"/>
                  </a:cubicBezTo>
                  <a:lnTo>
                    <a:pt x="0" y="0"/>
                  </a:lnTo>
                  <a:close/>
                </a:path>
              </a:pathLst>
            </a:custGeom>
            <a:solidFill>
              <a:schemeClr val="tx1">
                <a:lumMod val="85000"/>
                <a:lumOff val="15000"/>
              </a:schemeClr>
            </a:solidFill>
            <a:ln>
              <a:noFill/>
            </a:ln>
          </p:spPr>
        </p:sp>
        <p:sp>
          <p:nvSpPr>
            <p:cNvPr id="39" name="Freeform 10"/>
            <p:cNvSpPr/>
            <p:nvPr/>
          </p:nvSpPr>
          <p:spPr bwMode="auto">
            <a:xfrm>
              <a:off x="3371850" y="2692400"/>
              <a:ext cx="3122225" cy="3900251"/>
            </a:xfrm>
            <a:custGeom>
              <a:avLst/>
              <a:gdLst>
                <a:gd name="connsiteX0" fmla="*/ 9370 w 9628"/>
                <a:gd name="connsiteY0" fmla="*/ 9339 h 10000"/>
                <a:gd name="connsiteX1" fmla="*/ 0 w 9628"/>
                <a:gd name="connsiteY1" fmla="*/ 0 h 10000"/>
                <a:gd name="connsiteX2" fmla="*/ 9628 w 9628"/>
                <a:gd name="connsiteY2" fmla="*/ 10000 h 10000"/>
                <a:gd name="connsiteX3" fmla="*/ 9370 w 9628"/>
                <a:gd name="connsiteY3" fmla="*/ 9339 h 10000"/>
                <a:gd name="connsiteX0" fmla="*/ 9732 w 9732"/>
                <a:gd name="connsiteY0" fmla="*/ 9339 h 9363"/>
                <a:gd name="connsiteX1" fmla="*/ 0 w 9732"/>
                <a:gd name="connsiteY1" fmla="*/ 0 h 9363"/>
                <a:gd name="connsiteX2" fmla="*/ 9443 w 9732"/>
                <a:gd name="connsiteY2" fmla="*/ 9363 h 9363"/>
                <a:gd name="connsiteX3" fmla="*/ 9732 w 9732"/>
                <a:gd name="connsiteY3" fmla="*/ 9339 h 9363"/>
              </a:gdLst>
              <a:ahLst/>
              <a:cxnLst>
                <a:cxn ang="0">
                  <a:pos x="connsiteX0" y="connsiteY0"/>
                </a:cxn>
                <a:cxn ang="0">
                  <a:pos x="connsiteX1" y="connsiteY1"/>
                </a:cxn>
                <a:cxn ang="0">
                  <a:pos x="connsiteX2" y="connsiteY2"/>
                </a:cxn>
                <a:cxn ang="0">
                  <a:pos x="connsiteX3" y="connsiteY3"/>
                </a:cxn>
              </a:cxnLst>
              <a:rect l="l" t="t" r="r" b="b"/>
              <a:pathLst>
                <a:path w="9732" h="9363">
                  <a:moveTo>
                    <a:pt x="9732" y="9339"/>
                  </a:moveTo>
                  <a:lnTo>
                    <a:pt x="0" y="0"/>
                  </a:lnTo>
                  <a:lnTo>
                    <a:pt x="9443" y="9363"/>
                  </a:lnTo>
                  <a:lnTo>
                    <a:pt x="9732" y="9339"/>
                  </a:lnTo>
                  <a:close/>
                </a:path>
              </a:pathLst>
            </a:custGeom>
            <a:solidFill>
              <a:schemeClr val="accent1">
                <a:lumMod val="50000"/>
              </a:schemeClr>
            </a:solidFill>
            <a:ln>
              <a:noFill/>
            </a:ln>
          </p:spPr>
        </p:sp>
        <p:sp>
          <p:nvSpPr>
            <p:cNvPr id="40" name="Freeform 11"/>
            <p:cNvSpPr/>
            <p:nvPr/>
          </p:nvSpPr>
          <p:spPr bwMode="auto">
            <a:xfrm>
              <a:off x="3367087" y="2687637"/>
              <a:ext cx="4260252" cy="3900155"/>
            </a:xfrm>
            <a:custGeom>
              <a:avLst/>
              <a:gdLst>
                <a:gd name="connsiteX0" fmla="*/ 0 w 10000"/>
                <a:gd name="connsiteY0" fmla="*/ 0 h 10000"/>
                <a:gd name="connsiteX1" fmla="*/ 10 w 10000"/>
                <a:gd name="connsiteY1" fmla="*/ 11 h 10000"/>
                <a:gd name="connsiteX2" fmla="*/ 6891 w 10000"/>
                <a:gd name="connsiteY2" fmla="*/ 9418 h 10000"/>
                <a:gd name="connsiteX3" fmla="*/ 10000 w 10000"/>
                <a:gd name="connsiteY3" fmla="*/ 10000 h 10000"/>
                <a:gd name="connsiteX4" fmla="*/ 780 w 10000"/>
                <a:gd name="connsiteY4" fmla="*/ 217 h 10000"/>
                <a:gd name="connsiteX5" fmla="*/ 0 w 10000"/>
                <a:gd name="connsiteY5" fmla="*/ 0 h 10000"/>
                <a:gd name="connsiteX0" fmla="*/ 0 w 9375"/>
                <a:gd name="connsiteY0" fmla="*/ 0 h 9418"/>
                <a:gd name="connsiteX1" fmla="*/ 10 w 9375"/>
                <a:gd name="connsiteY1" fmla="*/ 11 h 9418"/>
                <a:gd name="connsiteX2" fmla="*/ 6891 w 9375"/>
                <a:gd name="connsiteY2" fmla="*/ 9418 h 9418"/>
                <a:gd name="connsiteX3" fmla="*/ 9375 w 9375"/>
                <a:gd name="connsiteY3" fmla="*/ 9264 h 9418"/>
                <a:gd name="connsiteX4" fmla="*/ 780 w 9375"/>
                <a:gd name="connsiteY4" fmla="*/ 217 h 9418"/>
                <a:gd name="connsiteX5" fmla="*/ 0 w 9375"/>
                <a:gd name="connsiteY5" fmla="*/ 0 h 9418"/>
                <a:gd name="connsiteX0" fmla="*/ 0 w 9929"/>
                <a:gd name="connsiteY0" fmla="*/ 0 h 10000"/>
                <a:gd name="connsiteX1" fmla="*/ 11 w 9929"/>
                <a:gd name="connsiteY1" fmla="*/ 12 h 10000"/>
                <a:gd name="connsiteX2" fmla="*/ 7350 w 9929"/>
                <a:gd name="connsiteY2" fmla="*/ 10000 h 10000"/>
                <a:gd name="connsiteX3" fmla="*/ 9929 w 9929"/>
                <a:gd name="connsiteY3" fmla="*/ 9711 h 10000"/>
                <a:gd name="connsiteX4" fmla="*/ 832 w 9929"/>
                <a:gd name="connsiteY4" fmla="*/ 230 h 10000"/>
                <a:gd name="connsiteX5" fmla="*/ 0 w 9929"/>
                <a:gd name="connsiteY5" fmla="*/ 0 h 10000"/>
                <a:gd name="connsiteX0" fmla="*/ 0 w 10000"/>
                <a:gd name="connsiteY0" fmla="*/ 0 h 9930"/>
                <a:gd name="connsiteX1" fmla="*/ 11 w 10000"/>
                <a:gd name="connsiteY1" fmla="*/ 12 h 9930"/>
                <a:gd name="connsiteX2" fmla="*/ 7290 w 10000"/>
                <a:gd name="connsiteY2" fmla="*/ 9930 h 9930"/>
                <a:gd name="connsiteX3" fmla="*/ 10000 w 10000"/>
                <a:gd name="connsiteY3" fmla="*/ 9711 h 9930"/>
                <a:gd name="connsiteX4" fmla="*/ 838 w 10000"/>
                <a:gd name="connsiteY4" fmla="*/ 230 h 9930"/>
                <a:gd name="connsiteX5" fmla="*/ 0 w 10000"/>
                <a:gd name="connsiteY5" fmla="*/ 0 h 9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930">
                  <a:moveTo>
                    <a:pt x="0" y="0"/>
                  </a:moveTo>
                  <a:cubicBezTo>
                    <a:pt x="3" y="4"/>
                    <a:pt x="7" y="7"/>
                    <a:pt x="11" y="12"/>
                  </a:cubicBezTo>
                  <a:lnTo>
                    <a:pt x="7290" y="9930"/>
                  </a:lnTo>
                  <a:lnTo>
                    <a:pt x="10000" y="9711"/>
                  </a:lnTo>
                  <a:lnTo>
                    <a:pt x="838" y="230"/>
                  </a:lnTo>
                  <a:lnTo>
                    <a:pt x="0" y="0"/>
                  </a:lnTo>
                  <a:close/>
                </a:path>
              </a:pathLst>
            </a:custGeom>
            <a:solidFill>
              <a:schemeClr val="accent1">
                <a:lumMod val="75000"/>
              </a:schemeClr>
            </a:solidFill>
            <a:ln>
              <a:noFill/>
            </a:ln>
          </p:spPr>
        </p:sp>
        <p:sp>
          <p:nvSpPr>
            <p:cNvPr id="41" name="Freeform 12"/>
            <p:cNvSpPr/>
            <p:nvPr/>
          </p:nvSpPr>
          <p:spPr bwMode="auto">
            <a:xfrm>
              <a:off x="2928939" y="2578100"/>
              <a:ext cx="3345841" cy="4068473"/>
            </a:xfrm>
            <a:custGeom>
              <a:avLst/>
              <a:gdLst>
                <a:gd name="connsiteX0" fmla="*/ 9334 w 9334"/>
                <a:gd name="connsiteY0" fmla="*/ 9389 h 10000"/>
                <a:gd name="connsiteX1" fmla="*/ 1169 w 9334"/>
                <a:gd name="connsiteY1" fmla="*/ 412 h 10000"/>
                <a:gd name="connsiteX2" fmla="*/ 1010 w 9334"/>
                <a:gd name="connsiteY2" fmla="*/ 223 h 10000"/>
                <a:gd name="connsiteX3" fmla="*/ 996 w 9334"/>
                <a:gd name="connsiteY3" fmla="*/ 211 h 10000"/>
                <a:gd name="connsiteX4" fmla="*/ 0 w 9334"/>
                <a:gd name="connsiteY4" fmla="*/ 0 h 10000"/>
                <a:gd name="connsiteX5" fmla="*/ 0 w 9334"/>
                <a:gd name="connsiteY5" fmla="*/ 11 h 10000"/>
                <a:gd name="connsiteX6" fmla="*/ 7516 w 9334"/>
                <a:gd name="connsiteY6" fmla="*/ 10000 h 10000"/>
                <a:gd name="connsiteX7" fmla="*/ 9334 w 9334"/>
                <a:gd name="connsiteY7" fmla="*/ 9389 h 10000"/>
                <a:gd name="connsiteX0" fmla="*/ 10000 w 10000"/>
                <a:gd name="connsiteY0" fmla="*/ 9389 h 9506"/>
                <a:gd name="connsiteX1" fmla="*/ 1252 w 10000"/>
                <a:gd name="connsiteY1" fmla="*/ 412 h 9506"/>
                <a:gd name="connsiteX2" fmla="*/ 1082 w 10000"/>
                <a:gd name="connsiteY2" fmla="*/ 223 h 9506"/>
                <a:gd name="connsiteX3" fmla="*/ 1067 w 10000"/>
                <a:gd name="connsiteY3" fmla="*/ 211 h 9506"/>
                <a:gd name="connsiteX4" fmla="*/ 0 w 10000"/>
                <a:gd name="connsiteY4" fmla="*/ 0 h 9506"/>
                <a:gd name="connsiteX5" fmla="*/ 0 w 10000"/>
                <a:gd name="connsiteY5" fmla="*/ 11 h 9506"/>
                <a:gd name="connsiteX6" fmla="*/ 7656 w 10000"/>
                <a:gd name="connsiteY6" fmla="*/ 9506 h 9506"/>
                <a:gd name="connsiteX7" fmla="*/ 10000 w 10000"/>
                <a:gd name="connsiteY7" fmla="*/ 9389 h 9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9506">
                  <a:moveTo>
                    <a:pt x="10000" y="9389"/>
                  </a:moveTo>
                  <a:lnTo>
                    <a:pt x="1252" y="412"/>
                  </a:lnTo>
                  <a:lnTo>
                    <a:pt x="1082" y="223"/>
                  </a:lnTo>
                  <a:lnTo>
                    <a:pt x="1067" y="211"/>
                  </a:lnTo>
                  <a:lnTo>
                    <a:pt x="0" y="0"/>
                  </a:lnTo>
                  <a:lnTo>
                    <a:pt x="0" y="11"/>
                  </a:lnTo>
                  <a:lnTo>
                    <a:pt x="7656" y="9506"/>
                  </a:lnTo>
                  <a:lnTo>
                    <a:pt x="10000" y="9389"/>
                  </a:lnTo>
                  <a:close/>
                </a:path>
              </a:pathLst>
            </a:custGeom>
            <a:solidFill>
              <a:schemeClr val="tx1">
                <a:lumMod val="75000"/>
                <a:lumOff val="25000"/>
              </a:schemeClr>
            </a:solidFill>
            <a:ln>
              <a:noFill/>
            </a:ln>
          </p:spPr>
        </p:sp>
      </p:grpSp>
    </p:spTree>
    <p:extLst>
      <p:ext uri="{BB962C8B-B14F-4D97-AF65-F5344CB8AC3E}">
        <p14:creationId xmlns:p14="http://schemas.microsoft.com/office/powerpoint/2010/main" val="1702137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a:xfrm>
            <a:off x="419099" y="720725"/>
            <a:ext cx="11353801" cy="1374776"/>
          </a:xfrm>
        </p:spPr>
        <p:txBody>
          <a:bodyPr/>
          <a:lstStyle/>
          <a:p>
            <a:r>
              <a:rPr lang="pt-BR"/>
              <a:t>Clique para editar o título mestre</a:t>
            </a:r>
            <a:endParaRPr lang="en-US"/>
          </a:p>
        </p:txBody>
      </p:sp>
      <p:sp>
        <p:nvSpPr>
          <p:cNvPr id="3" name="Content Placeholder 2"/>
          <p:cNvSpPr>
            <a:spLocks noGrp="1"/>
          </p:cNvSpPr>
          <p:nvPr>
            <p:ph idx="1"/>
          </p:nvPr>
        </p:nvSpPr>
        <p:spPr>
          <a:xfrm>
            <a:off x="419100" y="2301876"/>
            <a:ext cx="11353800" cy="3430451"/>
          </a:xfrm>
        </p:spPr>
        <p:txBody>
          <a:bodyPr anchor="ct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10951856" y="5867131"/>
            <a:ext cx="551167" cy="365125"/>
          </a:xfrm>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629861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pt-BR"/>
              <a:t>Clique para editar o título mestre</a:t>
            </a:r>
            <a:endParaRPr lang="en-US"/>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1263723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pt-BR"/>
              <a:t>Clique para editar o título mestre</a:t>
            </a:r>
            <a:endParaRPr lang="en-US"/>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49F6C9B0-5123-4BBA-ABBB-98C818F5A1A8}" type="datetimeFigureOut">
              <a:rPr lang="pt-BR" smtClean="0"/>
              <a:t>08/10/2022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776812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49F6C9B0-5123-4BBA-ABBB-98C818F5A1A8}" type="datetimeFigureOut">
              <a:rPr lang="pt-BR" smtClean="0"/>
              <a:t>08/10/2022</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558790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Date Placeholder 2"/>
          <p:cNvSpPr>
            <a:spLocks noGrp="1"/>
          </p:cNvSpPr>
          <p:nvPr>
            <p:ph type="dt" sz="half" idx="10"/>
          </p:nvPr>
        </p:nvSpPr>
        <p:spPr/>
        <p:txBody>
          <a:bodyPr/>
          <a:lstStyle/>
          <a:p>
            <a:fld id="{49F6C9B0-5123-4BBA-ABBB-98C818F5A1A8}" type="datetimeFigureOut">
              <a:rPr lang="pt-BR" smtClean="0"/>
              <a:t>08/10/2022</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1198916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F6C9B0-5123-4BBA-ABBB-98C818F5A1A8}" type="datetimeFigureOut">
              <a:rPr lang="pt-BR" smtClean="0"/>
              <a:t>08/10/2022</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242841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pt-BR"/>
              <a:t>Clique para editar o título mestre</a:t>
            </a:r>
            <a:endParaRPr lang="en-US"/>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49F6C9B0-5123-4BBA-ABBB-98C818F5A1A8}" type="datetimeFigureOut">
              <a:rPr lang="pt-BR" smtClean="0"/>
              <a:t>08/10/2022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1619336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pt-BR"/>
              <a:t>Clique para editar o título mestre</a:t>
            </a:r>
            <a:endParaRPr lang="en-US"/>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49F6C9B0-5123-4BBA-ABBB-98C818F5A1A8}" type="datetimeFigureOut">
              <a:rPr lang="pt-BR" smtClean="0"/>
              <a:t>08/10/2022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650115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pt-BR"/>
              <a:t>Clique para editar o título mestre</a:t>
            </a:r>
            <a:endParaRPr lang="en-US"/>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49F6C9B0-5123-4BBA-ABBB-98C818F5A1A8}" type="datetimeFigureOut">
              <a:rPr lang="pt-BR" smtClean="0"/>
              <a:t>08/10/2022</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403630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pt-BR"/>
              <a:t>Clique para editar o título mestre</a:t>
            </a:r>
            <a:endParaRPr lang="en-US"/>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2173721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3807378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pt-BR"/>
              <a:t>Clique para editar o título mestre</a:t>
            </a:r>
            <a:endParaRPr lang="en-US"/>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764166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4043557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1279349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24564688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49F6C9B0-5123-4BBA-ABBB-98C818F5A1A8}" type="datetimeFigureOut">
              <a:rPr lang="pt-BR" smtClean="0"/>
              <a:t>08/10/2022</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8DBB403-909B-4CDC-B13D-41F432307764}" type="slidenum">
              <a:rPr lang="pt-BR" smtClean="0"/>
              <a:t>‹nº›</a:t>
            </a:fld>
            <a:endParaRPr lang="pt-BR"/>
          </a:p>
        </p:txBody>
      </p:sp>
    </p:spTree>
    <p:extLst>
      <p:ext uri="{BB962C8B-B14F-4D97-AF65-F5344CB8AC3E}">
        <p14:creationId xmlns:p14="http://schemas.microsoft.com/office/powerpoint/2010/main" val="4532777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6483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rot="5400000">
            <a:off x="5553473" y="-5495528"/>
            <a:ext cx="1085056" cy="12192000"/>
            <a:chOff x="1320800" y="0"/>
            <a:chExt cx="2436813" cy="685800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grp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grp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grp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grp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grp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grp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9F6C9B0-5123-4BBA-ABBB-98C818F5A1A8}" type="datetimeFigureOut">
              <a:rPr lang="pt-BR" smtClean="0"/>
              <a:t>08/10/2022</a:t>
            </a:fld>
            <a:endParaRPr lang="pt-BR"/>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pt-B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8DBB403-909B-4CDC-B13D-41F432307764}" type="slidenum">
              <a:rPr lang="pt-BR" smtClean="0"/>
              <a:t>‹nº›</a:t>
            </a:fld>
            <a:endParaRPr lang="pt-BR"/>
          </a:p>
        </p:txBody>
      </p:sp>
      <p:grpSp>
        <p:nvGrpSpPr>
          <p:cNvPr id="14" name="Group 6"/>
          <p:cNvGrpSpPr/>
          <p:nvPr userDrawn="1"/>
        </p:nvGrpSpPr>
        <p:grpSpPr>
          <a:xfrm rot="16200000">
            <a:off x="5534423" y="240863"/>
            <a:ext cx="1085056" cy="12192000"/>
            <a:chOff x="1320800" y="0"/>
            <a:chExt cx="2436813" cy="685800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p:grpSpPr>
        <p:sp>
          <p:nvSpPr>
            <p:cNvPr id="15"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grpFill/>
            <a:ln>
              <a:noFill/>
            </a:ln>
          </p:spPr>
        </p:sp>
        <p:sp>
          <p:nvSpPr>
            <p:cNvPr id="16"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grpFill/>
            <a:ln>
              <a:noFill/>
            </a:ln>
          </p:spPr>
        </p:sp>
        <p:sp>
          <p:nvSpPr>
            <p:cNvPr id="17"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grpFill/>
            <a:ln>
              <a:noFill/>
            </a:ln>
          </p:spPr>
        </p:sp>
        <p:sp>
          <p:nvSpPr>
            <p:cNvPr id="18"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grpFill/>
            <a:ln>
              <a:noFill/>
            </a:ln>
          </p:spPr>
        </p:sp>
        <p:sp>
          <p:nvSpPr>
            <p:cNvPr id="19"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grpFill/>
            <a:ln>
              <a:noFill/>
            </a:ln>
          </p:spPr>
        </p:sp>
        <p:sp>
          <p:nvSpPr>
            <p:cNvPr id="20"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grpFill/>
            <a:ln>
              <a:noFill/>
            </a:ln>
          </p:spPr>
        </p:sp>
      </p:grpSp>
    </p:spTree>
    <p:extLst>
      <p:ext uri="{BB962C8B-B14F-4D97-AF65-F5344CB8AC3E}">
        <p14:creationId xmlns:p14="http://schemas.microsoft.com/office/powerpoint/2010/main" val="85609770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hyperlink" Target="https://docs.microsoft.com/pt-br/learn/modules/data-analytics-microsoft/2-data-analysis" TargetMode="Externa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gif"/></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54.svg"/><Relationship Id="rId3" Type="http://schemas.openxmlformats.org/officeDocument/2006/relationships/image" Target="../media/image7.png"/><Relationship Id="rId7" Type="http://schemas.openxmlformats.org/officeDocument/2006/relationships/image" Target="../media/image9.emf"/><Relationship Id="rId12" Type="http://schemas.openxmlformats.org/officeDocument/2006/relationships/image" Target="../media/image13.png"/><Relationship Id="rId17" Type="http://schemas.openxmlformats.org/officeDocument/2006/relationships/image" Target="../media/image58.svg"/><Relationship Id="rId2" Type="http://schemas.openxmlformats.org/officeDocument/2006/relationships/notesSlide" Target="../notesSlides/notesSlide2.xml"/><Relationship Id="rId16" Type="http://schemas.openxmlformats.org/officeDocument/2006/relationships/image" Target="../media/image15.png"/><Relationship Id="rId1" Type="http://schemas.openxmlformats.org/officeDocument/2006/relationships/slideLayout" Target="../slideLayouts/slideLayout18.xml"/><Relationship Id="rId6" Type="http://schemas.openxmlformats.org/officeDocument/2006/relationships/image" Target="../media/image47.svg"/><Relationship Id="rId11" Type="http://schemas.openxmlformats.org/officeDocument/2006/relationships/image" Target="../media/image12.emf"/><Relationship Id="rId5" Type="http://schemas.openxmlformats.org/officeDocument/2006/relationships/image" Target="../media/image8.png"/><Relationship Id="rId15" Type="http://schemas.openxmlformats.org/officeDocument/2006/relationships/image" Target="../media/image56.svg"/><Relationship Id="rId10" Type="http://schemas.openxmlformats.org/officeDocument/2006/relationships/image" Target="../media/image11.emf"/><Relationship Id="rId4" Type="http://schemas.openxmlformats.org/officeDocument/2006/relationships/image" Target="../media/image45.svg"/><Relationship Id="rId9" Type="http://schemas.openxmlformats.org/officeDocument/2006/relationships/image" Target="../media/image50.sv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image" Target="../media/image10.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560.svg"/><Relationship Id="rId17" Type="http://schemas.openxmlformats.org/officeDocument/2006/relationships/image" Target="../media/image20.png"/><Relationship Id="rId2" Type="http://schemas.openxmlformats.org/officeDocument/2006/relationships/notesSlide" Target="../notesSlides/notesSlide3.xml"/><Relationship Id="rId16" Type="http://schemas.openxmlformats.org/officeDocument/2006/relationships/image" Target="../media/image540.svg"/><Relationship Id="rId1" Type="http://schemas.openxmlformats.org/officeDocument/2006/relationships/slideLayout" Target="../slideLayouts/slideLayout18.xml"/><Relationship Id="rId6" Type="http://schemas.openxmlformats.org/officeDocument/2006/relationships/image" Target="../media/image73.svg"/><Relationship Id="rId11" Type="http://schemas.openxmlformats.org/officeDocument/2006/relationships/image" Target="../media/image14.png"/><Relationship Id="rId5" Type="http://schemas.openxmlformats.org/officeDocument/2006/relationships/image" Target="../media/image17.png"/><Relationship Id="rId15" Type="http://schemas.openxmlformats.org/officeDocument/2006/relationships/image" Target="../media/image13.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19.png"/><Relationship Id="rId14" Type="http://schemas.openxmlformats.org/officeDocument/2006/relationships/image" Target="../media/image50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97025" y="1394885"/>
            <a:ext cx="10348747" cy="2616199"/>
          </a:xfrm>
        </p:spPr>
        <p:txBody>
          <a:bodyPr anchor="ctr">
            <a:normAutofit/>
          </a:bodyPr>
          <a:lstStyle/>
          <a:p>
            <a:r>
              <a:rPr lang="pt-BR" sz="8000" b="1" dirty="0" smtClean="0">
                <a:ln w="9525">
                  <a:solidFill>
                    <a:schemeClr val="bg1"/>
                  </a:solidFill>
                  <a:prstDash val="solid"/>
                </a:ln>
                <a:effectLst>
                  <a:outerShdw blurRad="12700" dist="38100" dir="2700000" algn="tl" rotWithShape="0">
                    <a:schemeClr val="bg1">
                      <a:lumMod val="50000"/>
                    </a:schemeClr>
                  </a:outerShdw>
                </a:effectLst>
              </a:rPr>
              <a:t>Análise de dados</a:t>
            </a:r>
            <a:endParaRPr lang="pt-BR" sz="8000" b="1" dirty="0">
              <a:ln w="9525">
                <a:solidFill>
                  <a:schemeClr val="bg1"/>
                </a:solidFill>
                <a:prstDash val="solid"/>
              </a:ln>
              <a:effectLst>
                <a:outerShdw blurRad="12700" dist="38100" dir="2700000" algn="tl" rotWithShape="0">
                  <a:schemeClr val="bg1">
                    <a:lumMod val="50000"/>
                  </a:schemeClr>
                </a:outerShdw>
              </a:effectLst>
            </a:endParaRPr>
          </a:p>
        </p:txBody>
      </p:sp>
      <p:sp>
        <p:nvSpPr>
          <p:cNvPr id="3" name="Subtítulo 2"/>
          <p:cNvSpPr>
            <a:spLocks noGrp="1"/>
          </p:cNvSpPr>
          <p:nvPr>
            <p:ph type="subTitle" idx="1"/>
          </p:nvPr>
        </p:nvSpPr>
        <p:spPr>
          <a:xfrm>
            <a:off x="3658127" y="4011084"/>
            <a:ext cx="6987645" cy="594783"/>
          </a:xfrm>
        </p:spPr>
        <p:txBody>
          <a:bodyPr anchor="ctr">
            <a:normAutofit/>
          </a:bodyPr>
          <a:lstStyle/>
          <a:p>
            <a:r>
              <a:rPr lang="pt-BR" sz="2800" b="1" dirty="0" smtClean="0"/>
              <a:t>Conceitos</a:t>
            </a:r>
            <a:endParaRPr lang="pt-BR" sz="2800" b="1" dirty="0"/>
          </a:p>
        </p:txBody>
      </p:sp>
      <p:pic>
        <p:nvPicPr>
          <p:cNvPr id="4" name="Imagem 3" descr="logo-senai-cor.png"/>
          <p:cNvPicPr>
            <a:picLocks noChangeAspect="1"/>
          </p:cNvPicPr>
          <p:nvPr/>
        </p:nvPicPr>
        <p:blipFill>
          <a:blip r:embed="rId2" cstate="print"/>
          <a:srcRect l="23612"/>
          <a:stretch>
            <a:fillRect/>
          </a:stretch>
        </p:blipFill>
        <p:spPr>
          <a:xfrm>
            <a:off x="297025" y="3950012"/>
            <a:ext cx="2567614" cy="6558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12607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p:cNvSpPr txBox="1">
            <a:spLocks/>
          </p:cNvSpPr>
          <p:nvPr/>
        </p:nvSpPr>
        <p:spPr>
          <a:xfrm>
            <a:off x="2266760" y="364768"/>
            <a:ext cx="7658476" cy="848821"/>
          </a:xfrm>
          <a:prstGeom prst="rect">
            <a:avLst/>
          </a:prstGeom>
        </p:spPr>
        <p:txBody>
          <a:bodyPr anchor="ctr">
            <a:normAutofit fontScale="77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8000" dirty="0"/>
              <a:t>Tipos de </a:t>
            </a:r>
            <a:r>
              <a:rPr lang="pt-BR" sz="8000" dirty="0" smtClean="0"/>
              <a:t>análises</a:t>
            </a:r>
            <a:endParaRPr lang="pt-BR" sz="8000" b="1" dirty="0"/>
          </a:p>
        </p:txBody>
      </p:sp>
      <p:graphicFrame>
        <p:nvGraphicFramePr>
          <p:cNvPr id="2" name="Diagrama 1"/>
          <p:cNvGraphicFramePr/>
          <p:nvPr>
            <p:extLst>
              <p:ext uri="{D42A27DB-BD31-4B8C-83A1-F6EECF244321}">
                <p14:modId xmlns:p14="http://schemas.microsoft.com/office/powerpoint/2010/main" val="600358428"/>
              </p:ext>
            </p:extLst>
          </p:nvPr>
        </p:nvGraphicFramePr>
        <p:xfrm>
          <a:off x="1414582" y="666912"/>
          <a:ext cx="9362831"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aixaDeTexto 4"/>
          <p:cNvSpPr txBox="1"/>
          <p:nvPr/>
        </p:nvSpPr>
        <p:spPr>
          <a:xfrm>
            <a:off x="1019907" y="5984524"/>
            <a:ext cx="10568086" cy="369332"/>
          </a:xfrm>
          <a:prstGeom prst="rect">
            <a:avLst/>
          </a:prstGeom>
          <a:noFill/>
        </p:spPr>
        <p:txBody>
          <a:bodyPr wrap="none" rtlCol="0">
            <a:spAutoFit/>
          </a:bodyPr>
          <a:lstStyle/>
          <a:p>
            <a:r>
              <a:rPr lang="pt-BR" dirty="0" smtClean="0"/>
              <a:t>DOCUMENTAÇÃO: </a:t>
            </a:r>
            <a:r>
              <a:rPr lang="pt-BR" u="sng" dirty="0">
                <a:hlinkClick r:id="rId7"/>
              </a:rPr>
              <a:t>https://docs.microsoft.com/pt-br/learn/modules/data-analytics-microsoft/2-data-analysis</a:t>
            </a:r>
            <a:endParaRPr lang="pt-BR" dirty="0"/>
          </a:p>
        </p:txBody>
      </p:sp>
    </p:spTree>
    <p:extLst>
      <p:ext uri="{BB962C8B-B14F-4D97-AF65-F5344CB8AC3E}">
        <p14:creationId xmlns:p14="http://schemas.microsoft.com/office/powerpoint/2010/main" val="35860354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p:cNvSpPr txBox="1">
            <a:spLocks/>
          </p:cNvSpPr>
          <p:nvPr/>
        </p:nvSpPr>
        <p:spPr>
          <a:xfrm>
            <a:off x="2266760" y="364768"/>
            <a:ext cx="7658476" cy="848821"/>
          </a:xfrm>
          <a:prstGeom prst="rect">
            <a:avLst/>
          </a:prstGeom>
        </p:spPr>
        <p:txBody>
          <a:bodyPr anchor="ctr">
            <a:normAutofit fontScale="77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8000" dirty="0" smtClean="0"/>
              <a:t>Data </a:t>
            </a:r>
            <a:r>
              <a:rPr lang="pt-BR" sz="8000" dirty="0" err="1" smtClean="0"/>
              <a:t>Warehouse</a:t>
            </a:r>
            <a:endParaRPr lang="pt-BR" sz="8000" b="1" dirty="0"/>
          </a:p>
        </p:txBody>
      </p:sp>
      <p:graphicFrame>
        <p:nvGraphicFramePr>
          <p:cNvPr id="3" name="Diagrama 2"/>
          <p:cNvGraphicFramePr/>
          <p:nvPr>
            <p:extLst>
              <p:ext uri="{D42A27DB-BD31-4B8C-83A1-F6EECF244321}">
                <p14:modId xmlns:p14="http://schemas.microsoft.com/office/powerpoint/2010/main" val="2893204434"/>
              </p:ext>
            </p:extLst>
          </p:nvPr>
        </p:nvGraphicFramePr>
        <p:xfrm>
          <a:off x="527539" y="561405"/>
          <a:ext cx="11368453" cy="59976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03336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1"/>
          <p:cNvSpPr txBox="1">
            <a:spLocks/>
          </p:cNvSpPr>
          <p:nvPr/>
        </p:nvSpPr>
        <p:spPr>
          <a:xfrm>
            <a:off x="2266760" y="364768"/>
            <a:ext cx="7658476" cy="848821"/>
          </a:xfrm>
          <a:prstGeom prst="rect">
            <a:avLst/>
          </a:prstGeom>
        </p:spPr>
        <p:txBody>
          <a:bodyPr anchor="ctr">
            <a:normAutofit fontScale="475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8000" dirty="0" smtClean="0"/>
              <a:t>Data </a:t>
            </a:r>
            <a:r>
              <a:rPr lang="pt-BR" sz="8000" dirty="0" err="1" smtClean="0"/>
              <a:t>Warehouse</a:t>
            </a:r>
            <a:r>
              <a:rPr lang="pt-BR" sz="8000" dirty="0" smtClean="0"/>
              <a:t> – Esquema estrela</a:t>
            </a:r>
            <a:endParaRPr lang="pt-BR" sz="8000" b="1" dirty="0"/>
          </a:p>
        </p:txBody>
      </p:sp>
      <p:pic>
        <p:nvPicPr>
          <p:cNvPr id="4" name="Imagem 3" descr="Image shows an illustration of a star schema."/>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1526" y="1521240"/>
            <a:ext cx="6819143" cy="4657680"/>
          </a:xfrm>
          <a:prstGeom prst="rect">
            <a:avLst/>
          </a:prstGeom>
          <a:noFill/>
          <a:ln>
            <a:noFill/>
          </a:ln>
        </p:spPr>
      </p:pic>
      <p:sp>
        <p:nvSpPr>
          <p:cNvPr id="2" name="Texto Explicativo Retangular 1"/>
          <p:cNvSpPr/>
          <p:nvPr/>
        </p:nvSpPr>
        <p:spPr>
          <a:xfrm>
            <a:off x="879230" y="1415812"/>
            <a:ext cx="2356338" cy="1037242"/>
          </a:xfrm>
          <a:prstGeom prst="wedgeRectCallout">
            <a:avLst>
              <a:gd name="adj1" fmla="val 153794"/>
              <a:gd name="adj2" fmla="val 12861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dirty="0" smtClean="0"/>
              <a:t>A tabela central é chamada </a:t>
            </a:r>
            <a:r>
              <a:rPr lang="pt-BR" b="1" dirty="0" smtClean="0"/>
              <a:t>TABELA FATO</a:t>
            </a:r>
            <a:endParaRPr lang="pt-BR" b="1" dirty="0"/>
          </a:p>
        </p:txBody>
      </p:sp>
      <p:sp>
        <p:nvSpPr>
          <p:cNvPr id="5" name="Texto Explicativo Retangular 4"/>
          <p:cNvSpPr/>
          <p:nvPr/>
        </p:nvSpPr>
        <p:spPr>
          <a:xfrm>
            <a:off x="808892" y="5064369"/>
            <a:ext cx="2224454" cy="1114551"/>
          </a:xfrm>
          <a:prstGeom prst="wedgeRectCallout">
            <a:avLst>
              <a:gd name="adj1" fmla="val 64938"/>
              <a:gd name="adj2" fmla="val -16627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As tabelas em volta são chamadas de </a:t>
            </a:r>
            <a:r>
              <a:rPr lang="pt-BR" b="1" dirty="0" smtClean="0"/>
              <a:t>TABELA DIMENSÕES</a:t>
            </a:r>
            <a:endParaRPr lang="pt-BR" b="1" dirty="0"/>
          </a:p>
        </p:txBody>
      </p:sp>
    </p:spTree>
    <p:extLst>
      <p:ext uri="{BB962C8B-B14F-4D97-AF65-F5344CB8AC3E}">
        <p14:creationId xmlns:p14="http://schemas.microsoft.com/office/powerpoint/2010/main" val="7359019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descr="Image shows an example of a snowflake diagram comprising three related tables."/>
          <p:cNvPicPr/>
          <p:nvPr/>
        </p:nvPicPr>
        <p:blipFill>
          <a:blip r:embed="rId2">
            <a:extLst>
              <a:ext uri="{28A0092B-C50C-407E-A947-70E740481C1C}">
                <a14:useLocalDpi xmlns:a14="http://schemas.microsoft.com/office/drawing/2010/main" val="0"/>
              </a:ext>
            </a:extLst>
          </a:blip>
          <a:srcRect/>
          <a:stretch>
            <a:fillRect/>
          </a:stretch>
        </p:blipFill>
        <p:spPr bwMode="auto">
          <a:xfrm>
            <a:off x="743472" y="1701245"/>
            <a:ext cx="10705051" cy="4574391"/>
          </a:xfrm>
          <a:prstGeom prst="rect">
            <a:avLst/>
          </a:prstGeom>
          <a:noFill/>
          <a:ln>
            <a:noFill/>
          </a:ln>
        </p:spPr>
      </p:pic>
      <p:sp>
        <p:nvSpPr>
          <p:cNvPr id="9" name="Título 1"/>
          <p:cNvSpPr txBox="1">
            <a:spLocks/>
          </p:cNvSpPr>
          <p:nvPr/>
        </p:nvSpPr>
        <p:spPr>
          <a:xfrm>
            <a:off x="2266760" y="364768"/>
            <a:ext cx="7658476" cy="848821"/>
          </a:xfrm>
          <a:prstGeom prst="rect">
            <a:avLst/>
          </a:prstGeom>
        </p:spPr>
        <p:txBody>
          <a:bodyPr anchor="ctr">
            <a:normAutofit fontScale="40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pt-BR" sz="8000" dirty="0" smtClean="0"/>
              <a:t>Data </a:t>
            </a:r>
            <a:r>
              <a:rPr lang="pt-BR" sz="8000" dirty="0" err="1" smtClean="0"/>
              <a:t>Warehouse</a:t>
            </a:r>
            <a:r>
              <a:rPr lang="pt-BR" sz="8000" dirty="0" smtClean="0"/>
              <a:t> – Esquema floco de neve</a:t>
            </a:r>
            <a:endParaRPr lang="pt-BR" sz="8000" b="1" dirty="0"/>
          </a:p>
        </p:txBody>
      </p:sp>
      <p:sp>
        <p:nvSpPr>
          <p:cNvPr id="2" name="Texto Explicativo Retangular 1"/>
          <p:cNvSpPr/>
          <p:nvPr/>
        </p:nvSpPr>
        <p:spPr>
          <a:xfrm>
            <a:off x="114300" y="3622681"/>
            <a:ext cx="2356338" cy="1037242"/>
          </a:xfrm>
          <a:prstGeom prst="wedgeRectCallout">
            <a:avLst>
              <a:gd name="adj1" fmla="val 20212"/>
              <a:gd name="adj2" fmla="val -115510"/>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pt-BR" dirty="0" smtClean="0"/>
              <a:t>A tabela principal é chamada </a:t>
            </a:r>
            <a:r>
              <a:rPr lang="pt-BR" b="1" dirty="0" smtClean="0"/>
              <a:t>TABELA FATO</a:t>
            </a:r>
            <a:endParaRPr lang="pt-BR" b="1" dirty="0"/>
          </a:p>
        </p:txBody>
      </p:sp>
      <p:sp>
        <p:nvSpPr>
          <p:cNvPr id="5" name="Texto Explicativo Retangular 4"/>
          <p:cNvSpPr/>
          <p:nvPr/>
        </p:nvSpPr>
        <p:spPr>
          <a:xfrm>
            <a:off x="2628899" y="4976445"/>
            <a:ext cx="2224454" cy="1114551"/>
          </a:xfrm>
          <a:prstGeom prst="wedgeRectCallout">
            <a:avLst>
              <a:gd name="adj1" fmla="val 53080"/>
              <a:gd name="adj2" fmla="val -1504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Você aplica filtros na tabela principal para gerar novas informações</a:t>
            </a:r>
            <a:endParaRPr lang="pt-BR" b="1" dirty="0"/>
          </a:p>
        </p:txBody>
      </p:sp>
      <p:sp>
        <p:nvSpPr>
          <p:cNvPr id="7" name="Texto Explicativo Retangular 6"/>
          <p:cNvSpPr/>
          <p:nvPr/>
        </p:nvSpPr>
        <p:spPr>
          <a:xfrm>
            <a:off x="9375530" y="1701245"/>
            <a:ext cx="2224454" cy="1114551"/>
          </a:xfrm>
          <a:prstGeom prst="wedgeRectCallout">
            <a:avLst>
              <a:gd name="adj1" fmla="val -88817"/>
              <a:gd name="adj2" fmla="val 861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Sua estrutura gera uma CASCATA</a:t>
            </a:r>
            <a:endParaRPr lang="pt-BR" dirty="0"/>
          </a:p>
        </p:txBody>
      </p:sp>
    </p:spTree>
    <p:extLst>
      <p:ext uri="{BB962C8B-B14F-4D97-AF65-F5344CB8AC3E}">
        <p14:creationId xmlns:p14="http://schemas.microsoft.com/office/powerpoint/2010/main" val="30635420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02EE62-FD0D-4682-AD17-0E7390129ED6}"/>
              </a:ext>
            </a:extLst>
          </p:cNvPr>
          <p:cNvSpPr>
            <a:spLocks noGrp="1"/>
          </p:cNvSpPr>
          <p:nvPr>
            <p:ph type="title"/>
          </p:nvPr>
        </p:nvSpPr>
        <p:spPr>
          <a:xfrm>
            <a:off x="1475519" y="143823"/>
            <a:ext cx="10018713" cy="1752599"/>
          </a:xfrm>
        </p:spPr>
        <p:txBody>
          <a:bodyPr/>
          <a:lstStyle/>
          <a:p>
            <a:pPr>
              <a:lnSpc>
                <a:spcPct val="100000"/>
              </a:lnSpc>
            </a:pPr>
            <a:r>
              <a:rPr lang="pt-BR" dirty="0"/>
              <a:t>Processamento em lotes x de fluxo</a:t>
            </a:r>
          </a:p>
        </p:txBody>
      </p:sp>
      <p:sp>
        <p:nvSpPr>
          <p:cNvPr id="10" name="TextBox 9">
            <a:extLst>
              <a:ext uri="{FF2B5EF4-FFF2-40B4-BE49-F238E27FC236}">
                <a16:creationId xmlns:a16="http://schemas.microsoft.com/office/drawing/2014/main" id="{FBA4CE0B-1228-415D-888E-C9BC09C82A10}"/>
              </a:ext>
            </a:extLst>
          </p:cNvPr>
          <p:cNvSpPr txBox="1"/>
          <p:nvPr/>
        </p:nvSpPr>
        <p:spPr>
          <a:xfrm>
            <a:off x="182494" y="1610190"/>
            <a:ext cx="5803817" cy="572464"/>
          </a:xfrm>
          <a:prstGeom prst="rect">
            <a:avLst/>
          </a:prstGeom>
          <a:solidFill>
            <a:schemeClr val="accent3"/>
          </a:solidFill>
        </p:spPr>
        <p:txBody>
          <a:bodyPr wrap="square" lIns="182880" tIns="146304" rIns="182880" bIns="146304" rtlCol="0">
            <a:spAutoFit/>
          </a:bodyPr>
          <a:lstStyle/>
          <a:p>
            <a:pPr algn="ctr">
              <a:spcAft>
                <a:spcPts val="600"/>
              </a:spcAft>
            </a:pPr>
            <a:r>
              <a:rPr lang="pt-BR" sz="1800" b="1" dirty="0">
                <a:solidFill>
                  <a:schemeClr val="bg1"/>
                </a:solidFill>
              </a:rPr>
              <a:t>Processamento em lotes</a:t>
            </a:r>
          </a:p>
        </p:txBody>
      </p:sp>
      <p:pic>
        <p:nvPicPr>
          <p:cNvPr id="6" name="Picture 5" descr="Uma imagem que mostra a contagem de carros em um estacionamento">
            <a:extLst>
              <a:ext uri="{FF2B5EF4-FFF2-40B4-BE49-F238E27FC236}">
                <a16:creationId xmlns:a16="http://schemas.microsoft.com/office/drawing/2014/main" id="{6CC8DAD2-00B9-40BD-9620-B9D39215BBC0}"/>
              </a:ext>
            </a:extLst>
          </p:cNvPr>
          <p:cNvPicPr>
            <a:picLocks noChangeAspect="1"/>
          </p:cNvPicPr>
          <p:nvPr/>
        </p:nvPicPr>
        <p:blipFill>
          <a:blip r:embed="rId3"/>
          <a:stretch>
            <a:fillRect/>
          </a:stretch>
        </p:blipFill>
        <p:spPr>
          <a:xfrm>
            <a:off x="139780" y="2202456"/>
            <a:ext cx="5744606" cy="3231341"/>
          </a:xfrm>
          <a:prstGeom prst="rect">
            <a:avLst/>
          </a:prstGeom>
        </p:spPr>
      </p:pic>
      <p:sp>
        <p:nvSpPr>
          <p:cNvPr id="12" name="TextBox 11">
            <a:extLst>
              <a:ext uri="{FF2B5EF4-FFF2-40B4-BE49-F238E27FC236}">
                <a16:creationId xmlns:a16="http://schemas.microsoft.com/office/drawing/2014/main" id="{66E016E3-9F3A-4E26-8ABC-AF1CC5484A08}"/>
              </a:ext>
            </a:extLst>
          </p:cNvPr>
          <p:cNvSpPr txBox="1"/>
          <p:nvPr/>
        </p:nvSpPr>
        <p:spPr>
          <a:xfrm>
            <a:off x="0" y="5530284"/>
            <a:ext cx="6179481" cy="911019"/>
          </a:xfrm>
          <a:prstGeom prst="rect">
            <a:avLst/>
          </a:prstGeom>
          <a:noFill/>
        </p:spPr>
        <p:txBody>
          <a:bodyPr wrap="square" lIns="182880" tIns="146304" rIns="182880" bIns="146304" rtlCol="0">
            <a:spAutoFit/>
          </a:bodyPr>
          <a:lstStyle/>
          <a:p>
            <a:pPr>
              <a:spcAft>
                <a:spcPts val="600"/>
              </a:spcAft>
            </a:pPr>
            <a:r>
              <a:rPr lang="pt-BR" sz="2000" dirty="0">
                <a:gradFill>
                  <a:gsLst>
                    <a:gs pos="2917">
                      <a:schemeClr val="tx1"/>
                    </a:gs>
                    <a:gs pos="30000">
                      <a:schemeClr val="tx1"/>
                    </a:gs>
                  </a:gsLst>
                  <a:lin ang="5400000" scaled="0"/>
                </a:gradFill>
              </a:rPr>
              <a:t>Os dados são coletados e processados em intervalos regulares</a:t>
            </a:r>
          </a:p>
        </p:txBody>
      </p:sp>
      <p:sp>
        <p:nvSpPr>
          <p:cNvPr id="11" name="TextBox 10">
            <a:extLst>
              <a:ext uri="{FF2B5EF4-FFF2-40B4-BE49-F238E27FC236}">
                <a16:creationId xmlns:a16="http://schemas.microsoft.com/office/drawing/2014/main" id="{580B20C6-38A9-4F9E-B533-F5BEDD3EEB3B}"/>
              </a:ext>
            </a:extLst>
          </p:cNvPr>
          <p:cNvSpPr txBox="1"/>
          <p:nvPr/>
        </p:nvSpPr>
        <p:spPr>
          <a:xfrm>
            <a:off x="6088235" y="1610190"/>
            <a:ext cx="5921271" cy="572464"/>
          </a:xfrm>
          <a:prstGeom prst="rect">
            <a:avLst/>
          </a:prstGeom>
          <a:solidFill>
            <a:schemeClr val="accent3"/>
          </a:solidFill>
        </p:spPr>
        <p:txBody>
          <a:bodyPr wrap="square" lIns="182880" tIns="146304" rIns="182880" bIns="146304" rtlCol="0">
            <a:spAutoFit/>
          </a:bodyPr>
          <a:lstStyle/>
          <a:p>
            <a:pPr algn="ctr">
              <a:spcAft>
                <a:spcPts val="600"/>
              </a:spcAft>
            </a:pPr>
            <a:r>
              <a:rPr lang="pt-BR" sz="1800" b="1" dirty="0">
                <a:solidFill>
                  <a:schemeClr val="bg1"/>
                </a:solidFill>
              </a:rPr>
              <a:t>Processamento de fluxo</a:t>
            </a:r>
          </a:p>
        </p:txBody>
      </p:sp>
      <p:pic>
        <p:nvPicPr>
          <p:cNvPr id="8" name="Picture 7" descr="Uma animação que mostra a contagem de carros à medida que passam em tempo real">
            <a:extLst>
              <a:ext uri="{FF2B5EF4-FFF2-40B4-BE49-F238E27FC236}">
                <a16:creationId xmlns:a16="http://schemas.microsoft.com/office/drawing/2014/main" id="{829B8F99-1AF6-458F-BA4D-3BF2FFB5CAB8}"/>
              </a:ext>
            </a:extLst>
          </p:cNvPr>
          <p:cNvPicPr>
            <a:picLocks noChangeAspect="1"/>
          </p:cNvPicPr>
          <p:nvPr/>
        </p:nvPicPr>
        <p:blipFill>
          <a:blip r:embed="rId4"/>
          <a:stretch>
            <a:fillRect/>
          </a:stretch>
        </p:blipFill>
        <p:spPr>
          <a:xfrm>
            <a:off x="6088235" y="2189746"/>
            <a:ext cx="5963985" cy="3354742"/>
          </a:xfrm>
          <a:prstGeom prst="rect">
            <a:avLst/>
          </a:prstGeom>
        </p:spPr>
      </p:pic>
      <p:sp>
        <p:nvSpPr>
          <p:cNvPr id="13" name="TextBox 12">
            <a:extLst>
              <a:ext uri="{FF2B5EF4-FFF2-40B4-BE49-F238E27FC236}">
                <a16:creationId xmlns:a16="http://schemas.microsoft.com/office/drawing/2014/main" id="{7A551A01-AFCA-4A97-9382-4F48C1320302}"/>
              </a:ext>
            </a:extLst>
          </p:cNvPr>
          <p:cNvSpPr txBox="1"/>
          <p:nvPr/>
        </p:nvSpPr>
        <p:spPr>
          <a:xfrm>
            <a:off x="6094059" y="5534369"/>
            <a:ext cx="6179481" cy="911019"/>
          </a:xfrm>
          <a:prstGeom prst="rect">
            <a:avLst/>
          </a:prstGeom>
          <a:noFill/>
        </p:spPr>
        <p:txBody>
          <a:bodyPr wrap="square" lIns="182880" tIns="146304" rIns="182880" bIns="146304" rtlCol="0">
            <a:spAutoFit/>
          </a:bodyPr>
          <a:lstStyle/>
          <a:p>
            <a:pPr>
              <a:spcAft>
                <a:spcPts val="600"/>
              </a:spcAft>
            </a:pPr>
            <a:r>
              <a:rPr lang="pt-BR" sz="2000" dirty="0">
                <a:gradFill>
                  <a:gsLst>
                    <a:gs pos="2917">
                      <a:schemeClr val="tx1"/>
                    </a:gs>
                    <a:gs pos="30000">
                      <a:schemeClr val="tx1"/>
                    </a:gs>
                  </a:gsLst>
                  <a:lin ang="5400000" scaled="0"/>
                </a:gradFill>
              </a:rPr>
              <a:t>Os dados são processados (quase) em tempo real à medida que são recebidos</a:t>
            </a:r>
          </a:p>
        </p:txBody>
      </p:sp>
      <p:cxnSp>
        <p:nvCxnSpPr>
          <p:cNvPr id="15" name="Straight Connector 14">
            <a:extLst>
              <a:ext uri="{FF2B5EF4-FFF2-40B4-BE49-F238E27FC236}">
                <a16:creationId xmlns:a16="http://schemas.microsoft.com/office/drawing/2014/main" id="{CDD85074-1305-42B6-BA97-38065554B839}"/>
              </a:ext>
              <a:ext uri="{C183D7F6-B498-43B3-948B-1728B52AA6E4}">
                <adec:decorative xmlns:adec="http://schemas.microsoft.com/office/drawing/2017/decorative" xmlns="" val="1"/>
              </a:ext>
            </a:extLst>
          </p:cNvPr>
          <p:cNvCxnSpPr>
            <a:cxnSpLocks/>
          </p:cNvCxnSpPr>
          <p:nvPr/>
        </p:nvCxnSpPr>
        <p:spPr>
          <a:xfrm>
            <a:off x="6026109" y="1610190"/>
            <a:ext cx="0" cy="4749841"/>
          </a:xfrm>
          <a:prstGeom prst="line">
            <a:avLst/>
          </a:prstGeom>
          <a:ln w="38100">
            <a:solidFill>
              <a:schemeClr val="bg1">
                <a:lumMod val="85000"/>
              </a:schemeClr>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395308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9D7724E7-057C-4B8D-A329-4B1032C1641E}"/>
              </a:ext>
              <a:ext uri="{C183D7F6-B498-43B3-948B-1728B52AA6E4}">
                <adec:decorative xmlns="" xmlns:adec="http://schemas.microsoft.com/office/drawing/2017/decorative" val="1"/>
              </a:ext>
            </a:extLst>
          </p:cNvPr>
          <p:cNvSpPr/>
          <p:nvPr/>
        </p:nvSpPr>
        <p:spPr bwMode="auto">
          <a:xfrm>
            <a:off x="568831" y="1592785"/>
            <a:ext cx="11054338" cy="4770133"/>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0" name="Rectangle 109">
            <a:extLst>
              <a:ext uri="{FF2B5EF4-FFF2-40B4-BE49-F238E27FC236}">
                <a16:creationId xmlns:a16="http://schemas.microsoft.com/office/drawing/2014/main" id="{6ABD7DE3-4BAD-4CD5-9A49-8915959ED2B0}"/>
              </a:ext>
              <a:ext uri="{C183D7F6-B498-43B3-948B-1728B52AA6E4}">
                <adec:decorative xmlns="" xmlns:adec="http://schemas.microsoft.com/office/drawing/2017/decorative" val="1"/>
              </a:ext>
            </a:extLst>
          </p:cNvPr>
          <p:cNvSpPr/>
          <p:nvPr/>
        </p:nvSpPr>
        <p:spPr bwMode="auto">
          <a:xfrm>
            <a:off x="957660" y="4866325"/>
            <a:ext cx="10387489" cy="1126696"/>
          </a:xfrm>
          <a:prstGeom prst="rect">
            <a:avLst/>
          </a:prstGeom>
          <a:solidFill>
            <a:schemeClr val="bg1">
              <a:lumMod val="85000"/>
            </a:schemeClr>
          </a:solidFill>
          <a:ln>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36A47E51-1658-4F16-BD10-92B20EC3627B}"/>
              </a:ext>
            </a:extLst>
          </p:cNvPr>
          <p:cNvSpPr>
            <a:spLocks noGrp="1"/>
          </p:cNvSpPr>
          <p:nvPr>
            <p:ph type="title"/>
          </p:nvPr>
        </p:nvSpPr>
        <p:spPr>
          <a:xfrm>
            <a:off x="1396883" y="-173581"/>
            <a:ext cx="10018713" cy="1752599"/>
          </a:xfrm>
        </p:spPr>
        <p:txBody>
          <a:bodyPr/>
          <a:lstStyle/>
          <a:p>
            <a:r>
              <a:rPr lang="pt-BR" dirty="0"/>
              <a:t>Pipelines de processamento e ingestão de dados</a:t>
            </a:r>
          </a:p>
        </p:txBody>
      </p:sp>
      <p:sp>
        <p:nvSpPr>
          <p:cNvPr id="116" name="TextBox 115">
            <a:extLst>
              <a:ext uri="{FF2B5EF4-FFF2-40B4-BE49-F238E27FC236}">
                <a16:creationId xmlns:a16="http://schemas.microsoft.com/office/drawing/2014/main" id="{43521BD6-5095-4F38-8C6D-E65C0C6BB5DA}"/>
              </a:ext>
            </a:extLst>
          </p:cNvPr>
          <p:cNvSpPr txBox="1"/>
          <p:nvPr/>
        </p:nvSpPr>
        <p:spPr>
          <a:xfrm>
            <a:off x="2506515" y="1138499"/>
            <a:ext cx="7201314" cy="572464"/>
          </a:xfrm>
          <a:prstGeom prst="rect">
            <a:avLst/>
          </a:prstGeom>
          <a:noFill/>
          <a:ln w="38100"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lIns="182880" tIns="146304" rIns="182880" bIns="146304" rtlCol="0">
            <a:spAutoFit/>
          </a:bodyPr>
          <a:lstStyle/>
          <a:p>
            <a:pPr algn="ctr"/>
            <a:r>
              <a:rPr lang="pt-BR" sz="1800" dirty="0">
                <a:gradFill>
                  <a:gsLst>
                    <a:gs pos="2917">
                      <a:schemeClr val="tx1"/>
                    </a:gs>
                    <a:gs pos="30000">
                      <a:schemeClr val="tx1"/>
                    </a:gs>
                  </a:gsLst>
                  <a:lin ang="5400000" scaled="0"/>
                </a:gradFill>
              </a:rPr>
              <a:t>Crie pipelines no </a:t>
            </a:r>
            <a:r>
              <a:rPr lang="pt-BR" sz="1800" b="1" dirty="0">
                <a:gradFill>
                  <a:gsLst>
                    <a:gs pos="2917">
                      <a:schemeClr val="tx1"/>
                    </a:gs>
                    <a:gs pos="30000">
                      <a:schemeClr val="tx1"/>
                    </a:gs>
                  </a:gsLst>
                  <a:lin ang="5400000" scaled="0"/>
                </a:gradFill>
              </a:rPr>
              <a:t>Azure Data Factory</a:t>
            </a:r>
            <a:r>
              <a:rPr lang="pt-BR" sz="1800" dirty="0">
                <a:gradFill>
                  <a:gsLst>
                    <a:gs pos="2917">
                      <a:schemeClr val="tx1"/>
                    </a:gs>
                    <a:gs pos="30000">
                      <a:schemeClr val="tx1"/>
                    </a:gs>
                  </a:gsLst>
                  <a:lin ang="5400000" scaled="0"/>
                </a:gradFill>
              </a:rPr>
              <a:t> ou no </a:t>
            </a:r>
            <a:r>
              <a:rPr lang="pt-BR" sz="1800" b="1" dirty="0">
                <a:gradFill>
                  <a:gsLst>
                    <a:gs pos="2917">
                      <a:schemeClr val="tx1"/>
                    </a:gs>
                    <a:gs pos="30000">
                      <a:schemeClr val="tx1"/>
                    </a:gs>
                  </a:gsLst>
                  <a:lin ang="5400000" scaled="0"/>
                </a:gradFill>
              </a:rPr>
              <a:t>Azure Synapse Analytics</a:t>
            </a:r>
          </a:p>
        </p:txBody>
      </p:sp>
      <p:pic>
        <p:nvPicPr>
          <p:cNvPr id="4" name="Graphic 3">
            <a:extLst>
              <a:ext uri="{FF2B5EF4-FFF2-40B4-BE49-F238E27FC236}">
                <a16:creationId xmlns:a16="http://schemas.microsoft.com/office/drawing/2014/main" id="{8EBE09CB-E783-4176-AA6E-0D52778DEA90}"/>
              </a:ext>
              <a:ext uri="{C183D7F6-B498-43B3-948B-1728B52AA6E4}">
                <adec:decorative xmlns="" xmlns:adec="http://schemas.microsoft.com/office/drawing/2017/decorative" val="1"/>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376952" y="2535954"/>
            <a:ext cx="1251234" cy="1251234"/>
          </a:xfrm>
          <a:prstGeom prst="rect">
            <a:avLst/>
          </a:prstGeom>
        </p:spPr>
      </p:pic>
      <p:sp>
        <p:nvSpPr>
          <p:cNvPr id="5" name="Arrow: Right 4">
            <a:extLst>
              <a:ext uri="{FF2B5EF4-FFF2-40B4-BE49-F238E27FC236}">
                <a16:creationId xmlns:a16="http://schemas.microsoft.com/office/drawing/2014/main" id="{DD42DA1A-E291-47BA-B8C0-8465DF0E6734}"/>
              </a:ext>
              <a:ext uri="{C183D7F6-B498-43B3-948B-1728B52AA6E4}">
                <adec:decorative xmlns="" xmlns:adec="http://schemas.microsoft.com/office/drawing/2017/decorative" val="1"/>
              </a:ext>
            </a:extLst>
          </p:cNvPr>
          <p:cNvSpPr/>
          <p:nvPr/>
        </p:nvSpPr>
        <p:spPr bwMode="auto">
          <a:xfrm>
            <a:off x="2962579" y="1804308"/>
            <a:ext cx="6214425" cy="2824519"/>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a:extLst>
              <a:ext uri="{FF2B5EF4-FFF2-40B4-BE49-F238E27FC236}">
                <a16:creationId xmlns:a16="http://schemas.microsoft.com/office/drawing/2014/main" id="{E775E500-144E-451B-9DBB-0A53B9293F74}"/>
              </a:ext>
              <a:ext uri="{C183D7F6-B498-43B3-948B-1728B52AA6E4}">
                <adec:decorative xmlns="" xmlns:adec="http://schemas.microsoft.com/office/drawing/2017/decorative" val="1"/>
              </a:ext>
            </a:extLst>
          </p:cNvPr>
          <p:cNvSpPr/>
          <p:nvPr/>
        </p:nvSpPr>
        <p:spPr bwMode="auto">
          <a:xfrm>
            <a:off x="3125656" y="2939088"/>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a:extLst>
              <a:ext uri="{FF2B5EF4-FFF2-40B4-BE49-F238E27FC236}">
                <a16:creationId xmlns:a16="http://schemas.microsoft.com/office/drawing/2014/main" id="{F403E510-D97D-44C0-BC84-63A9854257A9}"/>
              </a:ext>
              <a:ext uri="{C183D7F6-B498-43B3-948B-1728B52AA6E4}">
                <adec:decorative xmlns="" xmlns:adec="http://schemas.microsoft.com/office/drawing/2017/decorative" val="1"/>
              </a:ext>
            </a:extLst>
          </p:cNvPr>
          <p:cNvSpPr/>
          <p:nvPr/>
        </p:nvSpPr>
        <p:spPr bwMode="auto">
          <a:xfrm>
            <a:off x="4282256" y="2939087"/>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a:extLst>
              <a:ext uri="{FF2B5EF4-FFF2-40B4-BE49-F238E27FC236}">
                <a16:creationId xmlns:a16="http://schemas.microsoft.com/office/drawing/2014/main" id="{5463DA1B-BE4A-4749-9727-5705C62D6754}"/>
              </a:ext>
              <a:ext uri="{C183D7F6-B498-43B3-948B-1728B52AA6E4}">
                <adec:decorative xmlns="" xmlns:adec="http://schemas.microsoft.com/office/drawing/2017/decorative" val="1"/>
              </a:ext>
            </a:extLst>
          </p:cNvPr>
          <p:cNvSpPr/>
          <p:nvPr/>
        </p:nvSpPr>
        <p:spPr bwMode="auto">
          <a:xfrm>
            <a:off x="5438838" y="2584781"/>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a:extLst>
              <a:ext uri="{FF2B5EF4-FFF2-40B4-BE49-F238E27FC236}">
                <a16:creationId xmlns:a16="http://schemas.microsoft.com/office/drawing/2014/main" id="{865FF285-D8AB-459D-BDC0-F5EF794D1AC0}"/>
              </a:ext>
              <a:ext uri="{C183D7F6-B498-43B3-948B-1728B52AA6E4}">
                <adec:decorative xmlns="" xmlns:adec="http://schemas.microsoft.com/office/drawing/2017/decorative" val="1"/>
              </a:ext>
            </a:extLst>
          </p:cNvPr>
          <p:cNvSpPr/>
          <p:nvPr/>
        </p:nvSpPr>
        <p:spPr bwMode="auto">
          <a:xfrm>
            <a:off x="5438838" y="3205737"/>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377A9949-D176-453B-80B3-8BF4055F9992}"/>
              </a:ext>
              <a:ext uri="{C183D7F6-B498-43B3-948B-1728B52AA6E4}">
                <adec:decorative xmlns="" xmlns:adec="http://schemas.microsoft.com/office/drawing/2017/decorative" val="1"/>
              </a:ext>
            </a:extLst>
          </p:cNvPr>
          <p:cNvSpPr/>
          <p:nvPr/>
        </p:nvSpPr>
        <p:spPr bwMode="auto">
          <a:xfrm>
            <a:off x="8033504" y="2977650"/>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15" name="Straight Arrow Connector 14">
            <a:extLst>
              <a:ext uri="{FF2B5EF4-FFF2-40B4-BE49-F238E27FC236}">
                <a16:creationId xmlns:a16="http://schemas.microsoft.com/office/drawing/2014/main" id="{01AC058A-2C2E-42D9-A575-08DF2EA184DE}"/>
              </a:ext>
              <a:ext uri="{C183D7F6-B498-43B3-948B-1728B52AA6E4}">
                <adec:decorative xmlns="" xmlns:adec="http://schemas.microsoft.com/office/drawing/2017/decorative" val="1"/>
              </a:ext>
            </a:extLst>
          </p:cNvPr>
          <p:cNvCxnSpPr>
            <a:stCxn id="8" idx="3"/>
            <a:endCxn id="9" idx="1"/>
          </p:cNvCxnSpPr>
          <p:nvPr/>
        </p:nvCxnSpPr>
        <p:spPr>
          <a:xfrm flipV="1">
            <a:off x="3958518" y="3167174"/>
            <a:ext cx="323738" cy="1"/>
          </a:xfrm>
          <a:prstGeom prst="straightConnector1">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5E72DD8-0E72-408F-BFB4-133DD2C74D5F}"/>
              </a:ext>
              <a:ext uri="{C183D7F6-B498-43B3-948B-1728B52AA6E4}">
                <adec:decorative xmlns="" xmlns:adec="http://schemas.microsoft.com/office/drawing/2017/decorative" val="1"/>
              </a:ext>
            </a:extLst>
          </p:cNvPr>
          <p:cNvCxnSpPr>
            <a:cxnSpLocks/>
            <a:stCxn id="9" idx="3"/>
            <a:endCxn id="10" idx="1"/>
          </p:cNvCxnSpPr>
          <p:nvPr/>
        </p:nvCxnSpPr>
        <p:spPr>
          <a:xfrm flipV="1">
            <a:off x="5115118" y="2812868"/>
            <a:ext cx="323720" cy="354306"/>
          </a:xfrm>
          <a:prstGeom prst="bentConnector3">
            <a:avLst>
              <a:gd name="adj1" fmla="val 50000"/>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5">
            <a:extLst>
              <a:ext uri="{FF2B5EF4-FFF2-40B4-BE49-F238E27FC236}">
                <a16:creationId xmlns:a16="http://schemas.microsoft.com/office/drawing/2014/main" id="{FFA7965B-E831-4998-9216-01FBBC61DD31}"/>
              </a:ext>
              <a:ext uri="{C183D7F6-B498-43B3-948B-1728B52AA6E4}">
                <adec:decorative xmlns="" xmlns:adec="http://schemas.microsoft.com/office/drawing/2017/decorative" val="1"/>
              </a:ext>
            </a:extLst>
          </p:cNvPr>
          <p:cNvCxnSpPr>
            <a:cxnSpLocks/>
            <a:stCxn id="9" idx="3"/>
            <a:endCxn id="11" idx="1"/>
          </p:cNvCxnSpPr>
          <p:nvPr/>
        </p:nvCxnSpPr>
        <p:spPr>
          <a:xfrm>
            <a:off x="5115118" y="3167174"/>
            <a:ext cx="323720" cy="266650"/>
          </a:xfrm>
          <a:prstGeom prst="bentConnector3">
            <a:avLst>
              <a:gd name="adj1" fmla="val 50000"/>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15">
            <a:extLst>
              <a:ext uri="{FF2B5EF4-FFF2-40B4-BE49-F238E27FC236}">
                <a16:creationId xmlns:a16="http://schemas.microsoft.com/office/drawing/2014/main" id="{38B0F27D-78DD-4EE4-B4E2-C3DA29FF6B00}"/>
              </a:ext>
              <a:ext uri="{C183D7F6-B498-43B3-948B-1728B52AA6E4}">
                <adec:decorative xmlns="" xmlns:adec="http://schemas.microsoft.com/office/drawing/2017/decorative" val="1"/>
              </a:ext>
            </a:extLst>
          </p:cNvPr>
          <p:cNvCxnSpPr>
            <a:cxnSpLocks/>
            <a:stCxn id="11" idx="3"/>
            <a:endCxn id="13" idx="1"/>
          </p:cNvCxnSpPr>
          <p:nvPr/>
        </p:nvCxnSpPr>
        <p:spPr>
          <a:xfrm flipV="1">
            <a:off x="6271700" y="3205737"/>
            <a:ext cx="1761804" cy="228087"/>
          </a:xfrm>
          <a:prstGeom prst="bentConnector3">
            <a:avLst>
              <a:gd name="adj1" fmla="val 83058"/>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15">
            <a:extLst>
              <a:ext uri="{FF2B5EF4-FFF2-40B4-BE49-F238E27FC236}">
                <a16:creationId xmlns:a16="http://schemas.microsoft.com/office/drawing/2014/main" id="{AAF5D0D6-47CF-48BF-869D-4738A059CA21}"/>
              </a:ext>
              <a:ext uri="{C183D7F6-B498-43B3-948B-1728B52AA6E4}">
                <adec:decorative xmlns="" xmlns:adec="http://schemas.microsoft.com/office/drawing/2017/decorative" val="1"/>
              </a:ext>
            </a:extLst>
          </p:cNvPr>
          <p:cNvCxnSpPr>
            <a:cxnSpLocks/>
            <a:stCxn id="12" idx="3"/>
            <a:endCxn id="13" idx="1"/>
          </p:cNvCxnSpPr>
          <p:nvPr/>
        </p:nvCxnSpPr>
        <p:spPr>
          <a:xfrm>
            <a:off x="7440901" y="2812867"/>
            <a:ext cx="592603" cy="392870"/>
          </a:xfrm>
          <a:prstGeom prst="bentConnector3">
            <a:avLst>
              <a:gd name="adj1" fmla="val 50000"/>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180D3C2B-97EC-4C00-9391-29ED9BB48838}"/>
              </a:ext>
              <a:ext uri="{C183D7F6-B498-43B3-948B-1728B52AA6E4}">
                <adec:decorative xmlns="" xmlns:adec="http://schemas.microsoft.com/office/drawing/2017/decorative" val="1"/>
              </a:ext>
            </a:extLst>
          </p:cNvPr>
          <p:cNvCxnSpPr>
            <a:cxnSpLocks/>
            <a:stCxn id="10" idx="3"/>
            <a:endCxn id="12" idx="1"/>
          </p:cNvCxnSpPr>
          <p:nvPr/>
        </p:nvCxnSpPr>
        <p:spPr>
          <a:xfrm flipV="1">
            <a:off x="6271700" y="2812867"/>
            <a:ext cx="336339" cy="1"/>
          </a:xfrm>
          <a:prstGeom prst="straightConnector1">
            <a:avLst/>
          </a:prstGeom>
          <a:ln w="3810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24EE032-7DB7-451C-A344-4DA5D5FD5B04}"/>
              </a:ext>
              <a:ext uri="{C183D7F6-B498-43B3-948B-1728B52AA6E4}">
                <adec:decorative xmlns="" xmlns:adec="http://schemas.microsoft.com/office/drawing/2017/decorative" val="1"/>
              </a:ext>
            </a:extLst>
          </p:cNvPr>
          <p:cNvCxnSpPr>
            <a:stCxn id="4" idx="3"/>
            <a:endCxn id="8" idx="1"/>
          </p:cNvCxnSpPr>
          <p:nvPr/>
        </p:nvCxnSpPr>
        <p:spPr>
          <a:xfrm>
            <a:off x="2628186" y="3161571"/>
            <a:ext cx="497470" cy="5604"/>
          </a:xfrm>
          <a:prstGeom prst="straightConnector1">
            <a:avLst/>
          </a:prstGeom>
          <a:ln w="5715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35" name="Graphic 34">
            <a:extLst>
              <a:ext uri="{FF2B5EF4-FFF2-40B4-BE49-F238E27FC236}">
                <a16:creationId xmlns:a16="http://schemas.microsoft.com/office/drawing/2014/main" id="{71D8909C-C396-482F-96EA-CD4C29F69AD3}"/>
              </a:ext>
              <a:ext uri="{C183D7F6-B498-43B3-948B-1728B52AA6E4}">
                <adec:decorative xmlns="" xmlns:adec="http://schemas.microsoft.com/office/drawing/2017/decorative" val="1"/>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304157" y="2584780"/>
            <a:ext cx="1251234" cy="1251234"/>
          </a:xfrm>
          <a:prstGeom prst="rect">
            <a:avLst/>
          </a:prstGeom>
        </p:spPr>
      </p:pic>
      <p:cxnSp>
        <p:nvCxnSpPr>
          <p:cNvPr id="36" name="Straight Arrow Connector 35">
            <a:extLst>
              <a:ext uri="{FF2B5EF4-FFF2-40B4-BE49-F238E27FC236}">
                <a16:creationId xmlns:a16="http://schemas.microsoft.com/office/drawing/2014/main" id="{A4D79E50-86F3-4724-9C0D-20B50FD48B9F}"/>
              </a:ext>
              <a:ext uri="{C183D7F6-B498-43B3-948B-1728B52AA6E4}">
                <adec:decorative xmlns="" xmlns:adec="http://schemas.microsoft.com/office/drawing/2017/decorative" val="1"/>
              </a:ext>
            </a:extLst>
          </p:cNvPr>
          <p:cNvCxnSpPr>
            <a:cxnSpLocks/>
            <a:stCxn id="13" idx="3"/>
            <a:endCxn id="35" idx="1"/>
          </p:cNvCxnSpPr>
          <p:nvPr/>
        </p:nvCxnSpPr>
        <p:spPr>
          <a:xfrm>
            <a:off x="8866366" y="3205737"/>
            <a:ext cx="437791" cy="4660"/>
          </a:xfrm>
          <a:prstGeom prst="straightConnector1">
            <a:avLst/>
          </a:prstGeom>
          <a:ln w="57150">
            <a:solidFill>
              <a:schemeClr val="accent5"/>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42" name="Graphic 41">
            <a:extLst>
              <a:ext uri="{FF2B5EF4-FFF2-40B4-BE49-F238E27FC236}">
                <a16:creationId xmlns:a16="http://schemas.microsoft.com/office/drawing/2014/main" id="{27912BC1-80D7-4C3A-B758-F59E166329A3}"/>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3252809" y="2916440"/>
            <a:ext cx="517383" cy="517383"/>
          </a:xfrm>
          <a:prstGeom prst="rect">
            <a:avLst/>
          </a:prstGeom>
        </p:spPr>
      </p:pic>
      <p:pic>
        <p:nvPicPr>
          <p:cNvPr id="43" name="Graphic 42">
            <a:extLst>
              <a:ext uri="{FF2B5EF4-FFF2-40B4-BE49-F238E27FC236}">
                <a16:creationId xmlns:a16="http://schemas.microsoft.com/office/drawing/2014/main" id="{9EA819CE-25C6-4AD7-9A48-1E1C88FE1598}"/>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439995" y="2916440"/>
            <a:ext cx="517383" cy="517383"/>
          </a:xfrm>
          <a:prstGeom prst="rect">
            <a:avLst/>
          </a:prstGeom>
        </p:spPr>
      </p:pic>
      <p:pic>
        <p:nvPicPr>
          <p:cNvPr id="44" name="Graphic 43">
            <a:extLst>
              <a:ext uri="{FF2B5EF4-FFF2-40B4-BE49-F238E27FC236}">
                <a16:creationId xmlns:a16="http://schemas.microsoft.com/office/drawing/2014/main" id="{36769340-0F2F-4459-9610-A699AD5DB3CA}"/>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5593674" y="2554174"/>
            <a:ext cx="517383" cy="517383"/>
          </a:xfrm>
          <a:prstGeom prst="rect">
            <a:avLst/>
          </a:prstGeom>
        </p:spPr>
      </p:pic>
      <p:sp>
        <p:nvSpPr>
          <p:cNvPr id="12" name="Rectangle 11">
            <a:extLst>
              <a:ext uri="{FF2B5EF4-FFF2-40B4-BE49-F238E27FC236}">
                <a16:creationId xmlns:a16="http://schemas.microsoft.com/office/drawing/2014/main" id="{B9EB8D85-AAD9-47E4-B918-C214ABF4C22C}"/>
              </a:ext>
              <a:ext uri="{C183D7F6-B498-43B3-948B-1728B52AA6E4}">
                <adec:decorative xmlns="" xmlns:adec="http://schemas.microsoft.com/office/drawing/2017/decorative" val="1"/>
              </a:ext>
            </a:extLst>
          </p:cNvPr>
          <p:cNvSpPr/>
          <p:nvPr/>
        </p:nvSpPr>
        <p:spPr bwMode="auto">
          <a:xfrm>
            <a:off x="6608039" y="2584780"/>
            <a:ext cx="832862" cy="456173"/>
          </a:xfrm>
          <a:prstGeom prst="rect">
            <a:avLst/>
          </a:prstGeom>
          <a:solidFill>
            <a:schemeClr val="accent5">
              <a:lumMod val="20000"/>
              <a:lumOff val="80000"/>
            </a:schemeClr>
          </a:solidFill>
          <a:ln w="28575">
            <a:solidFill>
              <a:schemeClr val="accent5"/>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5" name="Graphic 44">
            <a:extLst>
              <a:ext uri="{FF2B5EF4-FFF2-40B4-BE49-F238E27FC236}">
                <a16:creationId xmlns:a16="http://schemas.microsoft.com/office/drawing/2014/main" id="{C5C3E5A4-0EEF-41AC-8061-EA44A69DFD0A}"/>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6765778" y="2554174"/>
            <a:ext cx="517383" cy="517383"/>
          </a:xfrm>
          <a:prstGeom prst="rect">
            <a:avLst/>
          </a:prstGeom>
        </p:spPr>
      </p:pic>
      <p:pic>
        <p:nvPicPr>
          <p:cNvPr id="46" name="Graphic 45">
            <a:extLst>
              <a:ext uri="{FF2B5EF4-FFF2-40B4-BE49-F238E27FC236}">
                <a16:creationId xmlns:a16="http://schemas.microsoft.com/office/drawing/2014/main" id="{183CEF5C-A643-439E-8E08-389CC51244BB}"/>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8221830" y="2939087"/>
            <a:ext cx="517383" cy="517383"/>
          </a:xfrm>
          <a:prstGeom prst="rect">
            <a:avLst/>
          </a:prstGeom>
        </p:spPr>
      </p:pic>
      <p:pic>
        <p:nvPicPr>
          <p:cNvPr id="47" name="Graphic 46">
            <a:extLst>
              <a:ext uri="{FF2B5EF4-FFF2-40B4-BE49-F238E27FC236}">
                <a16:creationId xmlns:a16="http://schemas.microsoft.com/office/drawing/2014/main" id="{D80EE767-E205-4B14-9682-C3E718E535F6}"/>
              </a:ext>
              <a:ext uri="{C183D7F6-B498-43B3-948B-1728B52AA6E4}">
                <adec:decorative xmlns="" xmlns:adec="http://schemas.microsoft.com/office/drawing/2017/decorative" val="1"/>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5589789" y="3178383"/>
            <a:ext cx="517383" cy="517383"/>
          </a:xfrm>
          <a:prstGeom prst="rect">
            <a:avLst/>
          </a:prstGeom>
        </p:spPr>
      </p:pic>
      <p:sp>
        <p:nvSpPr>
          <p:cNvPr id="50" name="TextBox 49">
            <a:extLst>
              <a:ext uri="{FF2B5EF4-FFF2-40B4-BE49-F238E27FC236}">
                <a16:creationId xmlns:a16="http://schemas.microsoft.com/office/drawing/2014/main" id="{B4E6E271-8A11-40CD-A5B2-1A6295A4B0D2}"/>
              </a:ext>
            </a:extLst>
          </p:cNvPr>
          <p:cNvSpPr txBox="1"/>
          <p:nvPr/>
        </p:nvSpPr>
        <p:spPr>
          <a:xfrm>
            <a:off x="924707" y="1990585"/>
            <a:ext cx="2675291" cy="849463"/>
          </a:xfrm>
          <a:prstGeom prst="rect">
            <a:avLst/>
          </a:prstGeom>
          <a:noFill/>
        </p:spPr>
        <p:txBody>
          <a:bodyPr wrap="square" lIns="182880" tIns="146304" rIns="182880" bIns="146304" rtlCol="0">
            <a:spAutoFit/>
          </a:bodyPr>
          <a:lstStyle/>
          <a:p>
            <a:pPr>
              <a:lnSpc>
                <a:spcPct val="90000"/>
              </a:lnSpc>
              <a:spcAft>
                <a:spcPts val="600"/>
              </a:spcAft>
            </a:pPr>
            <a:r>
              <a:rPr lang="pt-BR" sz="2000" dirty="0">
                <a:gradFill>
                  <a:gsLst>
                    <a:gs pos="2917">
                      <a:schemeClr val="tx1"/>
                    </a:gs>
                    <a:gs pos="30000">
                      <a:schemeClr val="tx1"/>
                    </a:gs>
                  </a:gsLst>
                  <a:lin ang="5400000" scaled="0"/>
                </a:gradFill>
              </a:rPr>
              <a:t>Conjunto de dados de entrada</a:t>
            </a:r>
          </a:p>
        </p:txBody>
      </p:sp>
      <p:sp>
        <p:nvSpPr>
          <p:cNvPr id="48" name="TextBox 47">
            <a:extLst>
              <a:ext uri="{FF2B5EF4-FFF2-40B4-BE49-F238E27FC236}">
                <a16:creationId xmlns:a16="http://schemas.microsoft.com/office/drawing/2014/main" id="{601F1F1A-D976-4868-9B49-8135A0F26346}"/>
              </a:ext>
              <a:ext uri="{C183D7F6-B498-43B3-948B-1728B52AA6E4}">
                <adec:decorative xmlns="" xmlns:adec="http://schemas.microsoft.com/office/drawing/2017/decorative" val="0"/>
              </a:ext>
            </a:extLst>
          </p:cNvPr>
          <p:cNvSpPr txBox="1"/>
          <p:nvPr/>
        </p:nvSpPr>
        <p:spPr>
          <a:xfrm>
            <a:off x="4519488" y="1963321"/>
            <a:ext cx="1444947" cy="627864"/>
          </a:xfrm>
          <a:prstGeom prst="rect">
            <a:avLst/>
          </a:prstGeom>
          <a:noFill/>
        </p:spPr>
        <p:txBody>
          <a:bodyPr wrap="none" lIns="182880" tIns="146304" rIns="182880" bIns="146304" rtlCol="0">
            <a:spAutoFit/>
          </a:bodyPr>
          <a:lstStyle/>
          <a:p>
            <a:pPr>
              <a:lnSpc>
                <a:spcPct val="90000"/>
              </a:lnSpc>
              <a:spcAft>
                <a:spcPts val="600"/>
              </a:spcAft>
            </a:pPr>
            <a:r>
              <a:rPr lang="pt-BR" sz="2400" dirty="0">
                <a:gradFill>
                  <a:gsLst>
                    <a:gs pos="2917">
                      <a:schemeClr val="tx1"/>
                    </a:gs>
                    <a:gs pos="30000">
                      <a:schemeClr val="tx1"/>
                    </a:gs>
                  </a:gsLst>
                  <a:lin ang="5400000" scaled="0"/>
                </a:gradFill>
              </a:rPr>
              <a:t>Pipeline</a:t>
            </a:r>
          </a:p>
        </p:txBody>
      </p:sp>
      <p:sp>
        <p:nvSpPr>
          <p:cNvPr id="49" name="TextBox 48">
            <a:extLst>
              <a:ext uri="{FF2B5EF4-FFF2-40B4-BE49-F238E27FC236}">
                <a16:creationId xmlns:a16="http://schemas.microsoft.com/office/drawing/2014/main" id="{784F8200-11A1-464E-9DE0-FF6AEA169C43}"/>
              </a:ext>
            </a:extLst>
          </p:cNvPr>
          <p:cNvSpPr txBox="1"/>
          <p:nvPr/>
        </p:nvSpPr>
        <p:spPr>
          <a:xfrm>
            <a:off x="3294268" y="2380215"/>
            <a:ext cx="1582806" cy="627864"/>
          </a:xfrm>
          <a:prstGeom prst="rect">
            <a:avLst/>
          </a:prstGeom>
          <a:noFill/>
        </p:spPr>
        <p:txBody>
          <a:bodyPr wrap="none" lIns="182880" tIns="146304" rIns="182880" bIns="146304" rtlCol="0">
            <a:spAutoFit/>
          </a:bodyPr>
          <a:lstStyle/>
          <a:p>
            <a:pPr>
              <a:lnSpc>
                <a:spcPct val="90000"/>
              </a:lnSpc>
              <a:spcAft>
                <a:spcPts val="600"/>
              </a:spcAft>
            </a:pPr>
            <a:r>
              <a:rPr lang="pt-BR" sz="2400" dirty="0">
                <a:solidFill>
                  <a:schemeClr val="bg1"/>
                </a:solidFill>
              </a:rPr>
              <a:t>Atividades</a:t>
            </a:r>
          </a:p>
        </p:txBody>
      </p:sp>
      <p:sp>
        <p:nvSpPr>
          <p:cNvPr id="51" name="TextBox 50">
            <a:extLst>
              <a:ext uri="{FF2B5EF4-FFF2-40B4-BE49-F238E27FC236}">
                <a16:creationId xmlns:a16="http://schemas.microsoft.com/office/drawing/2014/main" id="{70C27663-24C0-4C23-8366-ED2804934F63}"/>
              </a:ext>
            </a:extLst>
          </p:cNvPr>
          <p:cNvSpPr txBox="1"/>
          <p:nvPr/>
        </p:nvSpPr>
        <p:spPr>
          <a:xfrm>
            <a:off x="8775597" y="2017593"/>
            <a:ext cx="2439278" cy="849463"/>
          </a:xfrm>
          <a:prstGeom prst="rect">
            <a:avLst/>
          </a:prstGeom>
          <a:noFill/>
        </p:spPr>
        <p:txBody>
          <a:bodyPr wrap="square" lIns="182880" tIns="146304" rIns="182880" bIns="146304" rtlCol="0">
            <a:spAutoFit/>
          </a:bodyPr>
          <a:lstStyle/>
          <a:p>
            <a:pPr>
              <a:lnSpc>
                <a:spcPct val="90000"/>
              </a:lnSpc>
              <a:spcAft>
                <a:spcPts val="600"/>
              </a:spcAft>
            </a:pPr>
            <a:r>
              <a:rPr lang="pt-BR" sz="2000" dirty="0">
                <a:gradFill>
                  <a:gsLst>
                    <a:gs pos="2917">
                      <a:schemeClr val="tx1"/>
                    </a:gs>
                    <a:gs pos="30000">
                      <a:schemeClr val="tx1"/>
                    </a:gs>
                  </a:gsLst>
                  <a:lin ang="5400000" scaled="0"/>
                </a:gradFill>
              </a:rPr>
              <a:t>Conjunto de dados de saída</a:t>
            </a:r>
          </a:p>
        </p:txBody>
      </p:sp>
      <p:pic>
        <p:nvPicPr>
          <p:cNvPr id="55" name="Picture 54">
            <a:extLst>
              <a:ext uri="{FF2B5EF4-FFF2-40B4-BE49-F238E27FC236}">
                <a16:creationId xmlns:a16="http://schemas.microsoft.com/office/drawing/2014/main" id="{064E16DA-866C-4581-AEAE-A1175F1339E5}"/>
              </a:ext>
              <a:ext uri="{C183D7F6-B498-43B3-948B-1728B52AA6E4}">
                <adec:decorative xmlns="" xmlns:adec="http://schemas.microsoft.com/office/drawing/2017/decorative" val="1"/>
              </a:ext>
            </a:extLst>
          </p:cNvPr>
          <p:cNvPicPr>
            <a:picLocks noChangeAspect="1"/>
          </p:cNvPicPr>
          <p:nvPr/>
        </p:nvPicPr>
        <p:blipFill>
          <a:blip r:embed="rId7"/>
          <a:stretch>
            <a:fillRect/>
          </a:stretch>
        </p:blipFill>
        <p:spPr>
          <a:xfrm>
            <a:off x="6765778" y="4951965"/>
            <a:ext cx="543422" cy="531128"/>
          </a:xfrm>
          <a:prstGeom prst="rect">
            <a:avLst/>
          </a:prstGeom>
        </p:spPr>
      </p:pic>
      <p:pic>
        <p:nvPicPr>
          <p:cNvPr id="70" name="Graphic 69">
            <a:extLst>
              <a:ext uri="{FF2B5EF4-FFF2-40B4-BE49-F238E27FC236}">
                <a16:creationId xmlns:a16="http://schemas.microsoft.com/office/drawing/2014/main" id="{EDE53767-E3A8-4A2C-997D-4EAE4EFDC4AB}"/>
              </a:ext>
              <a:ext uri="{C183D7F6-B498-43B3-948B-1728B52AA6E4}">
                <adec:decorative xmlns="" xmlns:adec="http://schemas.microsoft.com/office/drawing/2017/decorative" val="1"/>
              </a:ext>
            </a:extLst>
          </p:cNvPr>
          <p:cNvPicPr>
            <a:picLocks noChangeAspect="1"/>
          </p:cNvPicPr>
          <p:nvPr/>
        </p:nvPicPr>
        <p:blipFill>
          <a:blip r:embed="rId8">
            <a:extLst>
              <a:ext uri="{96DAC541-7B7A-43D3-8B79-37D633B846F1}">
                <asvg:svgBlip xmlns="" xmlns:asvg="http://schemas.microsoft.com/office/drawing/2016/SVG/main" r:embed="rId9"/>
              </a:ext>
            </a:extLst>
          </a:blip>
          <a:stretch>
            <a:fillRect/>
          </a:stretch>
        </p:blipFill>
        <p:spPr>
          <a:xfrm>
            <a:off x="1706261" y="4937404"/>
            <a:ext cx="592616" cy="592616"/>
          </a:xfrm>
          <a:prstGeom prst="rect">
            <a:avLst/>
          </a:prstGeom>
        </p:spPr>
      </p:pic>
      <p:cxnSp>
        <p:nvCxnSpPr>
          <p:cNvPr id="72" name="Straight Arrow Connector 71">
            <a:extLst>
              <a:ext uri="{FF2B5EF4-FFF2-40B4-BE49-F238E27FC236}">
                <a16:creationId xmlns:a16="http://schemas.microsoft.com/office/drawing/2014/main" id="{65666820-7788-4535-B5DB-119AB16CBE20}"/>
              </a:ext>
              <a:ext uri="{C183D7F6-B498-43B3-948B-1728B52AA6E4}">
                <adec:decorative xmlns="" xmlns:adec="http://schemas.microsoft.com/office/drawing/2017/decorative" val="1"/>
              </a:ext>
            </a:extLst>
          </p:cNvPr>
          <p:cNvCxnSpPr>
            <a:cxnSpLocks/>
            <a:stCxn id="4" idx="2"/>
            <a:endCxn id="70" idx="0"/>
          </p:cNvCxnSpPr>
          <p:nvPr/>
        </p:nvCxnSpPr>
        <p:spPr>
          <a:xfrm>
            <a:off x="2002569" y="3787188"/>
            <a:ext cx="0" cy="1150216"/>
          </a:xfrm>
          <a:prstGeom prst="straightConnector1">
            <a:avLst/>
          </a:prstGeom>
          <a:ln w="38100">
            <a:solidFill>
              <a:schemeClr val="accent5"/>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EA2918F-ED16-4798-991B-63C77AA7CBD5}"/>
              </a:ext>
              <a:ext uri="{C183D7F6-B498-43B3-948B-1728B52AA6E4}">
                <adec:decorative xmlns="" xmlns:adec="http://schemas.microsoft.com/office/drawing/2017/decorative" val="1"/>
              </a:ext>
            </a:extLst>
          </p:cNvPr>
          <p:cNvCxnSpPr>
            <a:cxnSpLocks/>
            <a:endCxn id="28" idx="0"/>
          </p:cNvCxnSpPr>
          <p:nvPr/>
        </p:nvCxnSpPr>
        <p:spPr>
          <a:xfrm>
            <a:off x="4658868" y="3433823"/>
            <a:ext cx="11432" cy="1485531"/>
          </a:xfrm>
          <a:prstGeom prst="straightConnector1">
            <a:avLst/>
          </a:prstGeom>
          <a:ln w="38100">
            <a:solidFill>
              <a:schemeClr val="accent5"/>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6AB01F2-BA37-413C-904A-A810B9134ECC}"/>
              </a:ext>
              <a:ext uri="{C183D7F6-B498-43B3-948B-1728B52AA6E4}">
                <adec:decorative xmlns="" xmlns:adec="http://schemas.microsoft.com/office/drawing/2017/decorative" val="1"/>
              </a:ext>
            </a:extLst>
          </p:cNvPr>
          <p:cNvCxnSpPr>
            <a:cxnSpLocks/>
            <a:stCxn id="47" idx="2"/>
          </p:cNvCxnSpPr>
          <p:nvPr/>
        </p:nvCxnSpPr>
        <p:spPr>
          <a:xfrm flipH="1">
            <a:off x="5848480" y="3695766"/>
            <a:ext cx="1" cy="1237404"/>
          </a:xfrm>
          <a:prstGeom prst="straightConnector1">
            <a:avLst/>
          </a:prstGeom>
          <a:ln w="38100">
            <a:solidFill>
              <a:schemeClr val="accent5"/>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C5FC134-D121-4472-8C60-AEEC199E260A}"/>
              </a:ext>
              <a:ext uri="{C183D7F6-B498-43B3-948B-1728B52AA6E4}">
                <adec:decorative xmlns="" xmlns:adec="http://schemas.microsoft.com/office/drawing/2017/decorative" val="1"/>
              </a:ext>
            </a:extLst>
          </p:cNvPr>
          <p:cNvCxnSpPr>
            <a:cxnSpLocks/>
            <a:stCxn id="45" idx="2"/>
            <a:endCxn id="55" idx="0"/>
          </p:cNvCxnSpPr>
          <p:nvPr/>
        </p:nvCxnSpPr>
        <p:spPr>
          <a:xfrm>
            <a:off x="7024470" y="3071557"/>
            <a:ext cx="13019" cy="1880408"/>
          </a:xfrm>
          <a:prstGeom prst="straightConnector1">
            <a:avLst/>
          </a:prstGeom>
          <a:ln w="38100">
            <a:solidFill>
              <a:schemeClr val="accent5"/>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E105E9B4-0EEB-45E8-8637-35012EC54158}"/>
              </a:ext>
              <a:ext uri="{C183D7F6-B498-43B3-948B-1728B52AA6E4}">
                <adec:decorative xmlns="" xmlns:adec="http://schemas.microsoft.com/office/drawing/2017/decorative" val="1"/>
              </a:ext>
            </a:extLst>
          </p:cNvPr>
          <p:cNvCxnSpPr>
            <a:cxnSpLocks/>
            <a:stCxn id="3" idx="0"/>
            <a:endCxn id="35" idx="2"/>
          </p:cNvCxnSpPr>
          <p:nvPr/>
        </p:nvCxnSpPr>
        <p:spPr>
          <a:xfrm flipH="1" flipV="1">
            <a:off x="9929774" y="3836014"/>
            <a:ext cx="9129" cy="1067688"/>
          </a:xfrm>
          <a:prstGeom prst="straightConnector1">
            <a:avLst/>
          </a:prstGeom>
          <a:ln w="38100">
            <a:solidFill>
              <a:schemeClr val="accent5"/>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F7B6D775-7A6B-48A4-B057-597BD8C8D516}"/>
              </a:ext>
            </a:extLst>
          </p:cNvPr>
          <p:cNvSpPr txBox="1"/>
          <p:nvPr/>
        </p:nvSpPr>
        <p:spPr>
          <a:xfrm>
            <a:off x="882489" y="5447751"/>
            <a:ext cx="2401683" cy="627864"/>
          </a:xfrm>
          <a:prstGeom prst="rect">
            <a:avLst/>
          </a:prstGeom>
          <a:noFill/>
        </p:spPr>
        <p:txBody>
          <a:bodyPr wrap="none" lIns="182880" tIns="146304" rIns="182880" bIns="146304" rtlCol="0">
            <a:spAutoFit/>
          </a:bodyPr>
          <a:lstStyle/>
          <a:p>
            <a:pPr>
              <a:lnSpc>
                <a:spcPct val="90000"/>
              </a:lnSpc>
              <a:spcAft>
                <a:spcPts val="600"/>
              </a:spcAft>
            </a:pPr>
            <a:r>
              <a:rPr lang="pt-BR" sz="2400" dirty="0">
                <a:gradFill>
                  <a:gsLst>
                    <a:gs pos="2917">
                      <a:schemeClr val="tx1"/>
                    </a:gs>
                    <a:gs pos="30000">
                      <a:schemeClr val="tx1"/>
                    </a:gs>
                  </a:gsLst>
                  <a:lin ang="5400000" scaled="0"/>
                </a:gradFill>
              </a:rPr>
              <a:t>Serviços vinculados</a:t>
            </a:r>
          </a:p>
        </p:txBody>
      </p:sp>
      <p:pic>
        <p:nvPicPr>
          <p:cNvPr id="112" name="Picture 111">
            <a:extLst>
              <a:ext uri="{FF2B5EF4-FFF2-40B4-BE49-F238E27FC236}">
                <a16:creationId xmlns:a16="http://schemas.microsoft.com/office/drawing/2014/main" id="{0EA937DD-4DA5-4384-AB8E-320E0F61B73C}"/>
              </a:ext>
              <a:ext uri="{C183D7F6-B498-43B3-948B-1728B52AA6E4}">
                <adec:decorative xmlns="" xmlns:adec="http://schemas.microsoft.com/office/drawing/2017/decorative" val="1"/>
              </a:ext>
            </a:extLst>
          </p:cNvPr>
          <p:cNvPicPr>
            <a:picLocks noChangeAspect="1"/>
          </p:cNvPicPr>
          <p:nvPr/>
        </p:nvPicPr>
        <p:blipFill>
          <a:blip r:embed="rId10"/>
          <a:stretch>
            <a:fillRect/>
          </a:stretch>
        </p:blipFill>
        <p:spPr>
          <a:xfrm>
            <a:off x="882489" y="993932"/>
            <a:ext cx="521921" cy="595649"/>
          </a:xfrm>
          <a:prstGeom prst="rect">
            <a:avLst/>
          </a:prstGeom>
        </p:spPr>
      </p:pic>
      <p:pic>
        <p:nvPicPr>
          <p:cNvPr id="114" name="Picture 113">
            <a:extLst>
              <a:ext uri="{FF2B5EF4-FFF2-40B4-BE49-F238E27FC236}">
                <a16:creationId xmlns:a16="http://schemas.microsoft.com/office/drawing/2014/main" id="{259111FD-AADE-4987-A3A8-00AA1D9929C8}"/>
              </a:ext>
              <a:ext uri="{C183D7F6-B498-43B3-948B-1728B52AA6E4}">
                <adec:decorative xmlns="" xmlns:adec="http://schemas.microsoft.com/office/drawing/2017/decorative" val="1"/>
              </a:ext>
            </a:extLst>
          </p:cNvPr>
          <p:cNvPicPr>
            <a:picLocks noChangeAspect="1"/>
          </p:cNvPicPr>
          <p:nvPr/>
        </p:nvPicPr>
        <p:blipFill>
          <a:blip r:embed="rId11"/>
          <a:stretch>
            <a:fillRect/>
          </a:stretch>
        </p:blipFill>
        <p:spPr>
          <a:xfrm>
            <a:off x="1522267" y="977030"/>
            <a:ext cx="576505" cy="566275"/>
          </a:xfrm>
          <a:prstGeom prst="rect">
            <a:avLst/>
          </a:prstGeom>
        </p:spPr>
      </p:pic>
      <p:pic>
        <p:nvPicPr>
          <p:cNvPr id="3" name="Picture 2">
            <a:extLst>
              <a:ext uri="{FF2B5EF4-FFF2-40B4-BE49-F238E27FC236}">
                <a16:creationId xmlns:a16="http://schemas.microsoft.com/office/drawing/2014/main" id="{E9B4254A-2D29-4B10-8975-D5D93F18AB98}"/>
              </a:ext>
              <a:ext uri="{C183D7F6-B498-43B3-948B-1728B52AA6E4}">
                <adec:decorative xmlns="" xmlns:adec="http://schemas.microsoft.com/office/drawing/2017/decorative" val="1"/>
              </a:ext>
            </a:extLst>
          </p:cNvPr>
          <p:cNvPicPr>
            <a:picLocks noChangeAspect="1"/>
          </p:cNvPicPr>
          <p:nvPr/>
        </p:nvPicPr>
        <p:blipFill>
          <a:blip r:embed="rId10"/>
          <a:stretch>
            <a:fillRect/>
          </a:stretch>
        </p:blipFill>
        <p:spPr>
          <a:xfrm>
            <a:off x="9687618" y="4903702"/>
            <a:ext cx="502570" cy="573568"/>
          </a:xfrm>
          <a:prstGeom prst="rect">
            <a:avLst/>
          </a:prstGeom>
        </p:spPr>
      </p:pic>
      <p:pic>
        <p:nvPicPr>
          <p:cNvPr id="28" name="Graphic 27">
            <a:extLst>
              <a:ext uri="{FF2B5EF4-FFF2-40B4-BE49-F238E27FC236}">
                <a16:creationId xmlns:a16="http://schemas.microsoft.com/office/drawing/2014/main" id="{9DF796B9-BD78-4C30-B9E8-DD998A2A84DF}"/>
              </a:ext>
              <a:ext uri="{C183D7F6-B498-43B3-948B-1728B52AA6E4}">
                <adec:decorative xmlns="" xmlns:adec="http://schemas.microsoft.com/office/drawing/2017/decorative" val="1"/>
              </a:ext>
            </a:extLst>
          </p:cNvPr>
          <p:cNvPicPr>
            <a:picLocks noChangeAspect="1"/>
          </p:cNvPicPr>
          <p:nvPr/>
        </p:nvPicPr>
        <p:blipFill>
          <a:blip r:embed="rId12">
            <a:extLst>
              <a:ext uri="{96DAC541-7B7A-43D3-8B79-37D633B846F1}">
                <asvg:svgBlip xmlns="" xmlns:asvg="http://schemas.microsoft.com/office/drawing/2016/SVG/main" r:embed="rId13"/>
              </a:ext>
            </a:extLst>
          </a:blip>
          <a:stretch>
            <a:fillRect/>
          </a:stretch>
        </p:blipFill>
        <p:spPr>
          <a:xfrm>
            <a:off x="4356368" y="4919354"/>
            <a:ext cx="627864" cy="627864"/>
          </a:xfrm>
          <a:prstGeom prst="rect">
            <a:avLst/>
          </a:prstGeom>
        </p:spPr>
      </p:pic>
      <p:pic>
        <p:nvPicPr>
          <p:cNvPr id="21" name="Graphic 20">
            <a:extLst>
              <a:ext uri="{FF2B5EF4-FFF2-40B4-BE49-F238E27FC236}">
                <a16:creationId xmlns:a16="http://schemas.microsoft.com/office/drawing/2014/main" id="{B90D9B74-28BC-4D1A-A848-211BEC3A1095}"/>
              </a:ext>
              <a:ext uri="{C183D7F6-B498-43B3-948B-1728B52AA6E4}">
                <adec:decorative xmlns="" xmlns:adec="http://schemas.microsoft.com/office/drawing/2017/decorative" val="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a:off x="8182735" y="4941189"/>
            <a:ext cx="592862" cy="592862"/>
          </a:xfrm>
          <a:prstGeom prst="rect">
            <a:avLst/>
          </a:prstGeom>
        </p:spPr>
      </p:pic>
      <p:cxnSp>
        <p:nvCxnSpPr>
          <p:cNvPr id="76" name="Straight Arrow Connector 75">
            <a:extLst>
              <a:ext uri="{FF2B5EF4-FFF2-40B4-BE49-F238E27FC236}">
                <a16:creationId xmlns:a16="http://schemas.microsoft.com/office/drawing/2014/main" id="{6330BB92-6D67-49B9-832A-1DBB57BD15B5}"/>
              </a:ext>
              <a:ext uri="{C183D7F6-B498-43B3-948B-1728B52AA6E4}">
                <adec:decorative xmlns="" xmlns:adec="http://schemas.microsoft.com/office/drawing/2017/decorative" val="1"/>
              </a:ext>
            </a:extLst>
          </p:cNvPr>
          <p:cNvCxnSpPr>
            <a:cxnSpLocks/>
            <a:stCxn id="46" idx="2"/>
            <a:endCxn id="21" idx="0"/>
          </p:cNvCxnSpPr>
          <p:nvPr/>
        </p:nvCxnSpPr>
        <p:spPr>
          <a:xfrm flipH="1">
            <a:off x="8479166" y="3456470"/>
            <a:ext cx="1356" cy="1484719"/>
          </a:xfrm>
          <a:prstGeom prst="straightConnector1">
            <a:avLst/>
          </a:prstGeom>
          <a:ln w="38100">
            <a:solidFill>
              <a:schemeClr val="accent5"/>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D1138F1-205B-467D-96A7-A876402F2D55}"/>
              </a:ext>
              <a:ext uri="{C183D7F6-B498-43B3-948B-1728B52AA6E4}">
                <adec:decorative xmlns="" xmlns:adec="http://schemas.microsoft.com/office/drawing/2017/decorative" val="1"/>
              </a:ext>
            </a:extLst>
          </p:cNvPr>
          <p:cNvPicPr>
            <a:picLocks noChangeAspect="1"/>
          </p:cNvPicPr>
          <p:nvPr/>
        </p:nvPicPr>
        <p:blipFill>
          <a:blip r:embed="rId16">
            <a:extLst>
              <a:ext uri="{96DAC541-7B7A-43D3-8B79-37D633B846F1}">
                <asvg:svgBlip xmlns="" xmlns:asvg="http://schemas.microsoft.com/office/drawing/2016/SVG/main" r:embed="rId17"/>
              </a:ext>
            </a:extLst>
          </a:blip>
          <a:stretch>
            <a:fillRect/>
          </a:stretch>
        </p:blipFill>
        <p:spPr>
          <a:xfrm>
            <a:off x="5529905" y="4941189"/>
            <a:ext cx="650727" cy="650727"/>
          </a:xfrm>
          <a:prstGeom prst="rect">
            <a:avLst/>
          </a:prstGeom>
        </p:spPr>
      </p:pic>
    </p:spTree>
    <p:extLst>
      <p:ext uri="{BB962C8B-B14F-4D97-AF65-F5344CB8AC3E}">
        <p14:creationId xmlns:p14="http://schemas.microsoft.com/office/powerpoint/2010/main" val="286075610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AAC-2507-4F4B-A683-622646D4E55A}"/>
              </a:ext>
            </a:extLst>
          </p:cNvPr>
          <p:cNvSpPr>
            <a:spLocks noGrp="1"/>
          </p:cNvSpPr>
          <p:nvPr>
            <p:ph type="title"/>
          </p:nvPr>
        </p:nvSpPr>
        <p:spPr>
          <a:xfrm>
            <a:off x="418643" y="84235"/>
            <a:ext cx="11341268" cy="1140236"/>
          </a:xfrm>
        </p:spPr>
        <p:txBody>
          <a:bodyPr>
            <a:normAutofit fontScale="90000"/>
          </a:bodyPr>
          <a:lstStyle/>
          <a:p>
            <a:pPr>
              <a:lnSpc>
                <a:spcPct val="100000"/>
              </a:lnSpc>
            </a:pPr>
            <a:r>
              <a:rPr lang="pt-BR" dirty="0"/>
              <a:t>Processamento de dados em tempo real com o </a:t>
            </a:r>
            <a:br>
              <a:rPr lang="pt-BR" dirty="0"/>
            </a:br>
            <a:r>
              <a:rPr lang="pt-BR" dirty="0"/>
              <a:t>Azure Stream Analytics</a:t>
            </a:r>
          </a:p>
        </p:txBody>
      </p:sp>
      <p:grpSp>
        <p:nvGrpSpPr>
          <p:cNvPr id="22" name="Group 21">
            <a:extLst>
              <a:ext uri="{FF2B5EF4-FFF2-40B4-BE49-F238E27FC236}">
                <a16:creationId xmlns:a16="http://schemas.microsoft.com/office/drawing/2014/main" id="{EB89881E-0B2F-4A1E-B68E-B56577EADD2E}"/>
              </a:ext>
              <a:ext uri="{C183D7F6-B498-43B3-948B-1728B52AA6E4}">
                <adec:decorative xmlns:adec="http://schemas.microsoft.com/office/drawing/2017/decorative" xmlns="" val="1"/>
              </a:ext>
            </a:extLst>
          </p:cNvPr>
          <p:cNvGrpSpPr/>
          <p:nvPr/>
        </p:nvGrpSpPr>
        <p:grpSpPr>
          <a:xfrm>
            <a:off x="134498" y="1398131"/>
            <a:ext cx="5613790" cy="5360860"/>
            <a:chOff x="77802" y="1432753"/>
            <a:chExt cx="5613790" cy="5360860"/>
          </a:xfrm>
          <a:solidFill>
            <a:schemeClr val="accent3">
              <a:lumMod val="40000"/>
              <a:lumOff val="60000"/>
            </a:schemeClr>
          </a:solidFill>
        </p:grpSpPr>
        <p:sp>
          <p:nvSpPr>
            <p:cNvPr id="6" name="Rectangle 5">
              <a:extLst>
                <a:ext uri="{FF2B5EF4-FFF2-40B4-BE49-F238E27FC236}">
                  <a16:creationId xmlns:a16="http://schemas.microsoft.com/office/drawing/2014/main" id="{2CAD8808-3E0F-4D93-BF91-86625541CBE7}"/>
                </a:ext>
              </a:extLst>
            </p:cNvPr>
            <p:cNvSpPr/>
            <p:nvPr/>
          </p:nvSpPr>
          <p:spPr bwMode="auto">
            <a:xfrm>
              <a:off x="110661" y="1432753"/>
              <a:ext cx="5399036" cy="5200692"/>
            </a:xfrm>
            <a:prstGeom prst="rect">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2" name="TextBox 11">
              <a:extLst>
                <a:ext uri="{FF2B5EF4-FFF2-40B4-BE49-F238E27FC236}">
                  <a16:creationId xmlns:a16="http://schemas.microsoft.com/office/drawing/2014/main" id="{3AC0733C-DEB8-49CD-883D-08886F3209EF}"/>
                </a:ext>
              </a:extLst>
            </p:cNvPr>
            <p:cNvSpPr txBox="1"/>
            <p:nvPr/>
          </p:nvSpPr>
          <p:spPr>
            <a:xfrm>
              <a:off x="77802" y="1481390"/>
              <a:ext cx="5613790" cy="5312223"/>
            </a:xfrm>
            <a:prstGeom prst="rect">
              <a:avLst/>
            </a:prstGeom>
            <a:grp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marL="342900" marR="0" lvl="0" indent="-342900" algn="l" defTabSz="914367" rtl="0" eaLnBrk="1" fontAlgn="auto" latinLnBrk="0" hangingPunct="1">
                <a:spcBef>
                  <a:spcPts val="0"/>
                </a:spcBef>
                <a:spcAft>
                  <a:spcPts val="600"/>
                </a:spcAft>
                <a:buClrTx/>
                <a:buSzTx/>
                <a:buFont typeface="Arial"/>
                <a:buChar char="•"/>
                <a:tabLst/>
                <a:defRPr/>
              </a:pPr>
              <a:r>
                <a:rPr kumimoji="0" lang="pt-BR" sz="1600" b="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Crie um </a:t>
              </a:r>
              <a:r>
                <a:rPr kumimoji="0" lang="pt-BR" sz="1600" b="0" i="1"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trabalho</a:t>
              </a:r>
              <a:r>
                <a:rPr kumimoji="0" lang="pt-BR" sz="1600" b="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 do Azure Stream Analytics ou um </a:t>
              </a:r>
              <a:r>
                <a:rPr kumimoji="0" lang="pt-BR" sz="1600" b="0" i="1"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cluster</a:t>
              </a:r>
              <a:r>
                <a:rPr kumimoji="0" lang="pt-BR" sz="1600" b="0" u="none" strike="noStrike" cap="none" normalizeH="0" baseline="0" noProof="0" dirty="0">
                  <a:ln>
                    <a:noFill/>
                  </a:ln>
                  <a:gradFill>
                    <a:gsLst>
                      <a:gs pos="2917">
                        <a:srgbClr val="000000"/>
                      </a:gs>
                      <a:gs pos="30000">
                        <a:srgbClr val="000000"/>
                      </a:gs>
                    </a:gsLst>
                    <a:lin ang="5400000" scaled="0"/>
                  </a:gradFill>
                  <a:uLnTx/>
                  <a:uFillTx/>
                  <a:latin typeface="Segoe UI"/>
                  <a:ea typeface="+mn-ea"/>
                  <a:cs typeface="+mn-cs"/>
                </a:rPr>
                <a:t> do Azure Stream Analytics</a:t>
              </a:r>
            </a:p>
            <a:p>
              <a:pPr marL="342900" indent="-342900">
                <a:spcAft>
                  <a:spcPts val="600"/>
                </a:spcAft>
                <a:buFont typeface="Arial"/>
                <a:buChar char="•"/>
                <a:defRPr/>
              </a:pPr>
              <a:r>
                <a:rPr lang="pt-BR" sz="1600" b="0" dirty="0">
                  <a:solidFill>
                    <a:srgbClr val="171717"/>
                  </a:solidFill>
                  <a:latin typeface="Segoe UI" panose="020B0502040204020203" pitchFamily="34" charset="0"/>
                </a:rPr>
                <a:t>Faça a ingestão de dados de uma</a:t>
              </a:r>
              <a:r>
                <a:rPr lang="pt-BR" sz="1600" b="0" i="0" dirty="0">
                  <a:solidFill>
                    <a:srgbClr val="171717"/>
                  </a:solidFill>
                  <a:latin typeface="Segoe UI" panose="020B0502040204020203" pitchFamily="34" charset="0"/>
                </a:rPr>
                <a:t> </a:t>
              </a:r>
              <a:r>
                <a:rPr lang="pt-BR" sz="1600" b="0" i="1" dirty="0">
                  <a:solidFill>
                    <a:srgbClr val="171717"/>
                  </a:solidFill>
                  <a:latin typeface="Segoe UI" panose="020B0502040204020203" pitchFamily="34" charset="0"/>
                </a:rPr>
                <a:t>entrada</a:t>
              </a:r>
              <a:r>
                <a:rPr lang="pt-BR" sz="1600" b="0" dirty="0">
                  <a:solidFill>
                    <a:srgbClr val="171717"/>
                  </a:solidFill>
                  <a:latin typeface="Segoe UI" panose="020B0502040204020203" pitchFamily="34" charset="0"/>
                </a:rPr>
                <a:t>, como:</a:t>
              </a:r>
            </a:p>
            <a:p>
              <a:pPr marL="800083" lvl="1" indent="-342900">
                <a:spcAft>
                  <a:spcPts val="600"/>
                </a:spcAft>
                <a:buFont typeface="Arial"/>
                <a:buChar char="•"/>
                <a:defRPr/>
              </a:pPr>
              <a:r>
                <a:rPr lang="pt-BR" sz="1600" dirty="0">
                  <a:solidFill>
                    <a:srgbClr val="171717"/>
                  </a:solidFill>
                  <a:latin typeface="Segoe UI" panose="020B0502040204020203" pitchFamily="34" charset="0"/>
                  <a:cs typeface="Segoe UI"/>
                </a:rPr>
                <a:t>Hubs de Eventos do Azure</a:t>
              </a:r>
            </a:p>
            <a:p>
              <a:pPr marL="800083" lvl="1" indent="-342900">
                <a:spcAft>
                  <a:spcPts val="600"/>
                </a:spcAft>
                <a:buFont typeface="Arial"/>
                <a:buChar char="•"/>
                <a:defRPr/>
              </a:pPr>
              <a:r>
                <a:rPr lang="pt-BR" sz="1600" dirty="0">
                  <a:solidFill>
                    <a:srgbClr val="171717"/>
                  </a:solidFill>
                  <a:latin typeface="Segoe UI" panose="020B0502040204020203" pitchFamily="34" charset="0"/>
                  <a:cs typeface="Segoe UI"/>
                </a:rPr>
                <a:t>Hub IoT do Azure</a:t>
              </a:r>
            </a:p>
            <a:p>
              <a:pPr marL="800083" lvl="1" indent="-342900">
                <a:spcAft>
                  <a:spcPts val="600"/>
                </a:spcAft>
                <a:buFont typeface="Arial"/>
                <a:buChar char="•"/>
                <a:defRPr/>
              </a:pPr>
              <a:r>
                <a:rPr lang="pt-BR" sz="1600" dirty="0">
                  <a:solidFill>
                    <a:srgbClr val="171717"/>
                  </a:solidFill>
                  <a:latin typeface="Segoe UI" panose="020B0502040204020203" pitchFamily="34" charset="0"/>
                  <a:cs typeface="Segoe UI"/>
                </a:rPr>
                <a:t>Armazenamento de Blobs do Azure</a:t>
              </a:r>
            </a:p>
            <a:p>
              <a:pPr marL="800083" lvl="1" indent="-342900">
                <a:spcAft>
                  <a:spcPts val="600"/>
                </a:spcAft>
                <a:buFont typeface="Arial"/>
                <a:buChar char="•"/>
                <a:defRPr/>
              </a:pPr>
              <a:r>
                <a:rPr lang="pt-BR" sz="1600" dirty="0">
                  <a:solidFill>
                    <a:srgbClr val="171717"/>
                  </a:solidFill>
                  <a:latin typeface="Segoe UI" panose="020B0502040204020203" pitchFamily="34" charset="0"/>
                  <a:cs typeface="Segoe UI"/>
                </a:rPr>
                <a:t>…</a:t>
              </a:r>
            </a:p>
            <a:p>
              <a:pPr marL="342900" indent="-342900">
                <a:spcAft>
                  <a:spcPts val="600"/>
                </a:spcAft>
                <a:buFont typeface="Arial"/>
                <a:buChar char="•"/>
                <a:defRPr/>
              </a:pPr>
              <a:r>
                <a:rPr kumimoji="0" lang="pt-BR" sz="1600" u="none" strike="noStrike" cap="none" normalizeH="0" baseline="0" noProof="0" dirty="0">
                  <a:ln>
                    <a:noFill/>
                  </a:ln>
                  <a:solidFill>
                    <a:srgbClr val="171717"/>
                  </a:solidFill>
                  <a:uLnTx/>
                  <a:uFillTx/>
                  <a:latin typeface="Segoe UI" panose="020B0502040204020203" pitchFamily="34" charset="0"/>
                  <a:ea typeface="+mn-ea"/>
                  <a:cs typeface="Segoe UI"/>
                </a:rPr>
                <a:t>Processe dados com uma </a:t>
              </a:r>
              <a:r>
                <a:rPr kumimoji="0" lang="pt-BR" sz="1600" i="1" u="none" strike="noStrike" cap="none" normalizeH="0" baseline="0" noProof="0" dirty="0">
                  <a:ln>
                    <a:noFill/>
                  </a:ln>
                  <a:solidFill>
                    <a:srgbClr val="171717"/>
                  </a:solidFill>
                  <a:uLnTx/>
                  <a:uFillTx/>
                  <a:latin typeface="Segoe UI" panose="020B0502040204020203" pitchFamily="34" charset="0"/>
                  <a:ea typeface="+mn-ea"/>
                  <a:cs typeface="Segoe UI"/>
                </a:rPr>
                <a:t>consulta</a:t>
              </a:r>
              <a:r>
                <a:rPr kumimoji="0" lang="pt-BR" sz="1600" u="none" strike="noStrike" cap="none" normalizeH="0" baseline="0" noProof="0" dirty="0">
                  <a:ln>
                    <a:noFill/>
                  </a:ln>
                  <a:solidFill>
                    <a:srgbClr val="171717"/>
                  </a:solidFill>
                  <a:uLnTx/>
                  <a:uFillTx/>
                  <a:latin typeface="Segoe UI" panose="020B0502040204020203" pitchFamily="34" charset="0"/>
                  <a:ea typeface="+mn-ea"/>
                  <a:cs typeface="Segoe UI"/>
                </a:rPr>
                <a:t> perpétua</a:t>
              </a:r>
            </a:p>
            <a:p>
              <a:pPr marL="342900" indent="-342900">
                <a:spcAft>
                  <a:spcPts val="600"/>
                </a:spcAft>
                <a:buFont typeface="Arial"/>
                <a:buChar char="•"/>
                <a:defRPr/>
              </a:pPr>
              <a:r>
                <a:rPr lang="pt-BR" sz="1600" dirty="0">
                  <a:solidFill>
                    <a:srgbClr val="171717"/>
                  </a:solidFill>
                  <a:latin typeface="Segoe UI" panose="020B0502040204020203" pitchFamily="34" charset="0"/>
                  <a:cs typeface="Segoe UI"/>
                </a:rPr>
                <a:t>Envie resultados para uma </a:t>
              </a:r>
              <a:r>
                <a:rPr lang="pt-BR" sz="1600" i="1" dirty="0">
                  <a:solidFill>
                    <a:srgbClr val="171717"/>
                  </a:solidFill>
                  <a:latin typeface="Segoe UI" panose="020B0502040204020203" pitchFamily="34" charset="0"/>
                  <a:cs typeface="Segoe UI"/>
                </a:rPr>
                <a:t>saída</a:t>
              </a:r>
              <a:r>
                <a:rPr lang="pt-BR" sz="1600" dirty="0">
                  <a:solidFill>
                    <a:srgbClr val="171717"/>
                  </a:solidFill>
                  <a:latin typeface="Segoe UI" panose="020B0502040204020203" pitchFamily="34" charset="0"/>
                  <a:cs typeface="Segoe UI"/>
                </a:rPr>
                <a:t>, como:</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Armazenamento de Blobs do Azure</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Banco de Dados SQL do Azure</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Azure Synapse Analytics</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Azure Function</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Hubs de Eventos do Azure</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Power BI</a:t>
              </a:r>
            </a:p>
            <a:p>
              <a:pPr marL="800083" lvl="1" indent="-342900">
                <a:spcAft>
                  <a:spcPts val="600"/>
                </a:spcAft>
                <a:buFont typeface="Arial"/>
                <a:buChar char="•"/>
                <a:defRPr/>
              </a:pPr>
              <a:r>
                <a:rPr lang="pt-BR" sz="1600" b="0" dirty="0">
                  <a:solidFill>
                    <a:srgbClr val="171717"/>
                  </a:solidFill>
                  <a:latin typeface="Segoe UI" panose="020B0502040204020203" pitchFamily="34" charset="0"/>
                  <a:cs typeface="Segoe UI"/>
                </a:rPr>
                <a:t>…</a:t>
              </a:r>
            </a:p>
          </p:txBody>
        </p:sp>
      </p:grpSp>
      <p:grpSp>
        <p:nvGrpSpPr>
          <p:cNvPr id="31" name="Group 30">
            <a:extLst>
              <a:ext uri="{FF2B5EF4-FFF2-40B4-BE49-F238E27FC236}">
                <a16:creationId xmlns:a16="http://schemas.microsoft.com/office/drawing/2014/main" id="{2E0EC128-810E-4955-9536-2D48D6439FA7}"/>
              </a:ext>
              <a:ext uri="{C183D7F6-B498-43B3-948B-1728B52AA6E4}">
                <adec:decorative xmlns:adec="http://schemas.microsoft.com/office/drawing/2017/decorative" xmlns="" val="1"/>
              </a:ext>
            </a:extLst>
          </p:cNvPr>
          <p:cNvGrpSpPr/>
          <p:nvPr/>
        </p:nvGrpSpPr>
        <p:grpSpPr>
          <a:xfrm>
            <a:off x="5748288" y="1501901"/>
            <a:ext cx="6199592" cy="4911313"/>
            <a:chOff x="5748288" y="1501901"/>
            <a:chExt cx="6199592" cy="4911313"/>
          </a:xfrm>
        </p:grpSpPr>
        <p:grpSp>
          <p:nvGrpSpPr>
            <p:cNvPr id="13" name="Group 12" descr="Um diagrama mostra o trabalho do Azure Stream Analytics recebendo dados de entrada de uma fonte, processando-os usando uma consulta e gravando a saída em um coletor.">
              <a:extLst>
                <a:ext uri="{FF2B5EF4-FFF2-40B4-BE49-F238E27FC236}">
                  <a16:creationId xmlns:a16="http://schemas.microsoft.com/office/drawing/2014/main" id="{F2833CD2-3604-4C2E-BE75-64D1ECFFB28B}"/>
                </a:ext>
              </a:extLst>
            </p:cNvPr>
            <p:cNvGrpSpPr/>
            <p:nvPr/>
          </p:nvGrpSpPr>
          <p:grpSpPr>
            <a:xfrm>
              <a:off x="5748288" y="1501901"/>
              <a:ext cx="6112258" cy="4373536"/>
              <a:chOff x="5758313" y="1526382"/>
              <a:chExt cx="6112258" cy="4373536"/>
            </a:xfrm>
          </p:grpSpPr>
          <p:grpSp>
            <p:nvGrpSpPr>
              <p:cNvPr id="3" name="Group 2">
                <a:extLst>
                  <a:ext uri="{FF2B5EF4-FFF2-40B4-BE49-F238E27FC236}">
                    <a16:creationId xmlns:a16="http://schemas.microsoft.com/office/drawing/2014/main" id="{3AFD869B-5252-4427-A71B-09F601865452}"/>
                  </a:ext>
                </a:extLst>
              </p:cNvPr>
              <p:cNvGrpSpPr/>
              <p:nvPr/>
            </p:nvGrpSpPr>
            <p:grpSpPr>
              <a:xfrm>
                <a:off x="5758313" y="1526382"/>
                <a:ext cx="6112258" cy="4373536"/>
                <a:chOff x="2173482" y="903191"/>
                <a:chExt cx="6358208" cy="4549522"/>
              </a:xfrm>
            </p:grpSpPr>
            <p:sp>
              <p:nvSpPr>
                <p:cNvPr id="4" name="Rectangle: Rounded Corners 3">
                  <a:extLst>
                    <a:ext uri="{FF2B5EF4-FFF2-40B4-BE49-F238E27FC236}">
                      <a16:creationId xmlns:a16="http://schemas.microsoft.com/office/drawing/2014/main" id="{AF2A73F8-B506-4843-AF41-E30FFBDD758D}"/>
                    </a:ext>
                  </a:extLst>
                </p:cNvPr>
                <p:cNvSpPr/>
                <p:nvPr/>
              </p:nvSpPr>
              <p:spPr>
                <a:xfrm>
                  <a:off x="3619098" y="1786289"/>
                  <a:ext cx="3349592" cy="2906027"/>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0B94950E-3B8C-4444-BD12-E7C11E8FE6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3797868" y="1830056"/>
                  <a:ext cx="616718" cy="616718"/>
                </a:xfrm>
                <a:prstGeom prst="rect">
                  <a:avLst/>
                </a:prstGeom>
              </p:spPr>
            </p:pic>
            <p:pic>
              <p:nvPicPr>
                <p:cNvPr id="7" name="Graphic 6">
                  <a:extLst>
                    <a:ext uri="{FF2B5EF4-FFF2-40B4-BE49-F238E27FC236}">
                      <a16:creationId xmlns:a16="http://schemas.microsoft.com/office/drawing/2014/main" id="{C0AC8EFF-A623-4D4C-B34F-E8575B9DF43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2194687" y="2195363"/>
                  <a:ext cx="616718" cy="616718"/>
                </a:xfrm>
                <a:prstGeom prst="rect">
                  <a:avLst/>
                </a:prstGeom>
              </p:spPr>
            </p:pic>
            <p:pic>
              <p:nvPicPr>
                <p:cNvPr id="8" name="Graphic 7">
                  <a:extLst>
                    <a:ext uri="{FF2B5EF4-FFF2-40B4-BE49-F238E27FC236}">
                      <a16:creationId xmlns:a16="http://schemas.microsoft.com/office/drawing/2014/main" id="{AFEF7A45-D49F-4DF9-9CE3-D0B3269B6F8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7914972" y="2503722"/>
                  <a:ext cx="616718" cy="616718"/>
                </a:xfrm>
                <a:prstGeom prst="rect">
                  <a:avLst/>
                </a:prstGeom>
              </p:spPr>
            </p:pic>
            <p:pic>
              <p:nvPicPr>
                <p:cNvPr id="9" name="Graphic 8">
                  <a:extLst>
                    <a:ext uri="{FF2B5EF4-FFF2-40B4-BE49-F238E27FC236}">
                      <a16:creationId xmlns:a16="http://schemas.microsoft.com/office/drawing/2014/main" id="{10C005CF-411C-4D11-A6C5-EA0B82DAF60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2173482" y="3004084"/>
                  <a:ext cx="616718" cy="616718"/>
                </a:xfrm>
                <a:prstGeom prst="rect">
                  <a:avLst/>
                </a:prstGeom>
              </p:spPr>
            </p:pic>
            <p:pic>
              <p:nvPicPr>
                <p:cNvPr id="10" name="Graphic 9">
                  <a:extLst>
                    <a:ext uri="{FF2B5EF4-FFF2-40B4-BE49-F238E27FC236}">
                      <a16:creationId xmlns:a16="http://schemas.microsoft.com/office/drawing/2014/main" id="{7DB91F5C-6D40-4B92-9DD3-89AFEE5378F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p:blipFill>
              <p:spPr>
                <a:xfrm>
                  <a:off x="7898508" y="3396139"/>
                  <a:ext cx="616718" cy="616718"/>
                </a:xfrm>
                <a:prstGeom prst="rect">
                  <a:avLst/>
                </a:prstGeom>
              </p:spPr>
            </p:pic>
            <p:pic>
              <p:nvPicPr>
                <p:cNvPr id="11" name="Graphic 10">
                  <a:extLst>
                    <a:ext uri="{FF2B5EF4-FFF2-40B4-BE49-F238E27FC236}">
                      <a16:creationId xmlns:a16="http://schemas.microsoft.com/office/drawing/2014/main" id="{9D584FBD-3A76-4E82-8A09-A9270A8C4D2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2194687" y="3949567"/>
                  <a:ext cx="616718" cy="616718"/>
                </a:xfrm>
                <a:prstGeom prst="rect">
                  <a:avLst/>
                </a:prstGeom>
              </p:spPr>
            </p:pic>
            <p:pic>
              <p:nvPicPr>
                <p:cNvPr id="14" name="Graphic 13">
                  <a:extLst>
                    <a:ext uri="{FF2B5EF4-FFF2-40B4-BE49-F238E27FC236}">
                      <a16:creationId xmlns:a16="http://schemas.microsoft.com/office/drawing/2014/main" id="{849C6303-BA42-4942-9955-52117348B5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7914972" y="4257926"/>
                  <a:ext cx="616718" cy="616718"/>
                </a:xfrm>
                <a:prstGeom prst="rect">
                  <a:avLst/>
                </a:prstGeom>
              </p:spPr>
            </p:pic>
            <p:sp>
              <p:nvSpPr>
                <p:cNvPr id="15" name="Rectangle 14">
                  <a:extLst>
                    <a:ext uri="{FF2B5EF4-FFF2-40B4-BE49-F238E27FC236}">
                      <a16:creationId xmlns:a16="http://schemas.microsoft.com/office/drawing/2014/main" id="{30BEF8B3-8918-4D0D-BC71-64EE7D89A253}"/>
                    </a:ext>
                  </a:extLst>
                </p:cNvPr>
                <p:cNvSpPr/>
                <p:nvPr/>
              </p:nvSpPr>
              <p:spPr>
                <a:xfrm>
                  <a:off x="4348664" y="2653165"/>
                  <a:ext cx="1973179" cy="129640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86A9675C-8F73-41DA-BF6B-DD76966350C7}"/>
                    </a:ext>
                  </a:extLst>
                </p:cNvPr>
                <p:cNvSpPr/>
                <p:nvPr/>
              </p:nvSpPr>
              <p:spPr>
                <a:xfrm>
                  <a:off x="3262963" y="3036770"/>
                  <a:ext cx="1085702" cy="57921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7FE81E59-855C-4E60-B288-4B4A397F7A4F}"/>
                    </a:ext>
                  </a:extLst>
                </p:cNvPr>
                <p:cNvSpPr/>
                <p:nvPr/>
              </p:nvSpPr>
              <p:spPr>
                <a:xfrm>
                  <a:off x="6321843" y="3015414"/>
                  <a:ext cx="1216342" cy="579219"/>
                </a:xfrm>
                <a:prstGeom prst="right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D375811-7D66-4587-B9AB-2CF3EF48F2C6}"/>
                    </a:ext>
                  </a:extLst>
                </p:cNvPr>
                <p:cNvSpPr txBox="1"/>
                <p:nvPr/>
              </p:nvSpPr>
              <p:spPr>
                <a:xfrm>
                  <a:off x="4704800" y="3116700"/>
                  <a:ext cx="1287532" cy="369332"/>
                </a:xfrm>
                <a:prstGeom prst="rect">
                  <a:avLst/>
                </a:prstGeom>
                <a:noFill/>
              </p:spPr>
              <p:txBody>
                <a:bodyPr wrap="none" rtlCol="0">
                  <a:spAutoFit/>
                </a:bodyPr>
                <a:lstStyle/>
                <a:p>
                  <a:r>
                    <a:rPr lang="pt-BR" b="1">
                      <a:latin typeface="Courier New" panose="02070309020205020404" pitchFamily="49" charset="0"/>
                      <a:cs typeface="Courier New" panose="02070309020205020404" pitchFamily="49" charset="0"/>
                    </a:rPr>
                    <a:t>SELECT …</a:t>
                  </a:r>
                </a:p>
              </p:txBody>
            </p:sp>
            <p:sp>
              <p:nvSpPr>
                <p:cNvPr id="19" name="Right Brace 18">
                  <a:extLst>
                    <a:ext uri="{FF2B5EF4-FFF2-40B4-BE49-F238E27FC236}">
                      <a16:creationId xmlns:a16="http://schemas.microsoft.com/office/drawing/2014/main" id="{2DB8E712-DCB1-4CEC-98E7-7900E25E16AA}"/>
                    </a:ext>
                  </a:extLst>
                </p:cNvPr>
                <p:cNvSpPr/>
                <p:nvPr/>
              </p:nvSpPr>
              <p:spPr>
                <a:xfrm>
                  <a:off x="2902016" y="2503722"/>
                  <a:ext cx="217695" cy="1702519"/>
                </a:xfrm>
                <a:prstGeom prst="rightBrace">
                  <a:avLst/>
                </a:prstGeom>
                <a:ln w="2857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D3DD06DA-47E1-4037-B1DE-3D7FEB798702}"/>
                    </a:ext>
                  </a:extLst>
                </p:cNvPr>
                <p:cNvSpPr/>
                <p:nvPr/>
              </p:nvSpPr>
              <p:spPr>
                <a:xfrm flipH="1">
                  <a:off x="7543164" y="1143355"/>
                  <a:ext cx="217692" cy="4309358"/>
                </a:xfrm>
                <a:prstGeom prst="rightBrace">
                  <a:avLst/>
                </a:prstGeom>
                <a:ln w="28575">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Graphic 20">
                  <a:extLst>
                    <a:ext uri="{FF2B5EF4-FFF2-40B4-BE49-F238E27FC236}">
                      <a16:creationId xmlns:a16="http://schemas.microsoft.com/office/drawing/2014/main" id="{6F26854D-2E21-4A92-9B24-C77FFDADC1A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p:blipFill>
              <p:spPr>
                <a:xfrm>
                  <a:off x="7885955" y="903191"/>
                  <a:ext cx="616718" cy="616718"/>
                </a:xfrm>
                <a:prstGeom prst="rect">
                  <a:avLst/>
                </a:prstGeom>
              </p:spPr>
            </p:pic>
          </p:grpSp>
          <p:pic>
            <p:nvPicPr>
              <p:cNvPr id="23" name="Graphic 22">
                <a:extLst>
                  <a:ext uri="{FF2B5EF4-FFF2-40B4-BE49-F238E27FC236}">
                    <a16:creationId xmlns:a16="http://schemas.microsoft.com/office/drawing/2014/main" id="{07A56B2B-8AFA-4CF7-B992-1E763DB6F1BE}"/>
                  </a:ext>
                </a:extLst>
              </p:cNvPr>
              <p:cNvPicPr>
                <a:picLocks noChangeAspect="1"/>
              </p:cNvPicPr>
              <p:nvPr/>
            </p:nvPicPr>
            <p:blipFill>
              <a:blip r:embed="rId15">
                <a:extLst>
                  <a:ext uri="{96DAC541-7B7A-43D3-8B79-37D633B846F1}">
                    <asvg:svgBlip xmlns:asvg="http://schemas.microsoft.com/office/drawing/2016/SVG/main" xmlns="" r:embed="rId16"/>
                  </a:ext>
                </a:extLst>
              </a:blip>
              <a:stretch>
                <a:fillRect/>
              </a:stretch>
            </p:blipFill>
            <p:spPr>
              <a:xfrm>
                <a:off x="11190375" y="2304175"/>
                <a:ext cx="680196" cy="680196"/>
              </a:xfrm>
              <a:prstGeom prst="rect">
                <a:avLst/>
              </a:prstGeom>
            </p:spPr>
          </p:pic>
          <p:sp>
            <p:nvSpPr>
              <p:cNvPr id="26" name="TextBox 25">
                <a:extLst>
                  <a:ext uri="{FF2B5EF4-FFF2-40B4-BE49-F238E27FC236}">
                    <a16:creationId xmlns:a16="http://schemas.microsoft.com/office/drawing/2014/main" id="{88E6BAC0-FD8B-493E-8C04-C78C77AAEFA0}"/>
                  </a:ext>
                </a:extLst>
              </p:cNvPr>
              <p:cNvSpPr txBox="1"/>
              <p:nvPr/>
            </p:nvSpPr>
            <p:spPr>
              <a:xfrm>
                <a:off x="7849354" y="2430968"/>
                <a:ext cx="1860638" cy="726353"/>
              </a:xfrm>
              <a:prstGeom prst="rect">
                <a:avLst/>
              </a:prstGeom>
              <a:noFill/>
            </p:spPr>
            <p:txBody>
              <a:bodyPr wrap="none" lIns="182880" tIns="146304" rIns="182880" bIns="146304" rtlCol="0">
                <a:spAutoFit/>
              </a:bodyPr>
              <a:lstStyle/>
              <a:p>
                <a:pPr>
                  <a:spcAft>
                    <a:spcPts val="600"/>
                  </a:spcAft>
                </a:pPr>
                <a:r>
                  <a:rPr lang="pt-BR" sz="1400" dirty="0">
                    <a:gradFill>
                      <a:gsLst>
                        <a:gs pos="2917">
                          <a:schemeClr val="tx1"/>
                        </a:gs>
                        <a:gs pos="30000">
                          <a:schemeClr val="tx1"/>
                        </a:gs>
                      </a:gsLst>
                      <a:lin ang="5400000" scaled="0"/>
                    </a:gradFill>
                  </a:rPr>
                  <a:t>Trabalho do Azure </a:t>
                </a:r>
                <a:br>
                  <a:rPr lang="pt-BR" sz="1400" dirty="0">
                    <a:gradFill>
                      <a:gsLst>
                        <a:gs pos="2917">
                          <a:schemeClr val="tx1"/>
                        </a:gs>
                        <a:gs pos="30000">
                          <a:schemeClr val="tx1"/>
                        </a:gs>
                      </a:gsLst>
                      <a:lin ang="5400000" scaled="0"/>
                    </a:gradFill>
                  </a:rPr>
                </a:br>
                <a:r>
                  <a:rPr lang="pt-BR" sz="1400" dirty="0">
                    <a:gradFill>
                      <a:gsLst>
                        <a:gs pos="2917">
                          <a:schemeClr val="tx1"/>
                        </a:gs>
                        <a:gs pos="30000">
                          <a:schemeClr val="tx1"/>
                        </a:gs>
                      </a:gsLst>
                      <a:lin ang="5400000" scaled="0"/>
                    </a:gradFill>
                  </a:rPr>
                  <a:t>Stream Analytics</a:t>
                </a:r>
              </a:p>
            </p:txBody>
          </p:sp>
          <p:sp>
            <p:nvSpPr>
              <p:cNvPr id="27" name="TextBox 26">
                <a:extLst>
                  <a:ext uri="{FF2B5EF4-FFF2-40B4-BE49-F238E27FC236}">
                    <a16:creationId xmlns:a16="http://schemas.microsoft.com/office/drawing/2014/main" id="{5B16E33E-2C6F-4295-B6E8-A218763D13E6}"/>
                  </a:ext>
                </a:extLst>
              </p:cNvPr>
              <p:cNvSpPr txBox="1"/>
              <p:nvPr/>
            </p:nvSpPr>
            <p:spPr>
              <a:xfrm>
                <a:off x="8382671" y="4322560"/>
                <a:ext cx="855812" cy="489365"/>
              </a:xfrm>
              <a:prstGeom prst="rect">
                <a:avLst/>
              </a:prstGeom>
              <a:noFill/>
            </p:spPr>
            <p:txBody>
              <a:bodyPr wrap="none" lIns="182880" tIns="146304" rIns="182880" bIns="146304" rtlCol="0">
                <a:spAutoFit/>
              </a:bodyPr>
              <a:lstStyle/>
              <a:p>
                <a:pPr>
                  <a:lnSpc>
                    <a:spcPct val="90000"/>
                  </a:lnSpc>
                  <a:spcAft>
                    <a:spcPts val="600"/>
                  </a:spcAft>
                </a:pPr>
                <a:r>
                  <a:rPr lang="pt-BR" sz="1400">
                    <a:gradFill>
                      <a:gsLst>
                        <a:gs pos="2917">
                          <a:schemeClr val="tx1"/>
                        </a:gs>
                        <a:gs pos="30000">
                          <a:schemeClr val="tx1"/>
                        </a:gs>
                      </a:gsLst>
                      <a:lin ang="5400000" scaled="0"/>
                    </a:gradFill>
                  </a:rPr>
                  <a:t>Consulta</a:t>
                </a:r>
              </a:p>
            </p:txBody>
          </p:sp>
          <p:sp>
            <p:nvSpPr>
              <p:cNvPr id="28" name="TextBox 27">
                <a:extLst>
                  <a:ext uri="{FF2B5EF4-FFF2-40B4-BE49-F238E27FC236}">
                    <a16:creationId xmlns:a16="http://schemas.microsoft.com/office/drawing/2014/main" id="{1B375837-67C2-402E-BBFE-D618B11306FD}"/>
                  </a:ext>
                </a:extLst>
              </p:cNvPr>
              <p:cNvSpPr txBox="1"/>
              <p:nvPr/>
            </p:nvSpPr>
            <p:spPr>
              <a:xfrm>
                <a:off x="6846645" y="3758885"/>
                <a:ext cx="416781" cy="193899"/>
              </a:xfrm>
              <a:prstGeom prst="rect">
                <a:avLst/>
              </a:prstGeom>
              <a:noFill/>
            </p:spPr>
            <p:txBody>
              <a:bodyPr wrap="none" lIns="0" tIns="0" rIns="0" bIns="0" rtlCol="0">
                <a:spAutoFit/>
              </a:bodyPr>
              <a:lstStyle/>
              <a:p>
                <a:pPr>
                  <a:lnSpc>
                    <a:spcPct val="90000"/>
                  </a:lnSpc>
                  <a:spcAft>
                    <a:spcPts val="600"/>
                  </a:spcAft>
                </a:pPr>
                <a:r>
                  <a:rPr lang="pt-BR" sz="1400">
                    <a:gradFill>
                      <a:gsLst>
                        <a:gs pos="2917">
                          <a:schemeClr val="tx1"/>
                        </a:gs>
                        <a:gs pos="30000">
                          <a:schemeClr val="tx1"/>
                        </a:gs>
                      </a:gsLst>
                      <a:lin ang="5400000" scaled="0"/>
                    </a:gradFill>
                  </a:rPr>
                  <a:t>Entrada</a:t>
                </a:r>
              </a:p>
            </p:txBody>
          </p:sp>
          <p:sp>
            <p:nvSpPr>
              <p:cNvPr id="29" name="TextBox 28">
                <a:extLst>
                  <a:ext uri="{FF2B5EF4-FFF2-40B4-BE49-F238E27FC236}">
                    <a16:creationId xmlns:a16="http://schemas.microsoft.com/office/drawing/2014/main" id="{1CA6D1BA-0BA2-40F9-8856-2C7E4A844782}"/>
                  </a:ext>
                </a:extLst>
              </p:cNvPr>
              <p:cNvSpPr txBox="1"/>
              <p:nvPr/>
            </p:nvSpPr>
            <p:spPr>
              <a:xfrm>
                <a:off x="10174004" y="3731637"/>
                <a:ext cx="613951" cy="193899"/>
              </a:xfrm>
              <a:prstGeom prst="rect">
                <a:avLst/>
              </a:prstGeom>
              <a:noFill/>
            </p:spPr>
            <p:txBody>
              <a:bodyPr wrap="none" lIns="0" tIns="0" rIns="0" bIns="0" rtlCol="0">
                <a:spAutoFit/>
              </a:bodyPr>
              <a:lstStyle/>
              <a:p>
                <a:pPr>
                  <a:lnSpc>
                    <a:spcPct val="90000"/>
                  </a:lnSpc>
                  <a:spcAft>
                    <a:spcPts val="600"/>
                  </a:spcAft>
                </a:pPr>
                <a:r>
                  <a:rPr lang="pt-BR" sz="1400">
                    <a:gradFill>
                      <a:gsLst>
                        <a:gs pos="2917">
                          <a:schemeClr val="tx1"/>
                        </a:gs>
                        <a:gs pos="30000">
                          <a:schemeClr val="tx1"/>
                        </a:gs>
                      </a:gsLst>
                      <a:lin ang="5400000" scaled="0"/>
                    </a:gradFill>
                  </a:rPr>
                  <a:t>Saída </a:t>
                </a:r>
              </a:p>
            </p:txBody>
          </p:sp>
        </p:grpSp>
        <p:pic>
          <p:nvPicPr>
            <p:cNvPr id="24" name="Picture 8" descr="Ver a imagem da fonte">
              <a:extLst>
                <a:ext uri="{FF2B5EF4-FFF2-40B4-BE49-F238E27FC236}">
                  <a16:creationId xmlns:a16="http://schemas.microsoft.com/office/drawing/2014/main" id="{88C81927-B3A5-4F8B-AA67-5C6F1C6F6CB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1267684" y="5704677"/>
              <a:ext cx="680196" cy="70853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05072586"/>
      </p:ext>
    </p:extLst>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xe">
  <a:themeElements>
    <a:clrScheme name="Letreiro">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Para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BD6AD8FC1E56A458145229AED6DCB5B" ma:contentTypeVersion="7" ma:contentTypeDescription="Crie um novo documento." ma:contentTypeScope="" ma:versionID="81746ee0b7c373162ff08557ea87d6e6">
  <xsd:schema xmlns:xsd="http://www.w3.org/2001/XMLSchema" xmlns:xs="http://www.w3.org/2001/XMLSchema" xmlns:p="http://schemas.microsoft.com/office/2006/metadata/properties" xmlns:ns2="f9c6aece-6d54-4d7a-8611-3aaa31c45e72" targetNamespace="http://schemas.microsoft.com/office/2006/metadata/properties" ma:root="true" ma:fieldsID="248e123cda8821172468f10a3bf95627" ns2:_="">
    <xsd:import namespace="f9c6aece-6d54-4d7a-8611-3aaa31c45e7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c6aece-6d54-4d7a-8611-3aaa31c45e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6B3E96-C982-4D62-91C4-997781EB70DB}">
  <ds:schemaRefs>
    <ds:schemaRef ds:uri="f9c6aece-6d54-4d7a-8611-3aaa31c45e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F95765D-609F-43D9-809F-69E2BC6AC4A5}">
  <ds:schemaRefs>
    <ds:schemaRef ds:uri="http://schemas.microsoft.com/sharepoint/v3/contenttype/forms"/>
  </ds:schemaRefs>
</ds:datastoreItem>
</file>

<file path=customXml/itemProps3.xml><?xml version="1.0" encoding="utf-8"?>
<ds:datastoreItem xmlns:ds="http://schemas.openxmlformats.org/officeDocument/2006/customXml" ds:itemID="{07DD4F50-5FC3-4701-9BDF-37DD1C0FF15F}">
  <ds:schemaRefs>
    <ds:schemaRef ds:uri="http://purl.org/dc/terms/"/>
    <ds:schemaRef ds:uri="http://purl.org/dc/elements/1.1/"/>
    <ds:schemaRef ds:uri="http://schemas.microsoft.com/office/2006/documentManagement/types"/>
    <ds:schemaRef ds:uri="http://purl.org/dc/dcmitype/"/>
    <ds:schemaRef ds:uri="http://schemas.microsoft.com/office/2006/metadata/properties"/>
    <ds:schemaRef ds:uri="f9c6aece-6d54-4d7a-8611-3aaa31c45e72"/>
    <ds:schemaRef ds:uri="http://www.w3.org/XML/1998/namespac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199</TotalTime>
  <Words>1440</Words>
  <Application>Microsoft Office PowerPoint</Application>
  <PresentationFormat>Widescreen</PresentationFormat>
  <Paragraphs>98</Paragraphs>
  <Slides>8</Slides>
  <Notes>3</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8</vt:i4>
      </vt:variant>
    </vt:vector>
  </HeadingPairs>
  <TitlesOfParts>
    <vt:vector size="14" baseType="lpstr">
      <vt:lpstr>Arial</vt:lpstr>
      <vt:lpstr>Calibri</vt:lpstr>
      <vt:lpstr>Corbel</vt:lpstr>
      <vt:lpstr>Courier New</vt:lpstr>
      <vt:lpstr>Segoe UI</vt:lpstr>
      <vt:lpstr>Paralaxe</vt:lpstr>
      <vt:lpstr>Análise de dados</vt:lpstr>
      <vt:lpstr>Apresentação do PowerPoint</vt:lpstr>
      <vt:lpstr>Apresentação do PowerPoint</vt:lpstr>
      <vt:lpstr>Apresentação do PowerPoint</vt:lpstr>
      <vt:lpstr>Apresentação do PowerPoint</vt:lpstr>
      <vt:lpstr>Processamento em lotes x de fluxo</vt:lpstr>
      <vt:lpstr>Pipelines de processamento e ingestão de dados</vt:lpstr>
      <vt:lpstr>Processamento de dados em tempo real com o  Azure Stream Analytics</vt:lpstr>
    </vt:vector>
  </TitlesOfParts>
  <Company>SESI SENAI SP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METROLOGIA</dc:title>
  <dc:creator>Usuário do Windows</dc:creator>
  <cp:lastModifiedBy>SENAI CFP 603</cp:lastModifiedBy>
  <cp:revision>15</cp:revision>
  <dcterms:created xsi:type="dcterms:W3CDTF">2019-07-24T00:28:33Z</dcterms:created>
  <dcterms:modified xsi:type="dcterms:W3CDTF">2022-10-08T16:01:21Z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0x0101007BD6AD8FC1E56A458145229AED6DCB5B</vt:lpwstr>
  </property>
</Properties>
</file>