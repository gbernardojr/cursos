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551" r:id="rId1"/>
  </p:sldMasterIdLst>
  <p:notesMasterIdLst>
    <p:notesMasterId r:id="rId17"/>
  </p:notesMasterIdLst>
  <p:handoutMasterIdLst>
    <p:handoutMasterId r:id="rId18"/>
  </p:handoutMasterIdLst>
  <p:sldIdLst>
    <p:sldId id="1749" r:id="rId2"/>
    <p:sldId id="1670" r:id="rId3"/>
    <p:sldId id="3125" r:id="rId4"/>
    <p:sldId id="2134805650" r:id="rId5"/>
    <p:sldId id="2134805651" r:id="rId6"/>
    <p:sldId id="2134805655" r:id="rId7"/>
    <p:sldId id="2134805656" r:id="rId8"/>
    <p:sldId id="2134805652" r:id="rId9"/>
    <p:sldId id="2134805654" r:id="rId10"/>
    <p:sldId id="2134805653" r:id="rId11"/>
    <p:sldId id="2134805546" r:id="rId12"/>
    <p:sldId id="2134805657" r:id="rId13"/>
    <p:sldId id="2134805658" r:id="rId14"/>
    <p:sldId id="3493" r:id="rId15"/>
    <p:sldId id="1884" r:id="rId1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6"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C2B1"/>
    <a:srgbClr val="59B4D9"/>
    <a:srgbClr val="3C3C41"/>
    <a:srgbClr val="4BCBEE"/>
    <a:srgbClr val="1392B4"/>
    <a:srgbClr val="0B556A"/>
    <a:srgbClr val="EBEBEB"/>
    <a:srgbClr val="FFFFFF"/>
    <a:srgbClr val="FFF100"/>
    <a:srgbClr val="75757A"/>
  </p:clrMru>
  <p:extLst>
    <p:ext uri="{E76CE94A-603C-4142-B9EB-6D1370010A27}">
      <p14:discardImageEditData xmlns:p14="http://schemas.microsoft.com/office/powerpoint/2010/main" val="1"/>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229" autoAdjust="0"/>
    <p:restoredTop sz="93162" autoAdjust="0"/>
  </p:normalViewPr>
  <p:slideViewPr>
    <p:cSldViewPr snapToGrid="0">
      <p:cViewPr varScale="1">
        <p:scale>
          <a:sx n="119" d="100"/>
          <a:sy n="119" d="100"/>
        </p:scale>
        <p:origin x="1349" y="96"/>
      </p:cViewPr>
      <p:guideLst/>
    </p:cSldViewPr>
  </p:slideViewPr>
  <p:outlineViewPr>
    <p:cViewPr>
      <p:scale>
        <a:sx n="33" d="100"/>
        <a:sy n="33" d="100"/>
      </p:scale>
      <p:origin x="0" y="-4776"/>
    </p:cViewPr>
  </p:outlineViewPr>
  <p:notesTextViewPr>
    <p:cViewPr>
      <p:scale>
        <a:sx n="1" d="1"/>
        <a:sy n="1" d="1"/>
      </p:scale>
      <p:origin x="0" y="0"/>
    </p:cViewPr>
  </p:notesTextViewPr>
  <p:sorterViewPr>
    <p:cViewPr>
      <p:scale>
        <a:sx n="50" d="100"/>
        <a:sy n="50" d="100"/>
      </p:scale>
      <p:origin x="0" y="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5/5/2022 2:44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CE60099-03E7-4FA1-8A7F-E6E6CFB0F855}" type="datetime8">
              <a:rPr lang="en-US" smtClean="0"/>
              <a:t>5/5/2022 2:44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484814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pt-BR"/>
              <a:t>Este módulo demora aproximadamente 90 minutos, inclusive 15 a 20 minutos para cada exercício de laboratório.</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fld id="{9427A7F7-BB1E-479D-AFAA-B52F4D0C99F2}" type="datetime8">
              <a:rPr lang="en-US" smtClean="0"/>
              <a:t>5/5/2022 2:44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1958519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pt-BR" sz="400" b="0" i="0" u="none" strike="noStrike" cap="none" normalizeH="0" baseline="0" noProof="0">
                <a:ln>
                  <a:noFill/>
                </a:ln>
                <a:gradFill>
                  <a:gsLst>
                    <a:gs pos="0">
                      <a:prstClr val="black"/>
                    </a:gs>
                    <a:gs pos="100000">
                      <a:prstClr val="black"/>
                    </a:gs>
                  </a:gsLst>
                  <a:lin ang="5400000" scaled="0"/>
                </a:gradFill>
                <a:uLnTx/>
                <a:uFillTx/>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5/5/2022 2:44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88958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333"/>
              </a:spcAft>
              <a:buClrTx/>
              <a:buSzTx/>
              <a:buFontTx/>
              <a:buNone/>
              <a:tabLst/>
              <a:defRPr/>
            </a:pPr>
            <a:r>
              <a:rPr lang="pt-BR" sz="800" b="0" dirty="0">
                <a:solidFill>
                  <a:srgbClr val="171717"/>
                </a:solidFill>
                <a:latin typeface="Segoe UI" panose="020B0502040204020203" pitchFamily="34" charset="0"/>
              </a:rPr>
              <a:t>O Armazenamento de Blobs do Azure é um serviço que permite armazenar grandes volumes de dados não estruturados, ou</a:t>
            </a:r>
            <a:r>
              <a:rPr lang="pt-BR" sz="800" b="0" i="0" dirty="0">
                <a:solidFill>
                  <a:srgbClr val="171717"/>
                </a:solidFill>
                <a:latin typeface="Segoe UI" panose="020B0502040204020203" pitchFamily="34" charset="0"/>
              </a:rPr>
              <a:t> </a:t>
            </a:r>
            <a:r>
              <a:rPr lang="pt-BR" sz="800" b="0" i="1" dirty="0">
                <a:solidFill>
                  <a:srgbClr val="171717"/>
                </a:solidFill>
                <a:latin typeface="Segoe UI" panose="020B0502040204020203" pitchFamily="34" charset="0"/>
              </a:rPr>
              <a:t>blobs</a:t>
            </a:r>
            <a:r>
              <a:rPr lang="pt-BR" sz="800" b="0" dirty="0">
                <a:solidFill>
                  <a:srgbClr val="171717"/>
                </a:solidFill>
                <a:latin typeface="Segoe UI" panose="020B0502040204020203" pitchFamily="34" charset="0"/>
              </a:rPr>
              <a:t>, na nuvem.</a:t>
            </a:r>
            <a:r>
              <a:rPr lang="pt-BR" sz="800" b="0" i="0" dirty="0">
                <a:solidFill>
                  <a:srgbClr val="171717"/>
                </a:solidFill>
                <a:latin typeface="Segoe UI" panose="020B0502040204020203" pitchFamily="34" charset="0"/>
              </a:rPr>
              <a:t> </a:t>
            </a:r>
            <a:r>
              <a:rPr lang="pt-BR" sz="800" b="0" dirty="0">
                <a:solidFill>
                  <a:srgbClr val="171717"/>
                </a:solidFill>
                <a:latin typeface="Segoe UI" panose="020B0502040204020203" pitchFamily="34" charset="0"/>
              </a:rPr>
              <a:t>Em uma conta de armazenamento do Azure, você cria blobs dentro de</a:t>
            </a:r>
            <a:r>
              <a:rPr lang="pt-BR" sz="800" b="0" i="0" dirty="0">
                <a:solidFill>
                  <a:srgbClr val="171717"/>
                </a:solidFill>
                <a:latin typeface="Segoe UI" panose="020B0502040204020203" pitchFamily="34" charset="0"/>
              </a:rPr>
              <a:t> </a:t>
            </a:r>
            <a:r>
              <a:rPr lang="pt-BR" sz="800" b="0" i="1" dirty="0">
                <a:solidFill>
                  <a:srgbClr val="171717"/>
                </a:solidFill>
                <a:latin typeface="Segoe UI" panose="020B0502040204020203" pitchFamily="34" charset="0"/>
              </a:rPr>
              <a:t>contêineres</a:t>
            </a:r>
            <a:r>
              <a:rPr lang="pt-BR" sz="800" b="0" i="0" dirty="0">
                <a:solidFill>
                  <a:srgbClr val="171717"/>
                </a:solidFill>
                <a:latin typeface="Segoe UI" panose="020B0502040204020203" pitchFamily="34" charset="0"/>
              </a:rPr>
              <a:t>. Um contêiner fornece uma forma conveniente de agrupar blobs relacionados, e você pode organizar blobs em uma hierarquia de pastas, semelhante aos arquivos em um sistema de arquivos no disco. Você controla quem pode ler e gravar blobs dentro de um contêiner no nível do contêiner.</a:t>
            </a:r>
          </a:p>
          <a:p>
            <a:pPr algn="l">
              <a:lnSpc>
                <a:spcPct val="100000"/>
              </a:lnSpc>
            </a:pPr>
            <a:endParaRPr lang="en-US" sz="800" b="0" i="0" dirty="0">
              <a:solidFill>
                <a:srgbClr val="171717"/>
              </a:solidFill>
              <a:effectLst/>
              <a:latin typeface="Segoe UI" panose="020B0502040204020203" pitchFamily="34" charset="0"/>
            </a:endParaRPr>
          </a:p>
          <a:p>
            <a:pPr algn="l">
              <a:lnSpc>
                <a:spcPct val="100000"/>
              </a:lnSpc>
            </a:pPr>
            <a:r>
              <a:rPr lang="pt-BR" sz="800" b="0" i="0" dirty="0">
                <a:solidFill>
                  <a:srgbClr val="171717"/>
                </a:solidFill>
                <a:latin typeface="Segoe UI" panose="020B0502040204020203" pitchFamily="34" charset="0"/>
              </a:rPr>
              <a:t>O Armazenamento de Blobs do Azure é compatível com três tipos de blobs:</a:t>
            </a:r>
          </a:p>
          <a:p>
            <a:pPr marL="171450" indent="-171450" algn="l">
              <a:lnSpc>
                <a:spcPct val="100000"/>
              </a:lnSpc>
              <a:buFont typeface="Arial" panose="020B0604020202020204" pitchFamily="34" charset="0"/>
              <a:buChar char="•"/>
            </a:pPr>
            <a:r>
              <a:rPr lang="pt-BR" sz="800" b="0" i="1" dirty="0">
                <a:solidFill>
                  <a:srgbClr val="171717"/>
                </a:solidFill>
                <a:latin typeface="Segoe UI" panose="020B0502040204020203" pitchFamily="34" charset="0"/>
              </a:rPr>
              <a:t>Blobs de blocos</a:t>
            </a:r>
            <a:r>
              <a:rPr lang="pt-BR" sz="800" b="0" i="0" dirty="0">
                <a:solidFill>
                  <a:srgbClr val="171717"/>
                </a:solidFill>
                <a:latin typeface="Segoe UI" panose="020B0502040204020203" pitchFamily="34" charset="0"/>
              </a:rPr>
              <a:t>. Um blob de blocos é tratado como um conjunto de blocos. Cada bloco pode variar de tamanho e ter até 100 MB. Um blob de blocos pode conter até 50.000 blocos e oferecer um tamanho máximo de mais de 4,7 TB. O bloco é o menor volume de dados que podem ser lidos ou gravados como uma só unidade. Os blobs de blocos são mais adequados para armazenar objetos binários, grandes e discretos que são alterados com pouca frequência.</a:t>
            </a:r>
          </a:p>
          <a:p>
            <a:pPr marL="171450" indent="-171450" algn="l">
              <a:lnSpc>
                <a:spcPct val="100000"/>
              </a:lnSpc>
              <a:buFont typeface="Arial" panose="020B0604020202020204" pitchFamily="34" charset="0"/>
              <a:buChar char="•"/>
            </a:pPr>
            <a:r>
              <a:rPr lang="pt-BR" sz="800" b="0" i="1" dirty="0">
                <a:solidFill>
                  <a:srgbClr val="171717"/>
                </a:solidFill>
                <a:latin typeface="Segoe UI" panose="020B0502040204020203" pitchFamily="34" charset="0"/>
              </a:rPr>
              <a:t>Blobs de páginas</a:t>
            </a:r>
            <a:r>
              <a:rPr lang="pt-BR" sz="800" b="0" i="0" dirty="0">
                <a:solidFill>
                  <a:srgbClr val="171717"/>
                </a:solidFill>
                <a:latin typeface="Segoe UI" panose="020B0502040204020203" pitchFamily="34" charset="0"/>
              </a:rPr>
              <a:t>. Um blob de páginas é organizado como uma coleção de páginas de tamanho fixo de 512 bytes. Um blob de páginas é otimizado para dar suporte a operações de leitura e gravação aleatórias. Você pode buscar e armazenar dados para uma única página, se necessário. Um blob de páginas pode ter até 8 TB de dados. O Azure usa blobs de páginas para implementar o armazenamento em disco virtual para máquinas virtuais.</a:t>
            </a:r>
          </a:p>
          <a:p>
            <a:pPr marL="171450" indent="-171450" algn="l">
              <a:lnSpc>
                <a:spcPct val="100000"/>
              </a:lnSpc>
              <a:buFont typeface="Arial" panose="020B0604020202020204" pitchFamily="34" charset="0"/>
              <a:buChar char="•"/>
            </a:pPr>
            <a:r>
              <a:rPr lang="pt-BR" sz="800" b="0" i="1" dirty="0">
                <a:solidFill>
                  <a:srgbClr val="171717"/>
                </a:solidFill>
                <a:latin typeface="Segoe UI" panose="020B0502040204020203" pitchFamily="34" charset="0"/>
              </a:rPr>
              <a:t>Blobs de acréscimo</a:t>
            </a:r>
            <a:r>
              <a:rPr lang="pt-BR" sz="800" b="0" i="0" dirty="0">
                <a:solidFill>
                  <a:srgbClr val="171717"/>
                </a:solidFill>
                <a:latin typeface="Segoe UI" panose="020B0502040204020203" pitchFamily="34" charset="0"/>
              </a:rPr>
              <a:t>. Um blob de acréscimo é um blob de blocos otimizado para dar suporte a operações de acréscimo. Você só pode adicionar blocos ao final de um blob de acréscimo. Não há suporte para atualização ou exclusão de blocos. Cada bloco pode variar de tamanho e ter até 4 MB. O tamanho máximo de um blob de acréscimo é de mais de 195 GB.</a:t>
            </a:r>
          </a:p>
          <a:p>
            <a:pPr>
              <a:lnSpc>
                <a:spcPct val="100000"/>
              </a:lnSpc>
            </a:pPr>
            <a:endParaRPr lang="en-US" sz="800" dirty="0"/>
          </a:p>
          <a:p>
            <a:pPr algn="l">
              <a:lnSpc>
                <a:spcPct val="100000"/>
              </a:lnSpc>
            </a:pPr>
            <a:r>
              <a:rPr lang="pt-BR" sz="800" b="0" i="0" dirty="0">
                <a:solidFill>
                  <a:srgbClr val="171717"/>
                </a:solidFill>
                <a:latin typeface="Segoe UI" panose="020B0502040204020203" pitchFamily="34" charset="0"/>
              </a:rPr>
              <a:t>O Armazenamento de Blobs fornece três camadas de acesso, que ajudam a balancear a latência de acesso e o custo de armazenamento:</a:t>
            </a:r>
          </a:p>
          <a:p>
            <a:pPr marL="171450" indent="-171450" algn="l">
              <a:lnSpc>
                <a:spcPct val="100000"/>
              </a:lnSpc>
              <a:buFont typeface="Arial" panose="020B0604020202020204" pitchFamily="34" charset="0"/>
              <a:buChar char="•"/>
            </a:pPr>
            <a:r>
              <a:rPr lang="pt-BR" sz="800" b="0" dirty="0">
                <a:solidFill>
                  <a:srgbClr val="171717"/>
                </a:solidFill>
                <a:latin typeface="Segoe UI" panose="020B0502040204020203" pitchFamily="34" charset="0"/>
              </a:rPr>
              <a:t>A camada </a:t>
            </a:r>
            <a:r>
              <a:rPr lang="pt-BR" sz="800" b="0" i="1" dirty="0">
                <a:solidFill>
                  <a:srgbClr val="171717"/>
                </a:solidFill>
                <a:latin typeface="Segoe UI" panose="020B0502040204020203" pitchFamily="34" charset="0"/>
              </a:rPr>
              <a:t>Frequente</a:t>
            </a:r>
            <a:r>
              <a:rPr lang="pt-BR" sz="800" b="0" dirty="0">
                <a:solidFill>
                  <a:srgbClr val="171717"/>
                </a:solidFill>
                <a:latin typeface="Segoe UI" panose="020B0502040204020203" pitchFamily="34" charset="0"/>
              </a:rPr>
              <a:t> é a </a:t>
            </a:r>
            <a:r>
              <a:rPr lang="pt-BR" sz="800" b="0" i="0" dirty="0">
                <a:solidFill>
                  <a:srgbClr val="171717"/>
                </a:solidFill>
                <a:latin typeface="Segoe UI" panose="020B0502040204020203" pitchFamily="34" charset="0"/>
              </a:rPr>
              <a:t>padrão. Você usa essa camada para os blobs que são acessados com frequência. Os dados de blob são armazenados em mídia de alto desempenho.</a:t>
            </a:r>
          </a:p>
          <a:p>
            <a:pPr marL="171450" indent="-171450" algn="l">
              <a:lnSpc>
                <a:spcPct val="100000"/>
              </a:lnSpc>
              <a:buFont typeface="Arial" panose="020B0604020202020204" pitchFamily="34" charset="0"/>
              <a:buChar char="•"/>
            </a:pPr>
            <a:r>
              <a:rPr lang="pt-BR" sz="800" b="0" dirty="0">
                <a:solidFill>
                  <a:srgbClr val="171717"/>
                </a:solidFill>
                <a:latin typeface="Segoe UI" panose="020B0502040204020203" pitchFamily="34" charset="0"/>
              </a:rPr>
              <a:t>A camada </a:t>
            </a:r>
            <a:r>
              <a:rPr lang="pt-BR" sz="800" b="0" i="1" dirty="0">
                <a:solidFill>
                  <a:srgbClr val="171717"/>
                </a:solidFill>
                <a:latin typeface="Segoe UI" panose="020B0502040204020203" pitchFamily="34" charset="0"/>
              </a:rPr>
              <a:t>Esporádica</a:t>
            </a:r>
            <a:r>
              <a:rPr lang="pt-BR" sz="800" b="0" i="0" dirty="0">
                <a:solidFill>
                  <a:srgbClr val="171717"/>
                </a:solidFill>
                <a:latin typeface="Segoe UI" panose="020B0502040204020203" pitchFamily="34" charset="0"/>
              </a:rPr>
              <a:t> tem um desempenho inferior e incorre em preços de armazenamento reduzidos em comparação com a camada Frequente. Use a camada Esporádica para os dados que são acessados com pouca frequência. É comum que os blobs recém-criados sejam acessados inicialmente com frequência, mas com o passar do tempo, isso diminui. Nessas situações, você pode criar o blob na camada Frequente, mas migrá-lo para a camada Esporádica mais tarde. Você pode migrar um blob da camada Esporádica de volta para a camada Frequente.</a:t>
            </a:r>
          </a:p>
          <a:p>
            <a:pPr marL="171450" indent="-171450" algn="l">
              <a:lnSpc>
                <a:spcPct val="100000"/>
              </a:lnSpc>
              <a:buFont typeface="Arial" panose="020B0604020202020204" pitchFamily="34" charset="0"/>
              <a:buChar char="•"/>
            </a:pPr>
            <a:r>
              <a:rPr lang="pt-BR" sz="800" b="0" dirty="0">
                <a:solidFill>
                  <a:srgbClr val="171717"/>
                </a:solidFill>
                <a:latin typeface="Segoe UI" panose="020B0502040204020203" pitchFamily="34" charset="0"/>
              </a:rPr>
              <a:t>A camada de </a:t>
            </a:r>
            <a:r>
              <a:rPr lang="pt-BR" sz="800" b="0" i="1" dirty="0">
                <a:solidFill>
                  <a:srgbClr val="171717"/>
                </a:solidFill>
                <a:latin typeface="Segoe UI" panose="020B0502040204020203" pitchFamily="34" charset="0"/>
              </a:rPr>
              <a:t>Arquivos</a:t>
            </a:r>
            <a:r>
              <a:rPr lang="pt-BR" sz="800" b="0" i="0" dirty="0">
                <a:solidFill>
                  <a:srgbClr val="171717"/>
                </a:solidFill>
                <a:latin typeface="Segoe UI" panose="020B0502040204020203" pitchFamily="34" charset="0"/>
              </a:rPr>
              <a:t>. Essa camada fornece o menor custo de armazenamento, mas maior latência. A camada de Arquivos se destina a dados históricos que não devem ser perdidos, mas só é necessária raramente. Os blobs na camada de Arquivos são efetivamente armazenados em um estado offline. A latência de leitura típica para as camadas Frequente e Esporádica é de alguns milissegundos, mas, para a camada de Arquivos, pode levar horas para que os dados fiquem disponíveis. Para recuperar um blob da camada de Arquivos, você precisa alterar a camada de acesso para Frequente ou Esporádica. </a:t>
            </a:r>
            <a:r>
              <a:rPr lang="pt-BR" sz="800" b="0" dirty="0">
                <a:solidFill>
                  <a:srgbClr val="171717"/>
                </a:solidFill>
                <a:latin typeface="Segoe UI" panose="020B0502040204020203" pitchFamily="34" charset="0"/>
              </a:rPr>
              <a:t>Em seguida, o </a:t>
            </a:r>
            <a:r>
              <a:rPr lang="pt-BR" sz="800" b="0" i="0" dirty="0">
                <a:solidFill>
                  <a:srgbClr val="171717"/>
                </a:solidFill>
                <a:latin typeface="Segoe UI" panose="020B0502040204020203" pitchFamily="34" charset="0"/>
              </a:rPr>
              <a:t>blob</a:t>
            </a:r>
            <a:r>
              <a:rPr lang="pt-BR" sz="800" b="0" dirty="0">
                <a:solidFill>
                  <a:srgbClr val="171717"/>
                </a:solidFill>
                <a:latin typeface="Segoe UI" panose="020B0502040204020203" pitchFamily="34" charset="0"/>
              </a:rPr>
              <a:t> será </a:t>
            </a:r>
            <a:r>
              <a:rPr lang="pt-BR" sz="800" b="0" i="1" dirty="0">
                <a:solidFill>
                  <a:srgbClr val="171717"/>
                </a:solidFill>
                <a:latin typeface="Segoe UI" panose="020B0502040204020203" pitchFamily="34" charset="0"/>
              </a:rPr>
              <a:t>reidratado</a:t>
            </a:r>
            <a:r>
              <a:rPr lang="pt-BR" sz="800" b="0" i="0" dirty="0">
                <a:solidFill>
                  <a:srgbClr val="171717"/>
                </a:solidFill>
                <a:latin typeface="Segoe UI" panose="020B0502040204020203" pitchFamily="34" charset="0"/>
              </a:rPr>
              <a:t>. Você só poderá ler o blob quando o processo de reidratação estiver concluído.</a:t>
            </a:r>
          </a:p>
          <a:p>
            <a:pPr algn="l">
              <a:lnSpc>
                <a:spcPct val="100000"/>
              </a:lnSpc>
            </a:pPr>
            <a:endParaRPr lang="en-US" sz="800" b="0" i="0" dirty="0">
              <a:solidFill>
                <a:srgbClr val="171717"/>
              </a:solidFill>
              <a:effectLst/>
              <a:latin typeface="Segoe UI" panose="020B0502040204020203" pitchFamily="34" charset="0"/>
            </a:endParaRPr>
          </a:p>
          <a:p>
            <a:pPr algn="l">
              <a:lnSpc>
                <a:spcPct val="100000"/>
              </a:lnSpc>
            </a:pPr>
            <a:r>
              <a:rPr lang="pt-BR" sz="800" b="0" i="0" dirty="0">
                <a:solidFill>
                  <a:srgbClr val="171717"/>
                </a:solidFill>
                <a:latin typeface="Segoe UI" panose="020B0502040204020203" pitchFamily="34" charset="0"/>
              </a:rPr>
              <a:t>Você pode criar políticas de gerenciamento do ciclo de vida para os blobs em uma conta de armazenamento. Uma política de gerenciamento do ciclo de vida pode migrar automaticamente um blob da camada Frequente para a Esporádica, depois para a camada de Arquivos, pois ele fica antigo e é usado com menos frequência (a política é baseada no número de dias desde a modificação). Uma política de gerenciamento do ciclo de vida também pode ser organizada para excluir blobs desatualizados.</a:t>
            </a:r>
          </a:p>
          <a:p>
            <a:pPr>
              <a:lnSpc>
                <a:spcPct val="100000"/>
              </a:lnSpc>
            </a:pPr>
            <a:endParaRPr lang="en-US" sz="800"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4009592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dirty="0"/>
              <a:t>O Azure Data Lake Storage Gen 1 é um serviço separado para armazenamento de dados hierárquicos para data lakes analíticos. O Azure Data Lake Storage Gen 2 está integrado ao Armazenamento do Azure para você aproveitar a escalabilidade do armazenamento de blobs e o controle de custos das camadas de armazenamento combinadas com os recursos do sistema de arquivos hierárquico e a compatibilidade com os principais sistemas de análise do Azure Data Lake Store.</a:t>
            </a:r>
          </a:p>
          <a:p>
            <a:pPr>
              <a:lnSpc>
                <a:spcPct val="100000"/>
              </a:lnSpc>
            </a:pPr>
            <a:endParaRPr lang="en-US" dirty="0"/>
          </a:p>
          <a:p>
            <a:pPr>
              <a:lnSpc>
                <a:spcPct val="100000"/>
              </a:lnSpc>
            </a:pPr>
            <a:r>
              <a:rPr lang="pt-BR" dirty="0"/>
              <a:t>Sistemas, como o Hadoop no Azure HDInsight, Azure Databricks e Azure Synapse Analytics, podem montar um sistema de arquivos distribuído hospedado no Azure Data Lake Store Gen 2 e usá-lo para processar grandes volumes de dados.</a:t>
            </a:r>
          </a:p>
          <a:p>
            <a:pPr>
              <a:lnSpc>
                <a:spcPct val="100000"/>
              </a:lnSpc>
            </a:pPr>
            <a:endParaRPr lang="en-US" dirty="0"/>
          </a:p>
          <a:p>
            <a:pPr>
              <a:lnSpc>
                <a:spcPct val="100000"/>
              </a:lnSpc>
            </a:pPr>
            <a:r>
              <a:rPr lang="pt-BR" dirty="0"/>
              <a:t>Para criar um sistema de arquivos do Azure Data Lake Store Gen 2, você deve habilitar a opção </a:t>
            </a:r>
            <a:r>
              <a:rPr lang="pt-BR" b="1" dirty="0"/>
              <a:t>Namespace Hierárquico</a:t>
            </a:r>
            <a:r>
              <a:rPr lang="pt-BR" dirty="0"/>
              <a:t> de uma conta de Armazenamento do Azure.</a:t>
            </a:r>
            <a:r>
              <a:rPr lang="pt-BR" b="0" dirty="0"/>
              <a:t> Você pode fazer isso ao criar inicialmente a conta de armazenamento ou atualizar uma conta de armazenamento do Azure para dar suporte ao Data Lake Gen2. A atualização é um processo unidirecional. Após atualizar uma conta de armazenamento para dar suporte a um namespace hierárquico para armazenamento de blobs, você não poderá revertê-la para um namespace simples.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141503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dirty="0"/>
              <a:t>Os Arquivos do Azure são basicamente uma maneira de criar compartilhamentos de rede baseados em nuvem, como normalmente ocorre em organizações locais para disponibilizar documentos e outros arquivos para vários usuários. Ao hospedar compartilhamentos de arquivos no Azure, as organizações eliminam os custos de hardware e a sobrecarga de manutenção e usam o armazenamento em nuvem escalonável e de alta disponibilidade para arquivos.</a:t>
            </a:r>
          </a:p>
          <a:p>
            <a:pPr>
              <a:lnSpc>
                <a:spcPct val="100000"/>
              </a:lnSpc>
            </a:pPr>
            <a:endParaRPr lang="en-US" dirty="0"/>
          </a:p>
          <a:p>
            <a:pPr>
              <a:lnSpc>
                <a:spcPct val="100000"/>
              </a:lnSpc>
            </a:pPr>
            <a:r>
              <a:rPr lang="pt-BR" dirty="0"/>
              <a:t>O compartilhamento de arquivos SMB é usado com frequência em vários sistemas operacionais (Windows, Linux, MacOS). Os compartilhamentos NFS são usados pelas versões do Linux e MacOS. Para criar um compartilhamento NFS, você deve usar uma conta de armazenamento de camada </a:t>
            </a:r>
            <a:r>
              <a:rPr lang="pt-BR" i="1" dirty="0"/>
              <a:t>premium</a:t>
            </a:r>
            <a:r>
              <a:rPr lang="pt-BR" dirty="0"/>
              <a:t> e criar e configurar uma rede virtual para controlar o acesso ao compartilhamento.</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1620113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b="0" dirty="0">
                <a:solidFill>
                  <a:srgbClr val="171717"/>
                </a:solidFill>
                <a:latin typeface="Segoe UI" panose="020B0502040204020203" pitchFamily="34" charset="0"/>
              </a:rPr>
              <a:t>Em uma tabela de Armazenamento de Tabelas do Azure, os itens são chamados de</a:t>
            </a:r>
            <a:r>
              <a:rPr lang="pt-BR" b="0" i="0" dirty="0">
                <a:solidFill>
                  <a:srgbClr val="171717"/>
                </a:solidFill>
                <a:latin typeface="Segoe UI" panose="020B0502040204020203" pitchFamily="34" charset="0"/>
              </a:rPr>
              <a:t> </a:t>
            </a:r>
            <a:r>
              <a:rPr lang="pt-BR" b="0" i="1" dirty="0">
                <a:solidFill>
                  <a:srgbClr val="171717"/>
                </a:solidFill>
                <a:latin typeface="Segoe UI" panose="020B0502040204020203" pitchFamily="34" charset="0"/>
              </a:rPr>
              <a:t>linhas</a:t>
            </a:r>
            <a:r>
              <a:rPr lang="pt-BR" b="0" dirty="0">
                <a:solidFill>
                  <a:srgbClr val="171717"/>
                </a:solidFill>
                <a:latin typeface="Segoe UI" panose="020B0502040204020203" pitchFamily="34" charset="0"/>
              </a:rPr>
              <a:t> e os campos são conhecidos como</a:t>
            </a:r>
            <a:r>
              <a:rPr lang="pt-BR" b="0" i="0" dirty="0">
                <a:solidFill>
                  <a:srgbClr val="171717"/>
                </a:solidFill>
                <a:latin typeface="Segoe UI" panose="020B0502040204020203" pitchFamily="34" charset="0"/>
              </a:rPr>
              <a:t> </a:t>
            </a:r>
            <a:r>
              <a:rPr lang="pt-BR" b="0" i="1" dirty="0">
                <a:solidFill>
                  <a:srgbClr val="171717"/>
                </a:solidFill>
                <a:latin typeface="Segoe UI" panose="020B0502040204020203" pitchFamily="34" charset="0"/>
              </a:rPr>
              <a:t>colunas</a:t>
            </a:r>
            <a:r>
              <a:rPr lang="pt-BR" b="0" dirty="0">
                <a:solidFill>
                  <a:srgbClr val="171717"/>
                </a:solidFill>
                <a:latin typeface="Segoe UI" panose="020B0502040204020203" pitchFamily="34" charset="0"/>
              </a:rPr>
              <a:t>.</a:t>
            </a:r>
            <a:r>
              <a:rPr lang="pt-BR" b="0" i="0" dirty="0">
                <a:solidFill>
                  <a:srgbClr val="171717"/>
                </a:solidFill>
                <a:latin typeface="Segoe UI" panose="020B0502040204020203" pitchFamily="34" charset="0"/>
              </a:rPr>
              <a:t> No entanto, não se confunda com essa terminologia pensando que uma tabela do Armazenamento de Tabelas do Azure é como uma tabela em um banco de dados relacional. </a:t>
            </a:r>
            <a:r>
              <a:rPr lang="pt-BR" b="0" dirty="0">
                <a:solidFill>
                  <a:srgbClr val="171717"/>
                </a:solidFill>
                <a:latin typeface="Segoe UI" panose="020B0502040204020203" pitchFamily="34" charset="0"/>
              </a:rPr>
              <a:t>Uma </a:t>
            </a:r>
            <a:r>
              <a:rPr lang="pt-BR" b="0" i="0" dirty="0">
                <a:solidFill>
                  <a:srgbClr val="171717"/>
                </a:solidFill>
                <a:latin typeface="Segoe UI" panose="020B0502040204020203" pitchFamily="34" charset="0"/>
              </a:rPr>
              <a:t>tabela do Azure</a:t>
            </a:r>
            <a:r>
              <a:rPr lang="pt-BR" b="0" dirty="0">
                <a:solidFill>
                  <a:srgbClr val="171717"/>
                </a:solidFill>
                <a:latin typeface="Segoe UI" panose="020B0502040204020203" pitchFamily="34" charset="0"/>
              </a:rPr>
              <a:t> permite que você armazene </a:t>
            </a:r>
            <a:r>
              <a:rPr lang="pt-BR" b="0" i="0" dirty="0">
                <a:solidFill>
                  <a:srgbClr val="171717"/>
                </a:solidFill>
                <a:latin typeface="Segoe UI" panose="020B0502040204020203" pitchFamily="34" charset="0"/>
              </a:rPr>
              <a:t>dados </a:t>
            </a:r>
            <a:r>
              <a:rPr lang="pt-BR" b="0" i="1" dirty="0">
                <a:solidFill>
                  <a:srgbClr val="171717"/>
                </a:solidFill>
                <a:latin typeface="Segoe UI" panose="020B0502040204020203" pitchFamily="34" charset="0"/>
              </a:rPr>
              <a:t>semiestruturados</a:t>
            </a:r>
            <a:r>
              <a:rPr lang="pt-BR" b="0" i="0" dirty="0">
                <a:solidFill>
                  <a:srgbClr val="171717"/>
                </a:solidFill>
                <a:latin typeface="Segoe UI" panose="020B0502040204020203" pitchFamily="34" charset="0"/>
              </a:rPr>
              <a:t>. Todas as linhas de uma tabela devem ter uma chave exclusiva (composta por chave de partição e chave de linha), mas, além disso, as colunas em cada linha podem variar. Ao contrário dos bancos de dados relacionais tradicionais, as tabelas do Armazenamento de Tabelas do Azure não têm nenhum conceito de relacionamentos, procedimentos armazenados, índices secundários ou chaves estrangeiras. Os dados geralmente serão desnormalizados, com cada linha contendo todos os dados de uma entidade lógica. Por exemplo, uma tabela com informações do cliente pode armazenar o nome, o sobrenome, um ou mais números de telefone e um ou mais endereços de cada cliente. O número de campos em cada linha pode ser diferente, dependendo da quantidade de números de telefone e endereços para cada cliente e dos detalhes registrados para cada endereço. Em um banco de dados relacional, essas informações seriam divididas em linhas em várias tabelas.</a:t>
            </a:r>
          </a:p>
          <a:p>
            <a:pPr>
              <a:lnSpc>
                <a:spcPct val="100000"/>
              </a:lnSpc>
            </a:pPr>
            <a:endParaRPr lang="en-US" b="0" i="0" dirty="0">
              <a:solidFill>
                <a:srgbClr val="171717"/>
              </a:solidFill>
              <a:effectLst/>
              <a:latin typeface="Segoe UI" panose="020B0502040204020203" pitchFamily="34" charset="0"/>
            </a:endParaRPr>
          </a:p>
          <a:p>
            <a:pPr algn="l">
              <a:lnSpc>
                <a:spcPct val="100000"/>
              </a:lnSpc>
            </a:pPr>
            <a:r>
              <a:rPr lang="pt-BR" b="0" i="0" dirty="0">
                <a:solidFill>
                  <a:srgbClr val="171717"/>
                </a:solidFill>
                <a:latin typeface="Segoe UI" panose="020B0502040204020203" pitchFamily="34" charset="0"/>
              </a:rPr>
              <a:t>Para garantir o acesso rápido, o Armazenamento de Tabelas do Azure divide uma tabela em partições. </a:t>
            </a:r>
            <a:r>
              <a:rPr lang="pt-BR" b="0" dirty="0">
                <a:solidFill>
                  <a:srgbClr val="171717"/>
                </a:solidFill>
                <a:latin typeface="Segoe UI" panose="020B0502040204020203" pitchFamily="34" charset="0"/>
              </a:rPr>
              <a:t>O particionamento é um mecanismo para agrupar linhas relacionadas, com base em uma propriedade comum ou</a:t>
            </a:r>
            <a:r>
              <a:rPr lang="pt-BR" b="0" i="0" dirty="0">
                <a:solidFill>
                  <a:srgbClr val="171717"/>
                </a:solidFill>
                <a:latin typeface="Segoe UI" panose="020B0502040204020203" pitchFamily="34" charset="0"/>
              </a:rPr>
              <a:t> </a:t>
            </a:r>
            <a:r>
              <a:rPr lang="pt-BR" b="0" i="1" dirty="0">
                <a:solidFill>
                  <a:srgbClr val="171717"/>
                </a:solidFill>
                <a:latin typeface="Segoe UI" panose="020B0502040204020203" pitchFamily="34" charset="0"/>
              </a:rPr>
              <a:t>chave de partição</a:t>
            </a:r>
            <a:r>
              <a:rPr lang="pt-BR" b="0" dirty="0">
                <a:solidFill>
                  <a:srgbClr val="171717"/>
                </a:solidFill>
                <a:latin typeface="Segoe UI" panose="020B0502040204020203" pitchFamily="34" charset="0"/>
              </a:rPr>
              <a:t>.</a:t>
            </a:r>
            <a:r>
              <a:rPr lang="pt-BR" b="0" i="0" dirty="0">
                <a:solidFill>
                  <a:srgbClr val="171717"/>
                </a:solidFill>
                <a:latin typeface="Segoe UI" panose="020B0502040204020203" pitchFamily="34" charset="0"/>
              </a:rPr>
              <a:t> As linhas que compartilham a mesma chave de partição serão armazenadas em conjunto. O particionamento não só ajuda a organizar dados, mas também pode aprimorar a escalabilidade e o desempenho:</a:t>
            </a:r>
          </a:p>
          <a:p>
            <a:pPr marL="171450" indent="-171450" algn="l">
              <a:lnSpc>
                <a:spcPct val="100000"/>
              </a:lnSpc>
              <a:buFont typeface="Arial" panose="020B0604020202020204" pitchFamily="34" charset="0"/>
              <a:buChar char="•"/>
            </a:pPr>
            <a:r>
              <a:rPr lang="pt-BR" b="0" i="0" dirty="0">
                <a:solidFill>
                  <a:srgbClr val="171717"/>
                </a:solidFill>
                <a:latin typeface="Segoe UI" panose="020B0502040204020203" pitchFamily="34" charset="0"/>
              </a:rPr>
              <a:t>As partições são independentes umas das outras e podem aumentar ou diminuir à medida que linhas são adicionadas a uma partição ou removidas delas. Uma tabela pode conter qualquer número de partições.</a:t>
            </a:r>
          </a:p>
          <a:p>
            <a:pPr marL="171450" indent="-171450" algn="l">
              <a:lnSpc>
                <a:spcPct val="100000"/>
              </a:lnSpc>
              <a:buFont typeface="Arial" panose="020B0604020202020204" pitchFamily="34" charset="0"/>
              <a:buChar char="•"/>
            </a:pPr>
            <a:r>
              <a:rPr lang="pt-BR" b="0" i="0" dirty="0">
                <a:solidFill>
                  <a:srgbClr val="171717"/>
                </a:solidFill>
                <a:latin typeface="Segoe UI" panose="020B0502040204020203" pitchFamily="34" charset="0"/>
              </a:rPr>
              <a:t>Ao pesquisar dados, você pode incluir a chave de partição nos critérios de pesquisa. Isso ajuda a restringir o volume de dados a ser examinado e aprimora o desempenho, reduzindo a quantidade de E/S (leituras e gravações) necessárias para localizar os dados.</a:t>
            </a:r>
          </a:p>
          <a:p>
            <a:pPr algn="l">
              <a:lnSpc>
                <a:spcPct val="100000"/>
              </a:lnSpc>
            </a:pPr>
            <a:r>
              <a:rPr lang="pt-BR" b="0" i="0" dirty="0">
                <a:solidFill>
                  <a:srgbClr val="171717"/>
                </a:solidFill>
                <a:latin typeface="Segoe UI" panose="020B0502040204020203" pitchFamily="34" charset="0"/>
              </a:rPr>
              <a:t>A chave em uma tabela do Armazenamento de Tabelas do Azure é composta por dois elementos: a chave de partição que identifica a partição que contém a linha (conforme descrito acima) e uma chave de linha exclusiva para cada linha na mesma partição. Os itens na mesma partição são armazenados em ordem de chaves de linha. Se um aplicativo adicionar uma nova linha a uma tabela, o Azure verificará se a linha foi colocada na posição correta na tabela. </a:t>
            </a:r>
            <a:r>
              <a:rPr lang="pt-BR" b="0" dirty="0">
                <a:solidFill>
                  <a:srgbClr val="171717"/>
                </a:solidFill>
                <a:latin typeface="Segoe UI" panose="020B0502040204020203" pitchFamily="34" charset="0"/>
              </a:rPr>
              <a:t>Esse </a:t>
            </a:r>
            <a:r>
              <a:rPr lang="pt-BR" b="0" i="0" dirty="0">
                <a:solidFill>
                  <a:srgbClr val="171717"/>
                </a:solidFill>
                <a:latin typeface="Segoe UI" panose="020B0502040204020203" pitchFamily="34" charset="0"/>
              </a:rPr>
              <a:t>esquema permite que um aplicativo</a:t>
            </a:r>
            <a:r>
              <a:rPr lang="pt-BR" b="0" dirty="0">
                <a:solidFill>
                  <a:srgbClr val="171717"/>
                </a:solidFill>
                <a:latin typeface="Segoe UI" panose="020B0502040204020203" pitchFamily="34" charset="0"/>
              </a:rPr>
              <a:t> execute rapidamente</a:t>
            </a:r>
            <a:r>
              <a:rPr lang="pt-BR" b="0" i="0" dirty="0">
                <a:solidFill>
                  <a:srgbClr val="171717"/>
                </a:solidFill>
                <a:latin typeface="Segoe UI" panose="020B0502040204020203" pitchFamily="34" charset="0"/>
              </a:rPr>
              <a:t> </a:t>
            </a:r>
            <a:r>
              <a:rPr lang="pt-BR" b="0" i="1" dirty="0">
                <a:solidFill>
                  <a:srgbClr val="171717"/>
                </a:solidFill>
                <a:latin typeface="Segoe UI" panose="020B0502040204020203" pitchFamily="34" charset="0"/>
              </a:rPr>
              <a:t>Consultas de pontos</a:t>
            </a:r>
            <a:r>
              <a:rPr lang="pt-BR" b="0" dirty="0">
                <a:solidFill>
                  <a:srgbClr val="171717"/>
                </a:solidFill>
                <a:latin typeface="Segoe UI" panose="020B0502040204020203" pitchFamily="34" charset="0"/>
              </a:rPr>
              <a:t> para identificar uma única linha e </a:t>
            </a:r>
            <a:r>
              <a:rPr lang="pt-BR" b="0" i="1" dirty="0">
                <a:solidFill>
                  <a:srgbClr val="171717"/>
                </a:solidFill>
                <a:latin typeface="Segoe UI" panose="020B0502040204020203" pitchFamily="34" charset="0"/>
              </a:rPr>
              <a:t>Consultas de intervalo</a:t>
            </a:r>
            <a:r>
              <a:rPr lang="pt-BR" b="0" i="0" dirty="0">
                <a:solidFill>
                  <a:srgbClr val="171717"/>
                </a:solidFill>
                <a:latin typeface="Segoe UI" panose="020B0502040204020203" pitchFamily="34" charset="0"/>
              </a:rPr>
              <a:t> </a:t>
            </a:r>
            <a:r>
              <a:rPr lang="pt-BR" b="0" dirty="0">
                <a:solidFill>
                  <a:srgbClr val="171717"/>
                </a:solidFill>
                <a:latin typeface="Segoe UI" panose="020B0502040204020203" pitchFamily="34" charset="0"/>
              </a:rPr>
              <a:t>que busquem um bloco contíguo de linhas em uma partição.</a:t>
            </a:r>
          </a:p>
          <a:p>
            <a:pPr>
              <a:lnSpc>
                <a:spcPct val="100000"/>
              </a:lnSpc>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4166858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dirty="0"/>
              <a:t>Se necessário, demonstre como entrar na máquina virtual do laboratório e siga as instruções. Se você não estiver usando uma VM de laboratório, os alunos poderão seguir as instruções na página do GitHub deste laboratório. As instruções fornecem contexto e instruções iniciais e, em seguida, direcionam os alunos para o exercício no Microsoft Learn.</a:t>
            </a:r>
          </a:p>
          <a:p>
            <a:pPr>
              <a:lnSpc>
                <a:spcPct val="100000"/>
              </a:lnSpc>
            </a:pPr>
            <a:endParaRPr lang="en-US" dirty="0"/>
          </a:p>
          <a:p>
            <a:pPr>
              <a:lnSpc>
                <a:spcPct val="100000"/>
              </a:lnSpc>
            </a:pPr>
            <a:r>
              <a:rPr lang="pt-BR" dirty="0"/>
              <a:t>Os alunos geralmente devem usar as credenciais de assinatura do Azure que receberam, </a:t>
            </a:r>
            <a:r>
              <a:rPr lang="pt-BR" u="sng" dirty="0"/>
              <a:t>não</a:t>
            </a:r>
            <a:r>
              <a:rPr lang="pt-BR" dirty="0"/>
              <a:t> a área restrita.</a:t>
            </a:r>
            <a:r>
              <a:rPr lang="pt-BR" u="none" dirty="0"/>
              <a:t> O link para a página do Learn leva diretamente para o exercício a ser realizado e ignora as instruções para provisionar uma área restrita. Se nenhuma credencial de assinatura for fornecida para sua apresentação, você poderá usar a área restrita como uma opção de fallback. Nesse caso, os alunos talvez precisem rolar para cima na página do Learn para ativá-la.</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1290024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333"/>
              </a:spcAft>
              <a:buClrTx/>
              <a:buSzTx/>
              <a:buFontTx/>
              <a:buNone/>
              <a:tabLst/>
              <a:defRPr/>
            </a:pPr>
            <a:r>
              <a:rPr lang="pt-BR" i="1" dirty="0"/>
              <a:t>Reserve alguns minutos para os alunos pensarem sobre as perguntas e, em seguida, use o slide animado para exibir as respostas corretas.</a:t>
            </a:r>
          </a:p>
          <a:p>
            <a:pPr>
              <a:lnSpc>
                <a:spcPct val="100000"/>
              </a:lnSpc>
            </a:pPr>
            <a:endParaRPr lang="en-US" dirty="0"/>
          </a:p>
          <a:p>
            <a:pPr>
              <a:lnSpc>
                <a:spcPct val="100000"/>
              </a:lnSpc>
            </a:pPr>
            <a:endParaRPr lang="en-US" dirty="0"/>
          </a:p>
          <a:p>
            <a:pPr>
              <a:lnSpc>
                <a:spcPct val="100000"/>
              </a:lnSpc>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fld id="{C9F26854-F9AE-4E32-B2A5-59EE421C280D}" type="datetime8">
              <a:rPr lang="en-US" smtClean="0"/>
              <a:t>5/5/2022 2:44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3943637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pt-BR" sz="400" b="0" i="0" u="none" strike="noStrike" cap="none" normalizeH="0" baseline="0" noProof="0">
                <a:ln>
                  <a:noFill/>
                </a:ln>
                <a:gradFill>
                  <a:gsLst>
                    <a:gs pos="0">
                      <a:prstClr val="black"/>
                    </a:gs>
                    <a:gs pos="100000">
                      <a:prstClr val="black"/>
                    </a:gs>
                  </a:gsLst>
                  <a:lin ang="5400000" scaled="0"/>
                </a:gradFill>
                <a:uLnTx/>
                <a:uFillTx/>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5/5/2022 2:44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37410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sz="800" dirty="0"/>
              <a:t>Os bancos de dados relacionais armazenam dados em tabelas relacionais, mas, às vezes, a estrutura imposta por esse modelo pode ser muito rígida e geralmente resulta em baixo desempenho, a menos que você gaste tempo implementando ajustes detalhados. Existem outros modelos, coletivamente conhecidos como bancos de dados </a:t>
            </a:r>
            <a:r>
              <a:rPr lang="pt-BR" sz="800" i="1" dirty="0"/>
              <a:t>NoSQL</a:t>
            </a:r>
            <a:r>
              <a:rPr lang="pt-BR" sz="800" dirty="0"/>
              <a:t>. Esses modelos armazenam dados em outras estruturas, como documentos, gráficos, repositórios de chaves-valores e repositórios de famílias de colunas.</a:t>
            </a:r>
          </a:p>
          <a:p>
            <a:pPr>
              <a:lnSpc>
                <a:spcPct val="100000"/>
              </a:lnSpc>
            </a:pPr>
            <a:endParaRPr lang="en-GB" sz="800" dirty="0"/>
          </a:p>
          <a:p>
            <a:pPr>
              <a:lnSpc>
                <a:spcPct val="100000"/>
              </a:lnSpc>
            </a:pPr>
            <a:r>
              <a:rPr lang="pt-BR" sz="800" dirty="0"/>
              <a:t>O Azure Cosmos DB dá suporte a várias APIs (interfaces de programação de aplicativo) para os desenvolvedores usarem a semântica de programação de vários tipos comuns de armazenamento de dados e trabalhar com dados em um banco de dados Cosmos DB. A estrutura de armazenamento interna baseada em documentos é abstraída, permitindo que os desenvolvedores usem o Cosmos DB para armazenar e consultar dados usando APIs conhecidas.</a:t>
            </a:r>
          </a:p>
          <a:p>
            <a:pPr>
              <a:lnSpc>
                <a:spcPct val="100000"/>
              </a:lnSpc>
            </a:pPr>
            <a:endParaRPr lang="en-GB" sz="800" dirty="0"/>
          </a:p>
          <a:p>
            <a:pPr>
              <a:lnSpc>
                <a:spcPct val="100000"/>
              </a:lnSpc>
            </a:pPr>
            <a:r>
              <a:rPr lang="pt-BR" sz="800" dirty="0"/>
              <a:t>O Cosmos DB usa índices e particionamento para fornecer desempenho rápido de leitura e gravação e pode ser escalado para grandes volumes de dados.</a:t>
            </a:r>
          </a:p>
          <a:p>
            <a:pPr>
              <a:lnSpc>
                <a:spcPct val="100000"/>
              </a:lnSpc>
            </a:pPr>
            <a:endParaRPr lang="en-GB" sz="800" dirty="0"/>
          </a:p>
          <a:p>
            <a:pPr>
              <a:lnSpc>
                <a:spcPct val="100000"/>
              </a:lnSpc>
            </a:pPr>
            <a:r>
              <a:rPr lang="pt-BR" sz="800" dirty="0"/>
              <a:t>Você pode habilitar as gravações de várias regiões, adicionando as regiões escolhidas do Azure à sua conta do Cosmos DB para que os usuários distribuídos globalmente trabalhem com dados na réplica local.</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pt-BR" sz="400" b="0" i="0" u="none" strike="noStrike" cap="none" normalizeH="0" baseline="0" noProof="0">
                <a:ln>
                  <a:noFill/>
                </a:ln>
                <a:gradFill>
                  <a:gsLst>
                    <a:gs pos="0">
                      <a:prstClr val="black"/>
                    </a:gs>
                    <a:gs pos="100000">
                      <a:prstClr val="black"/>
                    </a:gs>
                  </a:gsLst>
                  <a:lin ang="5400000" scaled="0"/>
                </a:gradFill>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94009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APIs compatíveis no Azure Cosmos DB:</a:t>
            </a:r>
          </a:p>
          <a:p>
            <a:endParaRPr lang="en-US" dirty="0"/>
          </a:p>
          <a:p>
            <a:pPr marL="171450" indent="-171450">
              <a:buFont typeface="Arial" panose="020B0604020202020204" pitchFamily="34" charset="0"/>
              <a:buChar char="•"/>
            </a:pPr>
            <a:r>
              <a:rPr lang="pt-BR" b="1"/>
              <a:t>API do Core (SQL)</a:t>
            </a:r>
            <a:r>
              <a:rPr lang="pt-BR"/>
              <a:t>: a API nativa no Cosmos DB gerencia dados no formato de documento JSON e usa a sintaxe SQL para trabalhar com os dados.</a:t>
            </a:r>
          </a:p>
          <a:p>
            <a:pPr marL="171450" indent="-171450">
              <a:buFont typeface="Arial" panose="020B0604020202020204" pitchFamily="34" charset="0"/>
              <a:buChar char="•"/>
            </a:pPr>
            <a:r>
              <a:rPr lang="pt-BR" b="1"/>
              <a:t>API do MongoDB</a:t>
            </a:r>
            <a:r>
              <a:rPr lang="pt-BR"/>
              <a:t>: MongoDB é um banco de dados conhecido de código aberto no qual os dados são armazenados no formato BSON (JSON Binário). A API do MongoDB para o Azure Cosmos DB permite que os desenvolvedores usem bibliotecas de clientes MongoDB e código para trabalhar com dados no Azure Cosmos DB.</a:t>
            </a:r>
          </a:p>
          <a:p>
            <a:pPr marL="171450" indent="-171450">
              <a:buFont typeface="Arial" panose="020B0604020202020204" pitchFamily="34" charset="0"/>
              <a:buChar char="•"/>
            </a:pPr>
            <a:r>
              <a:rPr lang="pt-BR" b="1"/>
              <a:t>API de Tabela</a:t>
            </a:r>
            <a:r>
              <a:rPr lang="pt-BR"/>
              <a:t>: a API de Tabela é usada para trabalhar com dados em tabelas de valores-chaves, semelhante ao Armazenamento de Tabelas do Azure. A API de Tabela do Azure Cosmos DB oferece maior escalabilidade e desempenho do que o Armazenamento de Tabelas do Azure.</a:t>
            </a:r>
          </a:p>
          <a:p>
            <a:pPr marL="171450" indent="-171450">
              <a:buFont typeface="Arial" panose="020B0604020202020204" pitchFamily="34" charset="0"/>
              <a:buChar char="•"/>
            </a:pPr>
            <a:r>
              <a:rPr lang="pt-BR" b="1"/>
              <a:t>API do Cassandra</a:t>
            </a:r>
            <a:r>
              <a:rPr lang="pt-BR"/>
              <a:t>: é compatível com o Apache Cassandra, que é um banco de dados conhecido de código aberto que usa uma estrutura de armazenamento de família de colunas. Famílias de colunas são tabelas, semelhantes às de um banco de dados relacional, exceto que não é obrigatório que todas as linhas tenham as mesmas colunas.</a:t>
            </a:r>
          </a:p>
          <a:p>
            <a:pPr marL="171450" indent="-171450">
              <a:buFont typeface="Arial" panose="020B0604020202020204" pitchFamily="34" charset="0"/>
              <a:buChar char="•"/>
            </a:pPr>
            <a:r>
              <a:rPr lang="pt-BR" b="1"/>
              <a:t>API do Gremlin</a:t>
            </a:r>
            <a:r>
              <a:rPr lang="pt-BR"/>
              <a:t>: está acostumada com os dados de uma estrutura de </a:t>
            </a:r>
            <a:r>
              <a:rPr lang="pt-BR" i="1"/>
              <a:t>gráfico</a:t>
            </a:r>
            <a:r>
              <a:rPr lang="pt-BR"/>
              <a:t> em que as entidades são definidas como </a:t>
            </a:r>
            <a:r>
              <a:rPr lang="pt-BR" i="1"/>
              <a:t>vértices</a:t>
            </a:r>
            <a:r>
              <a:rPr lang="pt-BR"/>
              <a:t> que formam nós no gráfico conectado.</a:t>
            </a:r>
            <a:r>
              <a:rPr lang="pt-BR" i="0"/>
              <a:t> </a:t>
            </a:r>
            <a:r>
              <a:rPr lang="pt-BR"/>
              <a:t>Os nós são conectados por </a:t>
            </a:r>
            <a:r>
              <a:rPr lang="pt-BR" i="1"/>
              <a:t>bordas</a:t>
            </a:r>
            <a:r>
              <a:rPr lang="pt-BR"/>
              <a:t> que representam relacionamentos.</a:t>
            </a:r>
            <a:r>
              <a:rPr lang="pt-BR" i="0"/>
              <a:t> </a:t>
            </a:r>
            <a:r>
              <a:rPr lang="pt-BR"/>
              <a:t>O exemplo do slide mostra dois tipos de vértice (funcionário e departamento) e as bordas que os conectam. O funcionário "Ben" </a:t>
            </a:r>
            <a:r>
              <a:rPr lang="pt-BR" i="1"/>
              <a:t>se reporta</a:t>
            </a:r>
            <a:r>
              <a:rPr lang="pt-BR"/>
              <a:t> à funcionária "Sue", e ambos </a:t>
            </a:r>
            <a:r>
              <a:rPr lang="pt-BR" i="1"/>
              <a:t>trabalham no</a:t>
            </a:r>
            <a:r>
              <a:rPr lang="pt-BR"/>
              <a:t> departamento "Hardware".</a:t>
            </a:r>
            <a:r>
              <a:rPr lang="pt-BR" i="0"/>
              <a:t> </a:t>
            </a:r>
          </a:p>
          <a:p>
            <a:pPr marL="0" indent="0">
              <a:buFont typeface="Arial" panose="020B0604020202020204" pitchFamily="34" charset="0"/>
              <a:buNone/>
            </a:pPr>
            <a:endParaRPr lang="en-US" i="0"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1494426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dirty="0"/>
              <a:t>Se necessário, demonstre como entrar na máquina virtual do laboratório e siga as instruções. Se você não estiver usando uma VM de laboratório, os alunos poderão seguir as instruções na página do GitHub deste laboratório. As instruções fornecem contexto e instruções iniciais e, em seguida, direcionam os alunos para o exercício no Microsoft Learn.</a:t>
            </a:r>
          </a:p>
          <a:p>
            <a:pPr>
              <a:lnSpc>
                <a:spcPct val="100000"/>
              </a:lnSpc>
            </a:pPr>
            <a:endParaRPr lang="en-US" dirty="0"/>
          </a:p>
          <a:p>
            <a:pPr>
              <a:lnSpc>
                <a:spcPct val="100000"/>
              </a:lnSpc>
            </a:pPr>
            <a:r>
              <a:rPr lang="pt-BR" dirty="0"/>
              <a:t>Os alunos geralmente devem usar as credenciais de assinatura do Azure que receberam, </a:t>
            </a:r>
            <a:r>
              <a:rPr lang="pt-BR" u="sng" dirty="0"/>
              <a:t>não</a:t>
            </a:r>
            <a:r>
              <a:rPr lang="pt-BR" dirty="0"/>
              <a:t> a área restrita.</a:t>
            </a:r>
            <a:r>
              <a:rPr lang="pt-BR" u="none" dirty="0"/>
              <a:t> O link para a página do Learn leva diretamente para o exercício a ser realizado e ignora as instruções para provisionar uma área restrita. Se nenhuma credencial de assinatura for fornecida para sua apresentação, você poderá usar a área restrita como uma opção de fallback. Nesse caso, os alunos talvez precisem rolar para cima na página do Learn para ativá-la.</a:t>
            </a:r>
          </a:p>
          <a:p>
            <a:pPr>
              <a:lnSpc>
                <a:spcPct val="100000"/>
              </a:lnSpc>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2099387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pt-BR" i="1"/>
              <a:t>Reserve alguns minutos para os alunos pensarem sobre as perguntas e, em seguida, use o slide animado para exibir as respostas corretas.</a:t>
            </a:r>
          </a:p>
          <a:p>
            <a:endParaRPr lang="en-US" dirty="0"/>
          </a:p>
          <a:p>
            <a:endParaRPr lang="en-US" dirty="0"/>
          </a:p>
          <a:p>
            <a:endParaRPr lang="en-US" dirty="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fld id="{C9F26854-F9AE-4E32-B2A5-59EE421C280D}" type="datetime8">
              <a:rPr lang="en-US" smtClean="0"/>
              <a:t>5/5/2022 2:44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4280146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25797441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903760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229362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84216182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46657421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spTree>
    <p:extLst>
      <p:ext uri="{BB962C8B-B14F-4D97-AF65-F5344CB8AC3E}">
        <p14:creationId xmlns:p14="http://schemas.microsoft.com/office/powerpoint/2010/main" val="365010784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1253173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530135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839534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373769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9421248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6505700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9701809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8190879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0948243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Agenda 2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2082233"/>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3552816"/>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1425928"/>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5242"/>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2329271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1328010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73795168"/>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9787029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6995485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dirty="0"/>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6403934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1874128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8063226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97634191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702806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2572870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885924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81882396"/>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0994270"/>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232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0943647"/>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5316642"/>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dirty="0"/>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764159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6895182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4694891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0788655"/>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5311690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4592120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569733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0929568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ED3D99F1-12B5-4EF9-8BE8-147D2E7B2576}"/>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98187A1F-B2AD-4B43-A8E1-57229F13A30C}"/>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677926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11641937"/>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110367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7861017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97310490"/>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41673985"/>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94579868"/>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18688402"/>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216485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0816430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2684387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827451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3379162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077185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90811474"/>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4490633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9139165"/>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56078719"/>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2798274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910312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52988049"/>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08952400"/>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1821782"/>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2975334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4271131"/>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0050874"/>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58173702"/>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304659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0012147"/>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53153291"/>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30629913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dirty="0">
                <a:solidFill>
                  <a:schemeClr val="bg1">
                    <a:lumMod val="75000"/>
                  </a:schemeClr>
                </a:solidFill>
              </a:rPr>
              <a:t>Closed captioning</a:t>
            </a:r>
            <a:br>
              <a:rPr lang="en-US" sz="700" dirty="0">
                <a:solidFill>
                  <a:schemeClr val="bg1">
                    <a:lumMod val="75000"/>
                  </a:schemeClr>
                </a:solidFill>
              </a:rPr>
            </a:br>
            <a:r>
              <a:rPr lang="en-US" sz="700" dirty="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552" r:id="rId1"/>
    <p:sldLayoutId id="2147484553" r:id="rId2"/>
    <p:sldLayoutId id="2147484583" r:id="rId3"/>
    <p:sldLayoutId id="2147484669" r:id="rId4"/>
    <p:sldLayoutId id="2147484734" r:id="rId5"/>
    <p:sldLayoutId id="2147484562" r:id="rId6"/>
    <p:sldLayoutId id="2147484728" r:id="rId7"/>
    <p:sldLayoutId id="2147484680" r:id="rId8"/>
    <p:sldLayoutId id="2147484610" r:id="rId9"/>
    <p:sldLayoutId id="2147484684" r:id="rId10"/>
    <p:sldLayoutId id="2147484670" r:id="rId11"/>
    <p:sldLayoutId id="2147484671" r:id="rId12"/>
    <p:sldLayoutId id="2147484682" r:id="rId13"/>
    <p:sldLayoutId id="2147484677" r:id="rId14"/>
    <p:sldLayoutId id="2147484727" r:id="rId15"/>
    <p:sldLayoutId id="2147484735" r:id="rId16"/>
    <p:sldLayoutId id="2147484691" r:id="rId17"/>
    <p:sldLayoutId id="2147484692" r:id="rId18"/>
    <p:sldLayoutId id="2147484693" r:id="rId19"/>
    <p:sldLayoutId id="2147484694" r:id="rId20"/>
    <p:sldLayoutId id="2147484695" r:id="rId21"/>
    <p:sldLayoutId id="2147484560" r:id="rId22"/>
    <p:sldLayoutId id="2147484580" r:id="rId23"/>
    <p:sldLayoutId id="2147484566" r:id="rId24"/>
    <p:sldLayoutId id="2147484696" r:id="rId25"/>
    <p:sldLayoutId id="2147484697" r:id="rId26"/>
    <p:sldLayoutId id="2147484675" r:id="rId27"/>
    <p:sldLayoutId id="2147484676" r:id="rId28"/>
    <p:sldLayoutId id="2147484711" r:id="rId29"/>
    <p:sldLayoutId id="2147484721" r:id="rId30"/>
    <p:sldLayoutId id="2147484720" r:id="rId31"/>
    <p:sldLayoutId id="2147484726" r:id="rId32"/>
    <p:sldLayoutId id="2147484570" r:id="rId33"/>
    <p:sldLayoutId id="2147484571" r:id="rId34"/>
    <p:sldLayoutId id="2147484572" r:id="rId35"/>
    <p:sldLayoutId id="2147484688" r:id="rId36"/>
    <p:sldLayoutId id="2147484689" r:id="rId37"/>
    <p:sldLayoutId id="2147484690" r:id="rId38"/>
    <p:sldLayoutId id="2147484724" r:id="rId39"/>
    <p:sldLayoutId id="2147484725" r:id="rId40"/>
    <p:sldLayoutId id="2147484722" r:id="rId41"/>
    <p:sldLayoutId id="2147484683" r:id="rId42"/>
    <p:sldLayoutId id="2147484685" r:id="rId43"/>
    <p:sldLayoutId id="2147484673" r:id="rId44"/>
    <p:sldLayoutId id="2147484678" r:id="rId45"/>
    <p:sldLayoutId id="2147484679" r:id="rId46"/>
    <p:sldLayoutId id="2147484717" r:id="rId47"/>
    <p:sldLayoutId id="2147484718" r:id="rId48"/>
    <p:sldLayoutId id="2147484712" r:id="rId49"/>
    <p:sldLayoutId id="2147484713" r:id="rId50"/>
    <p:sldLayoutId id="2147484714" r:id="rId51"/>
    <p:sldLayoutId id="2147484715" r:id="rId52"/>
    <p:sldLayoutId id="2147484716" r:id="rId53"/>
    <p:sldLayoutId id="2147484723" r:id="rId54"/>
    <p:sldLayoutId id="2147484686" r:id="rId55"/>
    <p:sldLayoutId id="2147484674" r:id="rId56"/>
    <p:sldLayoutId id="2147484702" r:id="rId57"/>
    <p:sldLayoutId id="2147484719" r:id="rId58"/>
    <p:sldLayoutId id="2147484701" r:id="rId59"/>
    <p:sldLayoutId id="2147484699" r:id="rId60"/>
    <p:sldLayoutId id="2147484700" r:id="rId61"/>
    <p:sldLayoutId id="2147484703" r:id="rId62"/>
    <p:sldLayoutId id="2147484704" r:id="rId63"/>
    <p:sldLayoutId id="2147484705" r:id="rId64"/>
    <p:sldLayoutId id="2147484706" r:id="rId65"/>
    <p:sldLayoutId id="2147484707" r:id="rId66"/>
    <p:sldLayoutId id="2147484730" r:id="rId67"/>
    <p:sldLayoutId id="2147484710" r:id="rId68"/>
    <p:sldLayoutId id="2147484729" r:id="rId69"/>
    <p:sldLayoutId id="2147484731" r:id="rId70"/>
    <p:sldLayoutId id="2147484732" r:id="rId71"/>
    <p:sldLayoutId id="2147484733" r:id="rId72"/>
    <p:sldLayoutId id="2147484698" r:id="rId73"/>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userDrawn="1">
          <p15:clr>
            <a:srgbClr val="C35EA4"/>
          </p15:clr>
        </p15:guide>
        <p15:guide id="32" pos="1498" userDrawn="1">
          <p15:clr>
            <a:srgbClr val="C35EA4"/>
          </p15:clr>
        </p15:guide>
        <p15:guide id="33" pos="2569" userDrawn="1">
          <p15:clr>
            <a:srgbClr val="C35EA4"/>
          </p15:clr>
        </p15:guide>
        <p15:guide id="34" pos="2711" userDrawn="1">
          <p15:clr>
            <a:srgbClr val="C35EA4"/>
          </p15:clr>
        </p15:guide>
        <p15:guide id="35" pos="3778" userDrawn="1">
          <p15:clr>
            <a:srgbClr val="C35EA4"/>
          </p15:clr>
        </p15:guide>
        <p15:guide id="36" pos="3924" userDrawn="1">
          <p15:clr>
            <a:srgbClr val="C35EA4"/>
          </p15:clr>
        </p15:guide>
        <p15:guide id="37" pos="4983" userDrawn="1">
          <p15:clr>
            <a:srgbClr val="C35EA4"/>
          </p15:clr>
        </p15:guide>
        <p15:guide id="38" pos="5127" userDrawn="1">
          <p15:clr>
            <a:srgbClr val="C35EA4"/>
          </p15:clr>
        </p15:guide>
        <p15:guide id="39" pos="6199" userDrawn="1">
          <p15:clr>
            <a:srgbClr val="C35EA4"/>
          </p15:clr>
        </p15:guide>
        <p15:guide id="40" pos="6342" userDrawn="1">
          <p15:clr>
            <a:srgbClr val="C35EA4"/>
          </p15:clr>
        </p15:guide>
        <p15:guide id="41" pos="264" userDrawn="1">
          <p15:clr>
            <a:srgbClr val="F26B43"/>
          </p15:clr>
        </p15:guide>
        <p15:guide id="42" pos="7416" userDrawn="1">
          <p15:clr>
            <a:srgbClr val="F26B43"/>
          </p15:clr>
        </p15:guide>
        <p15:guide id="43" orient="horz" pos="736" userDrawn="1">
          <p15:clr>
            <a:srgbClr val="5ACBF0"/>
          </p15:clr>
        </p15:guide>
        <p15:guide id="44" orient="horz" pos="1360" userDrawn="1">
          <p15:clr>
            <a:srgbClr val="5ACBF0"/>
          </p15:clr>
        </p15:guide>
        <p15:guide id="45" orient="horz" pos="593" userDrawn="1">
          <p15:clr>
            <a:srgbClr val="5ACBF0"/>
          </p15:clr>
        </p15:guide>
        <p15:guide id="46" orient="horz" pos="1484" userDrawn="1">
          <p15:clr>
            <a:srgbClr val="5ACBF0"/>
          </p15:clr>
        </p15:guide>
        <p15:guide id="47" orient="horz" pos="2088" userDrawn="1">
          <p15:clr>
            <a:srgbClr val="5ACBF0"/>
          </p15:clr>
        </p15:guide>
        <p15:guide id="48" orient="horz" pos="2254" userDrawn="1">
          <p15:clr>
            <a:srgbClr val="5ACBF0"/>
          </p15:clr>
        </p15:guide>
        <p15:guide id="49" orient="horz" pos="277" userDrawn="1">
          <p15:clr>
            <a:srgbClr val="F26B43"/>
          </p15:clr>
        </p15:guide>
        <p15:guide id="50" orient="horz" pos="4043" userDrawn="1">
          <p15:clr>
            <a:srgbClr val="F26B43"/>
          </p15:clr>
        </p15:guide>
        <p15:guide id="51" orient="horz" pos="2835" userDrawn="1">
          <p15:clr>
            <a:srgbClr val="5ACBF0"/>
          </p15:clr>
        </p15:guide>
        <p15:guide id="52" orient="horz" pos="2960" userDrawn="1">
          <p15:clr>
            <a:srgbClr val="5ACBF0"/>
          </p15:clr>
        </p15:guide>
        <p15:guide id="54" orient="horz" pos="3690" userDrawn="1">
          <p15:clr>
            <a:srgbClr val="5ACBF0"/>
          </p15:clr>
        </p15:guide>
        <p15:guide id="55" orient="horz" pos="918" userDrawn="1">
          <p15:clr>
            <a:srgbClr val="F26B43"/>
          </p15:clr>
        </p15:guide>
        <p15:guide id="56" orient="horz" pos="3480" userDrawn="1">
          <p15:clr>
            <a:srgbClr val="F26B43"/>
          </p15:clr>
        </p15:guide>
        <p15:guide id="57" orient="horz" pos="3572" userDrawn="1">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17.sv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19.svg"/><Relationship Id="rId4" Type="http://schemas.openxmlformats.org/officeDocument/2006/relationships/image" Target="../media/image17.sv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27.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3.svg"/><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25.svg"/><Relationship Id="rId4" Type="http://schemas.openxmlformats.org/officeDocument/2006/relationships/image" Target="../media/image17.sv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hyperlink" Target="https://aka.ms/dp900-storage-lab"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0.emf"/></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2.sv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3.xml"/><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35.sv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13.xml.rels><?xml version="1.0" encoding="UTF-8" standalone="yes"?>
<Relationships xmlns="http://schemas.openxmlformats.org/package/2006/relationships"><Relationship Id="rId3" Type="http://schemas.openxmlformats.org/officeDocument/2006/relationships/hyperlink" Target="https://aka.ms/dp900-cosmos-lab"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30.emf"/></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32.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428681" y="2532448"/>
            <a:ext cx="5428936" cy="2324560"/>
          </a:xfrm>
        </p:spPr>
        <p:txBody>
          <a:bodyPr vert="horz" wrap="square" lIns="0" tIns="0" rIns="0" bIns="0" rtlCol="0" anchor="b" anchorCtr="0">
            <a:noAutofit/>
          </a:bodyPr>
          <a:lstStyle/>
          <a:p>
            <a:pPr>
              <a:lnSpc>
                <a:spcPct val="100000"/>
              </a:lnSpc>
            </a:pPr>
            <a:r>
              <a:rPr lang="pt-BR" sz="3600" dirty="0"/>
              <a:t>Módulo 3: Explorar conceitos básicos dos</a:t>
            </a:r>
            <a:br>
              <a:rPr lang="pt-BR" sz="3600" dirty="0"/>
            </a:br>
            <a:r>
              <a:rPr lang="pt-BR" sz="3600" dirty="0"/>
              <a:t>dados não relacionais </a:t>
            </a:r>
            <a:br>
              <a:rPr lang="pt-BR" sz="3600" dirty="0"/>
            </a:br>
            <a:r>
              <a:rPr lang="pt-BR" sz="3600" dirty="0"/>
              <a:t>no Azure</a:t>
            </a:r>
          </a:p>
        </p:txBody>
      </p:sp>
    </p:spTree>
    <p:extLst>
      <p:ext uri="{BB962C8B-B14F-4D97-AF65-F5344CB8AC3E}">
        <p14:creationId xmlns:p14="http://schemas.microsoft.com/office/powerpoint/2010/main" val="212605725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pt-BR" dirty="0"/>
              <a:t>Agenda</a:t>
            </a:r>
          </a:p>
        </p:txBody>
      </p:sp>
      <p:sp>
        <p:nvSpPr>
          <p:cNvPr id="6" name="Text Placeholder 5">
            <a:extLst>
              <a:ext uri="{FF2B5EF4-FFF2-40B4-BE49-F238E27FC236}">
                <a16:creationId xmlns:a16="http://schemas.microsoft.com/office/drawing/2014/main" id="{1F794EDE-F266-436B-A21A-3850AA5F74FC}"/>
              </a:ext>
            </a:extLst>
          </p:cNvPr>
          <p:cNvSpPr txBox="1">
            <a:spLocks noGrp="1"/>
          </p:cNvSpPr>
          <p:nvPr>
            <p:ph type="body" sz="quarter" idx="22"/>
          </p:nvPr>
        </p:nvSpPr>
        <p:spPr>
          <a:xfrm>
            <a:off x="4078288" y="2451210"/>
            <a:ext cx="7695069" cy="338554"/>
          </a:xfrm>
          <a:prstGeom prst="rect">
            <a:avLst/>
          </a:prstGeom>
          <a:noFill/>
        </p:spPr>
        <p:txBody>
          <a:bodyPr wrap="square" lIns="0" tIns="0" rIns="0" bIns="0" rtlCol="0" anchor="ctr">
            <a:spAutoFit/>
          </a:bodyPr>
          <a:lstStyle/>
          <a:p>
            <a:r>
              <a:rPr lang="pt-BR" sz="2200" dirty="0"/>
              <a:t>Conceitos básicos do Armazenamento do Azure</a:t>
            </a:r>
          </a:p>
        </p:txBody>
      </p:sp>
      <p:sp>
        <p:nvSpPr>
          <p:cNvPr id="7" name="Text Placeholder 6">
            <a:extLst>
              <a:ext uri="{FF2B5EF4-FFF2-40B4-BE49-F238E27FC236}">
                <a16:creationId xmlns:a16="http://schemas.microsoft.com/office/drawing/2014/main" id="{28F705C1-1665-4334-A1C9-E57C1B4B2BAD}"/>
              </a:ext>
            </a:extLst>
          </p:cNvPr>
          <p:cNvSpPr txBox="1">
            <a:spLocks noGrp="1"/>
          </p:cNvSpPr>
          <p:nvPr>
            <p:ph type="body" sz="quarter" idx="23"/>
          </p:nvPr>
        </p:nvSpPr>
        <p:spPr>
          <a:xfrm>
            <a:off x="4078288" y="3776652"/>
            <a:ext cx="7695069" cy="338554"/>
          </a:xfrm>
          <a:prstGeom prst="rect">
            <a:avLst/>
          </a:prstGeom>
          <a:noFill/>
        </p:spPr>
        <p:txBody>
          <a:bodyPr wrap="square" lIns="0" tIns="0" rIns="0" bIns="0" rtlCol="0" anchor="ctr">
            <a:spAutoFit/>
          </a:bodyPr>
          <a:lstStyle/>
          <a:p>
            <a:pPr>
              <a:spcAft>
                <a:spcPts val="400"/>
              </a:spcAft>
            </a:pPr>
            <a:r>
              <a:rPr lang="pt-BR" sz="2200" dirty="0"/>
              <a:t>Conceitos básicos do Azure Cosmos DB</a:t>
            </a:r>
          </a:p>
        </p:txBody>
      </p:sp>
      <p:grpSp>
        <p:nvGrpSpPr>
          <p:cNvPr id="4" name="Group 3">
            <a:extLst>
              <a:ext uri="{FF2B5EF4-FFF2-40B4-BE49-F238E27FC236}">
                <a16:creationId xmlns:a16="http://schemas.microsoft.com/office/drawing/2014/main" id="{AC78AA35-0974-4D40-AF27-3DF2A7D841E4}"/>
              </a:ext>
              <a:ext uri="{C183D7F6-B498-43B3-948B-1728B52AA6E4}">
                <adec:decorative xmlns:adec="http://schemas.microsoft.com/office/drawing/2017/decorative" val="1"/>
              </a:ext>
            </a:extLst>
          </p:cNvPr>
          <p:cNvGrpSpPr/>
          <p:nvPr/>
        </p:nvGrpSpPr>
        <p:grpSpPr>
          <a:xfrm>
            <a:off x="2995195" y="3533671"/>
            <a:ext cx="800001" cy="800001"/>
            <a:chOff x="2995195" y="3678811"/>
            <a:chExt cx="800001" cy="800001"/>
          </a:xfrm>
        </p:grpSpPr>
        <p:sp>
          <p:nvSpPr>
            <p:cNvPr id="3" name="Oval 2">
              <a:extLst>
                <a:ext uri="{FF2B5EF4-FFF2-40B4-BE49-F238E27FC236}">
                  <a16:creationId xmlns:a16="http://schemas.microsoft.com/office/drawing/2014/main" id="{C4E3371E-C28A-4EDB-B236-A8E106E58B6F}"/>
                </a:ext>
              </a:extLst>
            </p:cNvPr>
            <p:cNvSpPr/>
            <p:nvPr/>
          </p:nvSpPr>
          <p:spPr bwMode="auto">
            <a:xfrm>
              <a:off x="2995195" y="3678811"/>
              <a:ext cx="800001" cy="800001"/>
            </a:xfrm>
            <a:prstGeom prst="ellipse">
              <a:avLst/>
            </a:prstGeom>
            <a:solidFill>
              <a:schemeClr val="tx2">
                <a:lumMod val="60000"/>
                <a:lumOff val="40000"/>
              </a:schemeClr>
            </a:solidFill>
            <a:ln w="38100">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 name="Graphic 1">
              <a:extLst>
                <a:ext uri="{FF2B5EF4-FFF2-40B4-BE49-F238E27FC236}">
                  <a16:creationId xmlns:a16="http://schemas.microsoft.com/office/drawing/2014/main" id="{557BBA9C-88C0-42A5-830E-460502382A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18047" y="3801663"/>
              <a:ext cx="554296" cy="554296"/>
            </a:xfrm>
            <a:prstGeom prst="rect">
              <a:avLst/>
            </a:prstGeom>
          </p:spPr>
        </p:pic>
      </p:grpSp>
      <p:grpSp>
        <p:nvGrpSpPr>
          <p:cNvPr id="10" name="Group 9">
            <a:extLst>
              <a:ext uri="{FF2B5EF4-FFF2-40B4-BE49-F238E27FC236}">
                <a16:creationId xmlns:a16="http://schemas.microsoft.com/office/drawing/2014/main" id="{14615211-9C6F-41DE-9E35-FC0331605990}"/>
              </a:ext>
              <a:ext uri="{C183D7F6-B498-43B3-948B-1728B52AA6E4}">
                <adec:decorative xmlns:adec="http://schemas.microsoft.com/office/drawing/2017/decorative" val="1"/>
              </a:ext>
            </a:extLst>
          </p:cNvPr>
          <p:cNvGrpSpPr/>
          <p:nvPr/>
        </p:nvGrpSpPr>
        <p:grpSpPr>
          <a:xfrm>
            <a:off x="2995195" y="2220486"/>
            <a:ext cx="800001" cy="800001"/>
            <a:chOff x="3147595" y="3831211"/>
            <a:chExt cx="800001" cy="800001"/>
          </a:xfrm>
        </p:grpSpPr>
        <p:sp>
          <p:nvSpPr>
            <p:cNvPr id="9" name="Oval 8">
              <a:extLst>
                <a:ext uri="{FF2B5EF4-FFF2-40B4-BE49-F238E27FC236}">
                  <a16:creationId xmlns:a16="http://schemas.microsoft.com/office/drawing/2014/main" id="{0A1E8F1F-ADA5-4031-B9FF-9076A3A5D38C}"/>
                </a:ext>
              </a:extLst>
            </p:cNvPr>
            <p:cNvSpPr/>
            <p:nvPr/>
          </p:nvSpPr>
          <p:spPr bwMode="auto">
            <a:xfrm>
              <a:off x="3147595" y="3831211"/>
              <a:ext cx="800001" cy="800001"/>
            </a:xfrm>
            <a:prstGeom prst="ellipse">
              <a:avLst/>
            </a:prstGeom>
            <a:solidFill>
              <a:schemeClr val="tx2">
                <a:lumMod val="60000"/>
                <a:lumOff val="40000"/>
              </a:schemeClr>
            </a:solidFill>
            <a:ln w="38100">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8C543246-723D-40B1-973A-DEBF5F0EF1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85115" y="3939183"/>
              <a:ext cx="539628" cy="539628"/>
            </a:xfrm>
            <a:prstGeom prst="rect">
              <a:avLst/>
            </a:prstGeom>
          </p:spPr>
        </p:pic>
      </p:grpSp>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1BE858-0F27-47E5-AFEC-0727DEBA30F6}"/>
              </a:ext>
            </a:extLst>
          </p:cNvPr>
          <p:cNvSpPr>
            <a:spLocks noGrp="1"/>
          </p:cNvSpPr>
          <p:nvPr>
            <p:ph type="title"/>
          </p:nvPr>
        </p:nvSpPr>
        <p:spPr/>
        <p:txBody>
          <a:bodyPr/>
          <a:lstStyle/>
          <a:p>
            <a:pPr>
              <a:lnSpc>
                <a:spcPct val="100000"/>
              </a:lnSpc>
            </a:pPr>
            <a:r>
              <a:rPr lang="pt-BR" sz="2000" dirty="0"/>
              <a:t>Lição 1: Conceitos básicos do Armazenamento do Azure</a:t>
            </a:r>
          </a:p>
        </p:txBody>
      </p:sp>
      <p:grpSp>
        <p:nvGrpSpPr>
          <p:cNvPr id="6" name="Group 5">
            <a:extLst>
              <a:ext uri="{FF2B5EF4-FFF2-40B4-BE49-F238E27FC236}">
                <a16:creationId xmlns:a16="http://schemas.microsoft.com/office/drawing/2014/main" id="{8AA41A57-10A7-45E0-96A9-2E54A324216C}"/>
              </a:ext>
              <a:ext uri="{C183D7F6-B498-43B3-948B-1728B52AA6E4}">
                <adec:decorative xmlns:adec="http://schemas.microsoft.com/office/drawing/2017/decorative" val="1"/>
              </a:ext>
            </a:extLst>
          </p:cNvPr>
          <p:cNvGrpSpPr/>
          <p:nvPr/>
        </p:nvGrpSpPr>
        <p:grpSpPr>
          <a:xfrm>
            <a:off x="10153141" y="2803675"/>
            <a:ext cx="1250650" cy="1250650"/>
            <a:chOff x="3147595" y="3831211"/>
            <a:chExt cx="800001" cy="800001"/>
          </a:xfrm>
        </p:grpSpPr>
        <p:sp>
          <p:nvSpPr>
            <p:cNvPr id="7" name="Oval 6">
              <a:extLst>
                <a:ext uri="{FF2B5EF4-FFF2-40B4-BE49-F238E27FC236}">
                  <a16:creationId xmlns:a16="http://schemas.microsoft.com/office/drawing/2014/main" id="{344525B1-0FD0-43A7-A3C7-0D3D5D6CC305}"/>
                </a:ext>
              </a:extLst>
            </p:cNvPr>
            <p:cNvSpPr/>
            <p:nvPr/>
          </p:nvSpPr>
          <p:spPr bwMode="auto">
            <a:xfrm>
              <a:off x="3147595" y="3831211"/>
              <a:ext cx="800001" cy="800001"/>
            </a:xfrm>
            <a:prstGeom prst="ellipse">
              <a:avLst/>
            </a:prstGeom>
            <a:solidFill>
              <a:schemeClr val="tx2">
                <a:lumMod val="60000"/>
                <a:lumOff val="40000"/>
              </a:schemeClr>
            </a:solidFill>
            <a:ln w="38100">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Graphic 7">
              <a:extLst>
                <a:ext uri="{FF2B5EF4-FFF2-40B4-BE49-F238E27FC236}">
                  <a16:creationId xmlns:a16="http://schemas.microsoft.com/office/drawing/2014/main" id="{4D10DEDD-4D65-4F3E-B243-F8286608E2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5115" y="3939183"/>
              <a:ext cx="539628" cy="539628"/>
            </a:xfrm>
            <a:prstGeom prst="rect">
              <a:avLst/>
            </a:prstGeom>
          </p:spPr>
        </p:pic>
      </p:grpSp>
    </p:spTree>
    <p:extLst>
      <p:ext uri="{BB962C8B-B14F-4D97-AF65-F5344CB8AC3E}">
        <p14:creationId xmlns:p14="http://schemas.microsoft.com/office/powerpoint/2010/main" val="23477616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D5084937-4C1E-45BE-95C1-0B9C09320FF0}"/>
              </a:ext>
              <a:ext uri="{C183D7F6-B498-43B3-948B-1728B52AA6E4}">
                <adec:decorative xmlns:adec="http://schemas.microsoft.com/office/drawing/2017/decorative" val="1"/>
              </a:ext>
            </a:extLst>
          </p:cNvPr>
          <p:cNvSpPr/>
          <p:nvPr/>
        </p:nvSpPr>
        <p:spPr bwMode="auto">
          <a:xfrm>
            <a:off x="203200" y="928777"/>
            <a:ext cx="6694802" cy="5675870"/>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41DD03D0-5673-411E-BA4D-C1DC269B72DB}"/>
              </a:ext>
            </a:extLst>
          </p:cNvPr>
          <p:cNvSpPr>
            <a:spLocks noGrp="1"/>
          </p:cNvSpPr>
          <p:nvPr>
            <p:ph type="title"/>
          </p:nvPr>
        </p:nvSpPr>
        <p:spPr>
          <a:xfrm>
            <a:off x="418643" y="248581"/>
            <a:ext cx="11341268" cy="680196"/>
          </a:xfrm>
        </p:spPr>
        <p:txBody>
          <a:bodyPr/>
          <a:lstStyle/>
          <a:p>
            <a:pPr>
              <a:lnSpc>
                <a:spcPct val="100000"/>
              </a:lnSpc>
            </a:pPr>
            <a:r>
              <a:rPr lang="pt-BR" dirty="0"/>
              <a:t>Armazenamento de Blobs do Azure</a:t>
            </a:r>
          </a:p>
        </p:txBody>
      </p:sp>
      <p:sp>
        <p:nvSpPr>
          <p:cNvPr id="48" name="Text Placeholder 47">
            <a:extLst>
              <a:ext uri="{FF2B5EF4-FFF2-40B4-BE49-F238E27FC236}">
                <a16:creationId xmlns:a16="http://schemas.microsoft.com/office/drawing/2014/main" id="{3CA0C21D-B5E1-4E73-A654-994A362E95E0}"/>
              </a:ext>
            </a:extLst>
          </p:cNvPr>
          <p:cNvSpPr>
            <a:spLocks noGrp="1"/>
          </p:cNvSpPr>
          <p:nvPr>
            <p:ph type="body" sz="quarter" idx="10"/>
          </p:nvPr>
        </p:nvSpPr>
        <p:spPr>
          <a:xfrm>
            <a:off x="388372" y="980073"/>
            <a:ext cx="6444582" cy="5427127"/>
          </a:xfrm>
        </p:spPr>
        <p:txBody>
          <a:bodyPr/>
          <a:lstStyle/>
          <a:p>
            <a:r>
              <a:rPr lang="pt-BR" sz="2200" dirty="0"/>
              <a:t>Armazenamento de dados como BLOBs (objetos binários grandes)</a:t>
            </a:r>
          </a:p>
          <a:p>
            <a:pPr marL="342900" lvl="1" indent="-342900">
              <a:buFont typeface="Arial" panose="020B0604020202020204" pitchFamily="34" charset="0"/>
              <a:buChar char="•"/>
            </a:pPr>
            <a:r>
              <a:rPr lang="pt-BR" sz="1800" dirty="0"/>
              <a:t>Blobs de blocos</a:t>
            </a:r>
          </a:p>
          <a:p>
            <a:pPr marL="685800" lvl="2" indent="-342900">
              <a:spcAft>
                <a:spcPts val="0"/>
              </a:spcAft>
            </a:pPr>
            <a:r>
              <a:rPr lang="pt-BR" sz="1400" dirty="0"/>
              <a:t>Objetos binários, grandes e discretos que são alterados com pouca frequência</a:t>
            </a:r>
          </a:p>
          <a:p>
            <a:pPr marL="685800" lvl="2" indent="-342900">
              <a:spcAft>
                <a:spcPts val="0"/>
              </a:spcAft>
            </a:pPr>
            <a:r>
              <a:rPr lang="pt-BR" sz="1400" dirty="0"/>
              <a:t>Os blobs podem ter até 4,7 TB e blocos de até 100 MB</a:t>
            </a:r>
          </a:p>
          <a:p>
            <a:pPr marL="1028700" lvl="3" indent="-342900">
              <a:spcAft>
                <a:spcPts val="0"/>
              </a:spcAft>
            </a:pPr>
            <a:r>
              <a:rPr lang="pt-BR" sz="1400" dirty="0"/>
              <a:t>Um blob pode conter até 50.000 blocos</a:t>
            </a:r>
          </a:p>
          <a:p>
            <a:pPr marL="342900" lvl="1" indent="-342900">
              <a:buFont typeface="Arial" panose="020B0604020202020204" pitchFamily="34" charset="0"/>
              <a:buChar char="•"/>
            </a:pPr>
            <a:r>
              <a:rPr lang="pt-BR" sz="1800" dirty="0"/>
              <a:t>Blobs de páginas</a:t>
            </a:r>
          </a:p>
          <a:p>
            <a:pPr marL="685800" lvl="2" indent="-342900">
              <a:spcAft>
                <a:spcPts val="0"/>
              </a:spcAft>
            </a:pPr>
            <a:r>
              <a:rPr lang="pt-BR" sz="1400" dirty="0"/>
              <a:t>Usados como armazenamento em disco virtual para VMs</a:t>
            </a:r>
          </a:p>
          <a:p>
            <a:pPr marL="685800" lvl="2" indent="-342900">
              <a:spcAft>
                <a:spcPts val="0"/>
              </a:spcAft>
            </a:pPr>
            <a:r>
              <a:rPr lang="pt-BR" sz="1400" dirty="0"/>
              <a:t>Os blobs podem ter até 8 TB e páginas de tamanho fixo de 512 bytes</a:t>
            </a:r>
          </a:p>
          <a:p>
            <a:pPr marL="342900" lvl="1" indent="-342900">
              <a:buFont typeface="Arial" panose="020B0604020202020204" pitchFamily="34" charset="0"/>
              <a:buChar char="•"/>
            </a:pPr>
            <a:r>
              <a:rPr lang="pt-BR" sz="1800" dirty="0"/>
              <a:t>Blobs de acréscimo</a:t>
            </a:r>
          </a:p>
          <a:p>
            <a:pPr marL="685800" lvl="2" indent="-342900">
              <a:spcAft>
                <a:spcPts val="0"/>
              </a:spcAft>
            </a:pPr>
            <a:r>
              <a:rPr lang="pt-BR" sz="1400" dirty="0"/>
              <a:t>São blobs de blocos usados para otimizar as operações de acréscimo</a:t>
            </a:r>
          </a:p>
          <a:p>
            <a:pPr marL="685800" lvl="2" indent="-342900">
              <a:spcAft>
                <a:spcPts val="0"/>
              </a:spcAft>
            </a:pPr>
            <a:r>
              <a:rPr lang="pt-BR" sz="1400" dirty="0"/>
              <a:t>Tamanho máximo de pouco mais de 195 GB - cada bloco pode ter até  4 MB</a:t>
            </a:r>
            <a:endParaRPr lang="en-US" sz="1000" dirty="0"/>
          </a:p>
          <a:p>
            <a:pPr lvl="1"/>
            <a:r>
              <a:rPr lang="pt-BR" sz="2200" dirty="0">
                <a:solidFill>
                  <a:srgbClr val="000000"/>
                </a:solidFill>
                <a:latin typeface="+mj-lt"/>
              </a:rPr>
              <a:t>Camadas de armazenamento por blob</a:t>
            </a:r>
          </a:p>
          <a:p>
            <a:pPr marL="342900" lvl="1" indent="-342900">
              <a:buFont typeface="Arial" panose="020B0604020202020204" pitchFamily="34" charset="0"/>
              <a:buChar char="•"/>
            </a:pPr>
            <a:r>
              <a:rPr lang="pt-BR" sz="1800" dirty="0"/>
              <a:t>Frequente – maior custo, menor latência</a:t>
            </a:r>
          </a:p>
          <a:p>
            <a:pPr marL="342900" lvl="1" indent="-342900">
              <a:buFont typeface="Arial" panose="020B0604020202020204" pitchFamily="34" charset="0"/>
              <a:buChar char="•"/>
            </a:pPr>
            <a:r>
              <a:rPr lang="pt-BR" sz="1800" dirty="0"/>
              <a:t>Esporádico – menor custo, maior latência</a:t>
            </a:r>
          </a:p>
          <a:p>
            <a:pPr marL="342900" lvl="1" indent="-342900">
              <a:buFont typeface="Arial" panose="020B0604020202020204" pitchFamily="34" charset="0"/>
              <a:buChar char="•"/>
            </a:pPr>
            <a:r>
              <a:rPr lang="pt-BR" sz="1800" dirty="0"/>
              <a:t>De arquivos – menor custo, maior latência</a:t>
            </a:r>
          </a:p>
        </p:txBody>
      </p:sp>
      <p:sp>
        <p:nvSpPr>
          <p:cNvPr id="40" name="TextBox 39">
            <a:extLst>
              <a:ext uri="{FF2B5EF4-FFF2-40B4-BE49-F238E27FC236}">
                <a16:creationId xmlns:a16="http://schemas.microsoft.com/office/drawing/2014/main" id="{FF8D0B58-3625-4889-80F2-64B52EA2F811}"/>
              </a:ext>
            </a:extLst>
          </p:cNvPr>
          <p:cNvSpPr txBox="1"/>
          <p:nvPr/>
        </p:nvSpPr>
        <p:spPr>
          <a:xfrm>
            <a:off x="7659519" y="4232306"/>
            <a:ext cx="3990317" cy="1957459"/>
          </a:xfrm>
          <a:prstGeom prst="rect">
            <a:avLst/>
          </a:prstGeom>
          <a:noFill/>
        </p:spPr>
        <p:txBody>
          <a:bodyPr wrap="square" lIns="182880" tIns="146304" rIns="182880" bIns="146304" rtlCol="0">
            <a:spAutoFit/>
          </a:bodyPr>
          <a:lstStyle/>
          <a:p>
            <a:pPr>
              <a:spcAft>
                <a:spcPts val="600"/>
              </a:spcAft>
            </a:pPr>
            <a:r>
              <a:rPr lang="pt-BR" sz="1800" dirty="0">
                <a:gradFill>
                  <a:gsLst>
                    <a:gs pos="2917">
                      <a:schemeClr val="tx1"/>
                    </a:gs>
                    <a:gs pos="30000">
                      <a:schemeClr val="tx1"/>
                    </a:gs>
                  </a:gsLst>
                  <a:lin ang="5400000" scaled="0"/>
                </a:gradFill>
              </a:rPr>
              <a:t>Os blobs podem ser organizados em diretórios virtuais, mas cada caminho é considerado um único blob em um namespace simples. As operações no nível de pasta não são compatíveis</a:t>
            </a:r>
          </a:p>
        </p:txBody>
      </p:sp>
      <p:grpSp>
        <p:nvGrpSpPr>
          <p:cNvPr id="11" name="Group 10" descr="Hierarquia: Conta de Armazenamento do Azure contendo o Contêiner de Blobs com blob1 e pasta1/blob2">
            <a:extLst>
              <a:ext uri="{FF2B5EF4-FFF2-40B4-BE49-F238E27FC236}">
                <a16:creationId xmlns:a16="http://schemas.microsoft.com/office/drawing/2014/main" id="{52B28D11-0E7D-4C84-A08F-E50BEE5A61D7}"/>
              </a:ext>
            </a:extLst>
          </p:cNvPr>
          <p:cNvGrpSpPr/>
          <p:nvPr/>
        </p:nvGrpSpPr>
        <p:grpSpPr>
          <a:xfrm>
            <a:off x="7152123" y="1394601"/>
            <a:ext cx="4600079" cy="2672450"/>
            <a:chOff x="7152123" y="1394601"/>
            <a:chExt cx="4600079" cy="2672450"/>
          </a:xfrm>
        </p:grpSpPr>
        <p:grpSp>
          <p:nvGrpSpPr>
            <p:cNvPr id="5" name="Group 4">
              <a:extLst>
                <a:ext uri="{FF2B5EF4-FFF2-40B4-BE49-F238E27FC236}">
                  <a16:creationId xmlns:a16="http://schemas.microsoft.com/office/drawing/2014/main" id="{397C9DBD-1DCD-4D29-BD42-44ADC64AF437}"/>
                </a:ext>
              </a:extLst>
            </p:cNvPr>
            <p:cNvGrpSpPr/>
            <p:nvPr/>
          </p:nvGrpSpPr>
          <p:grpSpPr>
            <a:xfrm>
              <a:off x="7152123" y="1394601"/>
              <a:ext cx="4600079" cy="2672450"/>
              <a:chOff x="7152123" y="1394601"/>
              <a:chExt cx="4600079" cy="2672450"/>
            </a:xfrm>
          </p:grpSpPr>
          <p:grpSp>
            <p:nvGrpSpPr>
              <p:cNvPr id="46" name="Group 45">
                <a:extLst>
                  <a:ext uri="{FF2B5EF4-FFF2-40B4-BE49-F238E27FC236}">
                    <a16:creationId xmlns:a16="http://schemas.microsoft.com/office/drawing/2014/main" id="{C06A84B4-28CC-438C-943E-0F96CC5E0912}"/>
                  </a:ext>
                  <a:ext uri="{C183D7F6-B498-43B3-948B-1728B52AA6E4}">
                    <adec:decorative xmlns:adec="http://schemas.microsoft.com/office/drawing/2017/decorative" val="1"/>
                  </a:ext>
                </a:extLst>
              </p:cNvPr>
              <p:cNvGrpSpPr/>
              <p:nvPr/>
            </p:nvGrpSpPr>
            <p:grpSpPr>
              <a:xfrm>
                <a:off x="7152123" y="1394601"/>
                <a:ext cx="4600079" cy="2565965"/>
                <a:chOff x="7152123" y="1394601"/>
                <a:chExt cx="4600079" cy="2565965"/>
              </a:xfrm>
            </p:grpSpPr>
            <p:pic>
              <p:nvPicPr>
                <p:cNvPr id="6" name="Graphic 5">
                  <a:extLst>
                    <a:ext uri="{FF2B5EF4-FFF2-40B4-BE49-F238E27FC236}">
                      <a16:creationId xmlns:a16="http://schemas.microsoft.com/office/drawing/2014/main" id="{0B8BDA33-C76D-4FB5-9722-4A40212249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52123" y="1394601"/>
                  <a:ext cx="824782" cy="824782"/>
                </a:xfrm>
                <a:prstGeom prst="rect">
                  <a:avLst/>
                </a:prstGeom>
              </p:spPr>
            </p:pic>
            <p:sp>
              <p:nvSpPr>
                <p:cNvPr id="7" name="TextBox 6">
                  <a:extLst>
                    <a:ext uri="{FF2B5EF4-FFF2-40B4-BE49-F238E27FC236}">
                      <a16:creationId xmlns:a16="http://schemas.microsoft.com/office/drawing/2014/main" id="{BA5C3E97-13F2-43F0-A6C7-EF227E05DC0F}"/>
                    </a:ext>
                  </a:extLst>
                </p:cNvPr>
                <p:cNvSpPr txBox="1"/>
                <p:nvPr/>
              </p:nvSpPr>
              <p:spPr>
                <a:xfrm>
                  <a:off x="7897621" y="1434316"/>
                  <a:ext cx="3854581" cy="932563"/>
                </a:xfrm>
                <a:prstGeom prst="rect">
                  <a:avLst/>
                </a:prstGeom>
                <a:noFill/>
              </p:spPr>
              <p:txBody>
                <a:bodyPr wrap="none" lIns="182880" tIns="146304" rIns="182880" bIns="146304" rtlCol="0">
                  <a:spAutoFit/>
                </a:bodyPr>
                <a:lstStyle/>
                <a:p>
                  <a:pPr>
                    <a:lnSpc>
                      <a:spcPct val="90000"/>
                    </a:lnSpc>
                    <a:spcAft>
                      <a:spcPts val="600"/>
                    </a:spcAft>
                  </a:pPr>
                  <a:r>
                    <a:rPr lang="pt-BR" sz="2300" dirty="0">
                      <a:gradFill>
                        <a:gsLst>
                          <a:gs pos="2917">
                            <a:schemeClr val="tx1"/>
                          </a:gs>
                          <a:gs pos="30000">
                            <a:schemeClr val="tx1"/>
                          </a:gs>
                        </a:gsLst>
                        <a:lin ang="5400000" scaled="0"/>
                      </a:gradFill>
                    </a:rPr>
                    <a:t>Conta de Armazenamento </a:t>
                  </a:r>
                  <a:br>
                    <a:rPr lang="pt-BR" sz="2300" dirty="0">
                      <a:gradFill>
                        <a:gsLst>
                          <a:gs pos="2917">
                            <a:schemeClr val="tx1"/>
                          </a:gs>
                          <a:gs pos="30000">
                            <a:schemeClr val="tx1"/>
                          </a:gs>
                        </a:gsLst>
                        <a:lin ang="5400000" scaled="0"/>
                      </a:gradFill>
                    </a:rPr>
                  </a:br>
                  <a:r>
                    <a:rPr lang="pt-BR" sz="2300" dirty="0">
                      <a:gradFill>
                        <a:gsLst>
                          <a:gs pos="2917">
                            <a:schemeClr val="tx1"/>
                          </a:gs>
                          <a:gs pos="30000">
                            <a:schemeClr val="tx1"/>
                          </a:gs>
                        </a:gsLst>
                        <a:lin ang="5400000" scaled="0"/>
                      </a:gradFill>
                    </a:rPr>
                    <a:t>do Azure</a:t>
                  </a:r>
                </a:p>
              </p:txBody>
            </p:sp>
            <p:pic>
              <p:nvPicPr>
                <p:cNvPr id="13" name="Graphic 12" descr="Papel com preenchimento sólido">
                  <a:extLst>
                    <a:ext uri="{FF2B5EF4-FFF2-40B4-BE49-F238E27FC236}">
                      <a16:creationId xmlns:a16="http://schemas.microsoft.com/office/drawing/2014/main" id="{063E611A-EC23-4CE0-8532-5B1BA82E4C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8604" y="3015579"/>
                  <a:ext cx="458223" cy="458223"/>
                </a:xfrm>
                <a:prstGeom prst="rect">
                  <a:avLst/>
                </a:prstGeom>
              </p:spPr>
            </p:pic>
            <p:grpSp>
              <p:nvGrpSpPr>
                <p:cNvPr id="15" name="Group 14">
                  <a:extLst>
                    <a:ext uri="{FF2B5EF4-FFF2-40B4-BE49-F238E27FC236}">
                      <a16:creationId xmlns:a16="http://schemas.microsoft.com/office/drawing/2014/main" id="{D65ED444-AE32-46C9-9E11-F4A07B3F9E74}"/>
                    </a:ext>
                  </a:extLst>
                </p:cNvPr>
                <p:cNvGrpSpPr/>
                <p:nvPr/>
              </p:nvGrpSpPr>
              <p:grpSpPr>
                <a:xfrm>
                  <a:off x="7636501" y="2141628"/>
                  <a:ext cx="1020913" cy="1020913"/>
                  <a:chOff x="2353948" y="2153277"/>
                  <a:chExt cx="1020913" cy="1020913"/>
                </a:xfrm>
              </p:grpSpPr>
              <p:pic>
                <p:nvPicPr>
                  <p:cNvPr id="9" name="Graphic 8" descr="Contorno de pasta">
                    <a:extLst>
                      <a:ext uri="{FF2B5EF4-FFF2-40B4-BE49-F238E27FC236}">
                        <a16:creationId xmlns:a16="http://schemas.microsoft.com/office/drawing/2014/main" id="{E9E5B16D-70E6-43C8-A319-7754DA2C2DF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53948" y="2153277"/>
                    <a:ext cx="1020913" cy="1020913"/>
                  </a:xfrm>
                  <a:prstGeom prst="rect">
                    <a:avLst/>
                  </a:prstGeom>
                </p:spPr>
              </p:pic>
              <p:pic>
                <p:nvPicPr>
                  <p:cNvPr id="14" name="Graphic 13">
                    <a:extLst>
                      <a:ext uri="{FF2B5EF4-FFF2-40B4-BE49-F238E27FC236}">
                        <a16:creationId xmlns:a16="http://schemas.microsoft.com/office/drawing/2014/main" id="{9E4D573C-5253-43DF-A354-BA69233112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22215" y="2474767"/>
                    <a:ext cx="484378" cy="484378"/>
                  </a:xfrm>
                  <a:prstGeom prst="rect">
                    <a:avLst/>
                  </a:prstGeom>
                </p:spPr>
              </p:pic>
            </p:grpSp>
            <p:cxnSp>
              <p:nvCxnSpPr>
                <p:cNvPr id="17" name="Connector: Elbow 16">
                  <a:extLst>
                    <a:ext uri="{FF2B5EF4-FFF2-40B4-BE49-F238E27FC236}">
                      <a16:creationId xmlns:a16="http://schemas.microsoft.com/office/drawing/2014/main" id="{16A50600-0E43-475D-8C2A-5516C5E699AC}"/>
                    </a:ext>
                  </a:extLst>
                </p:cNvPr>
                <p:cNvCxnSpPr>
                  <a:cxnSpLocks/>
                  <a:stCxn id="6" idx="2"/>
                  <a:endCxn id="9" idx="1"/>
                </p:cNvCxnSpPr>
                <p:nvPr/>
              </p:nvCxnSpPr>
              <p:spPr>
                <a:xfrm rot="16200000" flipH="1">
                  <a:off x="7384156" y="2399740"/>
                  <a:ext cx="432702" cy="71987"/>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177F944-716F-42A8-92A4-8EB6CEB78278}"/>
                    </a:ext>
                  </a:extLst>
                </p:cNvPr>
                <p:cNvSpPr txBox="1"/>
                <p:nvPr/>
              </p:nvSpPr>
              <p:spPr>
                <a:xfrm>
                  <a:off x="8457716" y="2352440"/>
                  <a:ext cx="2842060" cy="614014"/>
                </a:xfrm>
                <a:prstGeom prst="rect">
                  <a:avLst/>
                </a:prstGeom>
                <a:noFill/>
              </p:spPr>
              <p:txBody>
                <a:bodyPr wrap="none" lIns="182880" tIns="146304" rIns="182880" bIns="146304" rtlCol="0">
                  <a:spAutoFit/>
                </a:bodyPr>
                <a:lstStyle/>
                <a:p>
                  <a:pPr>
                    <a:lnSpc>
                      <a:spcPct val="90000"/>
                    </a:lnSpc>
                    <a:spcAft>
                      <a:spcPts val="600"/>
                    </a:spcAft>
                  </a:pPr>
                  <a:r>
                    <a:rPr lang="pt-BR" sz="2300" dirty="0">
                      <a:gradFill>
                        <a:gsLst>
                          <a:gs pos="2917">
                            <a:schemeClr val="tx1"/>
                          </a:gs>
                          <a:gs pos="30000">
                            <a:schemeClr val="tx1"/>
                          </a:gs>
                        </a:gsLst>
                        <a:lin ang="5400000" scaled="0"/>
                      </a:gradFill>
                    </a:rPr>
                    <a:t>Contêiner de blobs</a:t>
                  </a:r>
                </a:p>
              </p:txBody>
            </p:sp>
            <p:pic>
              <p:nvPicPr>
                <p:cNvPr id="22" name="Graphic 21" descr="Papel com preenchimento sólido">
                  <a:extLst>
                    <a:ext uri="{FF2B5EF4-FFF2-40B4-BE49-F238E27FC236}">
                      <a16:creationId xmlns:a16="http://schemas.microsoft.com/office/drawing/2014/main" id="{EE931A26-B025-4C9B-93FE-127E8449312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8604" y="3502343"/>
                  <a:ext cx="458223" cy="458223"/>
                </a:xfrm>
                <a:prstGeom prst="rect">
                  <a:avLst/>
                </a:prstGeom>
              </p:spPr>
            </p:pic>
            <p:cxnSp>
              <p:nvCxnSpPr>
                <p:cNvPr id="24" name="Connector: Elbow 23">
                  <a:extLst>
                    <a:ext uri="{FF2B5EF4-FFF2-40B4-BE49-F238E27FC236}">
                      <a16:creationId xmlns:a16="http://schemas.microsoft.com/office/drawing/2014/main" id="{15CAF033-7FFE-4C75-9CC9-3A4207A3A8BE}"/>
                    </a:ext>
                  </a:extLst>
                </p:cNvPr>
                <p:cNvCxnSpPr>
                  <a:cxnSpLocks/>
                  <a:stCxn id="14" idx="2"/>
                  <a:endCxn id="13" idx="1"/>
                </p:cNvCxnSpPr>
                <p:nvPr/>
              </p:nvCxnSpPr>
              <p:spPr>
                <a:xfrm rot="16200000" flipH="1">
                  <a:off x="8039183" y="3055269"/>
                  <a:ext cx="297195" cy="81647"/>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0512E566-7409-404E-A672-9156503F49FA}"/>
                    </a:ext>
                  </a:extLst>
                </p:cNvPr>
                <p:cNvCxnSpPr>
                  <a:cxnSpLocks/>
                  <a:stCxn id="14" idx="2"/>
                  <a:endCxn id="22" idx="1"/>
                </p:cNvCxnSpPr>
                <p:nvPr/>
              </p:nvCxnSpPr>
              <p:spPr>
                <a:xfrm rot="16200000" flipH="1">
                  <a:off x="7795801" y="3298651"/>
                  <a:ext cx="783959" cy="81647"/>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307538FC-87FD-4278-9E03-419225C4E6CE}"/>
                  </a:ext>
                </a:extLst>
              </p:cNvPr>
              <p:cNvSpPr txBox="1"/>
              <p:nvPr/>
            </p:nvSpPr>
            <p:spPr>
              <a:xfrm>
                <a:off x="8562778" y="3439187"/>
                <a:ext cx="2128724" cy="627864"/>
              </a:xfrm>
              <a:prstGeom prst="rect">
                <a:avLst/>
              </a:prstGeom>
              <a:noFill/>
            </p:spPr>
            <p:txBody>
              <a:bodyPr wrap="none" lIns="182880" tIns="146304" rIns="182880" bIns="146304" rtlCol="0">
                <a:spAutoFit/>
              </a:bodyPr>
              <a:lstStyle/>
              <a:p>
                <a:pPr>
                  <a:lnSpc>
                    <a:spcPct val="90000"/>
                  </a:lnSpc>
                  <a:spcAft>
                    <a:spcPts val="600"/>
                  </a:spcAft>
                </a:pPr>
                <a:r>
                  <a:rPr lang="pt-BR" sz="2300" dirty="0">
                    <a:gradFill>
                      <a:gsLst>
                        <a:gs pos="2917">
                          <a:schemeClr val="tx1"/>
                        </a:gs>
                        <a:gs pos="30000">
                          <a:schemeClr val="tx1"/>
                        </a:gs>
                      </a:gsLst>
                      <a:lin ang="5400000" scaled="0"/>
                    </a:gradFill>
                  </a:rPr>
                  <a:t>pasta1</a:t>
                </a:r>
                <a:r>
                  <a:rPr lang="pt-BR" sz="2400" dirty="0">
                    <a:gradFill>
                      <a:gsLst>
                        <a:gs pos="2917">
                          <a:schemeClr val="tx1"/>
                        </a:gs>
                        <a:gs pos="30000">
                          <a:schemeClr val="tx1"/>
                        </a:gs>
                      </a:gsLst>
                      <a:lin ang="5400000" scaled="0"/>
                    </a:gradFill>
                  </a:rPr>
                  <a:t>/blob2</a:t>
                </a:r>
              </a:p>
            </p:txBody>
          </p:sp>
        </p:grpSp>
        <p:sp>
          <p:nvSpPr>
            <p:cNvPr id="3" name="TextBox 2">
              <a:extLst>
                <a:ext uri="{FF2B5EF4-FFF2-40B4-BE49-F238E27FC236}">
                  <a16:creationId xmlns:a16="http://schemas.microsoft.com/office/drawing/2014/main" id="{207FD257-AD46-4667-B16C-351A13171F66}"/>
                </a:ext>
              </a:extLst>
            </p:cNvPr>
            <p:cNvSpPr txBox="1"/>
            <p:nvPr/>
          </p:nvSpPr>
          <p:spPr>
            <a:xfrm>
              <a:off x="8531969" y="2955087"/>
              <a:ext cx="1154803" cy="627864"/>
            </a:xfrm>
            <a:prstGeom prst="rect">
              <a:avLst/>
            </a:prstGeom>
            <a:noFill/>
          </p:spPr>
          <p:txBody>
            <a:bodyPr wrap="none" lIns="182880" tIns="146304" rIns="182880" bIns="146304" rtlCol="0">
              <a:spAutoFit/>
            </a:bodyPr>
            <a:lstStyle/>
            <a:p>
              <a:pPr>
                <a:lnSpc>
                  <a:spcPct val="90000"/>
                </a:lnSpc>
                <a:spcAft>
                  <a:spcPts val="600"/>
                </a:spcAft>
              </a:pPr>
              <a:r>
                <a:rPr lang="pt-BR" sz="2300" dirty="0">
                  <a:gradFill>
                    <a:gsLst>
                      <a:gs pos="2917">
                        <a:schemeClr val="tx1"/>
                      </a:gs>
                      <a:gs pos="30000">
                        <a:schemeClr val="tx1"/>
                      </a:gs>
                    </a:gsLst>
                    <a:lin ang="5400000" scaled="0"/>
                  </a:gradFill>
                </a:rPr>
                <a:t>blob1</a:t>
              </a:r>
            </a:p>
          </p:txBody>
        </p:sp>
      </p:grpSp>
    </p:spTree>
    <p:extLst>
      <p:ext uri="{BB962C8B-B14F-4D97-AF65-F5344CB8AC3E}">
        <p14:creationId xmlns:p14="http://schemas.microsoft.com/office/powerpoint/2010/main" val="302536492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4A51C-2CF3-4976-B0F3-B962DB6C8621}"/>
              </a:ext>
            </a:extLst>
          </p:cNvPr>
          <p:cNvSpPr>
            <a:spLocks noGrp="1"/>
          </p:cNvSpPr>
          <p:nvPr>
            <p:ph type="title"/>
          </p:nvPr>
        </p:nvSpPr>
        <p:spPr/>
        <p:txBody>
          <a:bodyPr/>
          <a:lstStyle/>
          <a:p>
            <a:pPr>
              <a:lnSpc>
                <a:spcPct val="100000"/>
              </a:lnSpc>
            </a:pPr>
            <a:r>
              <a:rPr lang="pt-BR" dirty="0"/>
              <a:t>Azure Data Lake Store Gen 2</a:t>
            </a:r>
          </a:p>
        </p:txBody>
      </p:sp>
      <p:grpSp>
        <p:nvGrpSpPr>
          <p:cNvPr id="23" name="Group 22">
            <a:extLst>
              <a:ext uri="{FF2B5EF4-FFF2-40B4-BE49-F238E27FC236}">
                <a16:creationId xmlns:a16="http://schemas.microsoft.com/office/drawing/2014/main" id="{4E50FC22-72CA-40DC-9BDA-77A12AEC198A}"/>
              </a:ext>
              <a:ext uri="{C183D7F6-B498-43B3-948B-1728B52AA6E4}">
                <adec:decorative xmlns:adec="http://schemas.microsoft.com/office/drawing/2017/decorative" val="1"/>
              </a:ext>
            </a:extLst>
          </p:cNvPr>
          <p:cNvGrpSpPr/>
          <p:nvPr/>
        </p:nvGrpSpPr>
        <p:grpSpPr>
          <a:xfrm>
            <a:off x="7152123" y="1394601"/>
            <a:ext cx="4459143" cy="3645550"/>
            <a:chOff x="7152123" y="1394601"/>
            <a:chExt cx="4459143" cy="3645550"/>
          </a:xfrm>
        </p:grpSpPr>
        <p:pic>
          <p:nvPicPr>
            <p:cNvPr id="4" name="Graphic 3">
              <a:extLst>
                <a:ext uri="{FF2B5EF4-FFF2-40B4-BE49-F238E27FC236}">
                  <a16:creationId xmlns:a16="http://schemas.microsoft.com/office/drawing/2014/main" id="{CBD0EE1C-7FE6-46E8-93EA-8B480F02A0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52123" y="1394601"/>
              <a:ext cx="824782" cy="824782"/>
            </a:xfrm>
            <a:prstGeom prst="rect">
              <a:avLst/>
            </a:prstGeom>
          </p:spPr>
        </p:pic>
        <p:sp>
          <p:nvSpPr>
            <p:cNvPr id="5" name="TextBox 4">
              <a:extLst>
                <a:ext uri="{FF2B5EF4-FFF2-40B4-BE49-F238E27FC236}">
                  <a16:creationId xmlns:a16="http://schemas.microsoft.com/office/drawing/2014/main" id="{626E9B91-A6C0-4406-A622-FA91DFE3D5A6}"/>
                </a:ext>
              </a:extLst>
            </p:cNvPr>
            <p:cNvSpPr txBox="1"/>
            <p:nvPr/>
          </p:nvSpPr>
          <p:spPr>
            <a:xfrm>
              <a:off x="7897621" y="1434316"/>
              <a:ext cx="3713645" cy="981807"/>
            </a:xfrm>
            <a:prstGeom prst="rect">
              <a:avLst/>
            </a:prstGeom>
            <a:noFill/>
          </p:spPr>
          <p:txBody>
            <a:bodyPr wrap="none" lIns="182880" tIns="146304" rIns="182880" bIns="146304" rtlCol="0">
              <a:spAutoFit/>
            </a:bodyPr>
            <a:lstStyle/>
            <a:p>
              <a:pPr>
                <a:lnSpc>
                  <a:spcPct val="90000"/>
                </a:lnSpc>
                <a:spcAft>
                  <a:spcPts val="600"/>
                </a:spcAft>
              </a:pPr>
              <a:r>
                <a:rPr lang="pt-BR" sz="2200" dirty="0">
                  <a:gradFill>
                    <a:gsLst>
                      <a:gs pos="2917">
                        <a:schemeClr val="tx1"/>
                      </a:gs>
                      <a:gs pos="30000">
                        <a:schemeClr val="tx1"/>
                      </a:gs>
                    </a:gsLst>
                    <a:lin ang="5400000" scaled="0"/>
                  </a:gradFill>
                </a:rPr>
                <a:t>Conta de Armazenamento </a:t>
              </a:r>
            </a:p>
            <a:p>
              <a:pPr>
                <a:lnSpc>
                  <a:spcPct val="90000"/>
                </a:lnSpc>
                <a:spcAft>
                  <a:spcPts val="600"/>
                </a:spcAft>
              </a:pPr>
              <a:r>
                <a:rPr lang="pt-BR" sz="2200" dirty="0">
                  <a:gradFill>
                    <a:gsLst>
                      <a:gs pos="2917">
                        <a:schemeClr val="tx1"/>
                      </a:gs>
                      <a:gs pos="30000">
                        <a:schemeClr val="tx1"/>
                      </a:gs>
                    </a:gsLst>
                    <a:lin ang="5400000" scaled="0"/>
                  </a:gradFill>
                </a:rPr>
                <a:t>do Azure</a:t>
              </a:r>
            </a:p>
          </p:txBody>
        </p:sp>
        <p:grpSp>
          <p:nvGrpSpPr>
            <p:cNvPr id="7" name="Group 6">
              <a:extLst>
                <a:ext uri="{FF2B5EF4-FFF2-40B4-BE49-F238E27FC236}">
                  <a16:creationId xmlns:a16="http://schemas.microsoft.com/office/drawing/2014/main" id="{08716EAE-A77E-4BF4-8ACD-D66C52FCE8C6}"/>
                </a:ext>
              </a:extLst>
            </p:cNvPr>
            <p:cNvGrpSpPr/>
            <p:nvPr/>
          </p:nvGrpSpPr>
          <p:grpSpPr>
            <a:xfrm>
              <a:off x="7636501" y="2141628"/>
              <a:ext cx="1020913" cy="1020913"/>
              <a:chOff x="2353948" y="2153277"/>
              <a:chExt cx="1020913" cy="1020913"/>
            </a:xfrm>
          </p:grpSpPr>
          <p:pic>
            <p:nvPicPr>
              <p:cNvPr id="18" name="Graphic 17" descr="Contorno de pasta">
                <a:extLst>
                  <a:ext uri="{FF2B5EF4-FFF2-40B4-BE49-F238E27FC236}">
                    <a16:creationId xmlns:a16="http://schemas.microsoft.com/office/drawing/2014/main" id="{B6B671EC-86BA-4540-A800-4F9EF2264A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53948" y="2153277"/>
                <a:ext cx="1020913" cy="1020913"/>
              </a:xfrm>
              <a:prstGeom prst="rect">
                <a:avLst/>
              </a:prstGeom>
            </p:spPr>
          </p:pic>
          <p:pic>
            <p:nvPicPr>
              <p:cNvPr id="19" name="Graphic 18">
                <a:extLst>
                  <a:ext uri="{FF2B5EF4-FFF2-40B4-BE49-F238E27FC236}">
                    <a16:creationId xmlns:a16="http://schemas.microsoft.com/office/drawing/2014/main" id="{17DC8674-CEAD-431F-ADE6-DFB623ABF9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22215" y="2474767"/>
                <a:ext cx="484378" cy="484378"/>
              </a:xfrm>
              <a:prstGeom prst="rect">
                <a:avLst/>
              </a:prstGeom>
            </p:spPr>
          </p:pic>
        </p:grpSp>
        <p:cxnSp>
          <p:nvCxnSpPr>
            <p:cNvPr id="8" name="Connector: Elbow 7">
              <a:extLst>
                <a:ext uri="{FF2B5EF4-FFF2-40B4-BE49-F238E27FC236}">
                  <a16:creationId xmlns:a16="http://schemas.microsoft.com/office/drawing/2014/main" id="{CB6D7796-6B02-4AF4-95C2-4427A4AF771A}"/>
                </a:ext>
              </a:extLst>
            </p:cNvPr>
            <p:cNvCxnSpPr>
              <a:cxnSpLocks/>
              <a:stCxn id="4" idx="2"/>
              <a:endCxn id="18" idx="1"/>
            </p:cNvCxnSpPr>
            <p:nvPr/>
          </p:nvCxnSpPr>
          <p:spPr>
            <a:xfrm rot="16200000" flipH="1">
              <a:off x="7384156" y="2399740"/>
              <a:ext cx="432702" cy="71987"/>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DB56E94-B609-4C77-B26E-54473832F9FD}"/>
                </a:ext>
              </a:extLst>
            </p:cNvPr>
            <p:cNvSpPr txBox="1"/>
            <p:nvPr/>
          </p:nvSpPr>
          <p:spPr>
            <a:xfrm>
              <a:off x="8457716" y="2352440"/>
              <a:ext cx="2737994" cy="600164"/>
            </a:xfrm>
            <a:prstGeom prst="rect">
              <a:avLst/>
            </a:prstGeom>
            <a:noFill/>
          </p:spPr>
          <p:txBody>
            <a:bodyPr wrap="none" lIns="182880" tIns="146304" rIns="182880" bIns="146304" rtlCol="0">
              <a:spAutoFit/>
            </a:bodyPr>
            <a:lstStyle/>
            <a:p>
              <a:pPr>
                <a:lnSpc>
                  <a:spcPct val="90000"/>
                </a:lnSpc>
                <a:spcAft>
                  <a:spcPts val="600"/>
                </a:spcAft>
              </a:pPr>
              <a:r>
                <a:rPr lang="pt-BR" sz="2200" dirty="0">
                  <a:gradFill>
                    <a:gsLst>
                      <a:gs pos="2917">
                        <a:schemeClr val="tx1"/>
                      </a:gs>
                      <a:gs pos="30000">
                        <a:schemeClr val="tx1"/>
                      </a:gs>
                    </a:gsLst>
                    <a:lin ang="5400000" scaled="0"/>
                  </a:gradFill>
                </a:rPr>
                <a:t>Contêiner de blobs</a:t>
              </a:r>
            </a:p>
          </p:txBody>
        </p:sp>
        <p:pic>
          <p:nvPicPr>
            <p:cNvPr id="10" name="Graphic 9" descr="Pasta aberta com preenchimento sólido">
              <a:extLst>
                <a:ext uri="{FF2B5EF4-FFF2-40B4-BE49-F238E27FC236}">
                  <a16:creationId xmlns:a16="http://schemas.microsoft.com/office/drawing/2014/main" id="{71A9240B-EE7D-4602-97D6-04BD9B0025B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28604" y="2980304"/>
              <a:ext cx="593274" cy="593274"/>
            </a:xfrm>
            <a:prstGeom prst="rect">
              <a:avLst/>
            </a:prstGeom>
          </p:spPr>
        </p:pic>
        <p:pic>
          <p:nvPicPr>
            <p:cNvPr id="11" name="Graphic 10" descr="Papel com preenchimento sólido">
              <a:extLst>
                <a:ext uri="{FF2B5EF4-FFF2-40B4-BE49-F238E27FC236}">
                  <a16:creationId xmlns:a16="http://schemas.microsoft.com/office/drawing/2014/main" id="{018ACBFE-2115-4206-8D0C-D2264A3D1BF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92766" y="3555546"/>
              <a:ext cx="458223" cy="458223"/>
            </a:xfrm>
            <a:prstGeom prst="rect">
              <a:avLst/>
            </a:prstGeom>
          </p:spPr>
        </p:pic>
        <p:pic>
          <p:nvPicPr>
            <p:cNvPr id="12" name="Graphic 11" descr="Papel com preenchimento sólido">
              <a:extLst>
                <a:ext uri="{FF2B5EF4-FFF2-40B4-BE49-F238E27FC236}">
                  <a16:creationId xmlns:a16="http://schemas.microsoft.com/office/drawing/2014/main" id="{BFBC9D15-DDF1-45E3-BB24-FDD77282DC7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92766" y="3998200"/>
              <a:ext cx="458223" cy="458223"/>
            </a:xfrm>
            <a:prstGeom prst="rect">
              <a:avLst/>
            </a:prstGeom>
          </p:spPr>
        </p:pic>
        <p:cxnSp>
          <p:nvCxnSpPr>
            <p:cNvPr id="13" name="Connector: Elbow 12">
              <a:extLst>
                <a:ext uri="{FF2B5EF4-FFF2-40B4-BE49-F238E27FC236}">
                  <a16:creationId xmlns:a16="http://schemas.microsoft.com/office/drawing/2014/main" id="{D86EC76F-2078-48AB-AC05-6D051F295D6D}"/>
                </a:ext>
              </a:extLst>
            </p:cNvPr>
            <p:cNvCxnSpPr>
              <a:cxnSpLocks/>
            </p:cNvCxnSpPr>
            <p:nvPr/>
          </p:nvCxnSpPr>
          <p:spPr>
            <a:xfrm rot="16200000" flipH="1">
              <a:off x="8025487" y="3041573"/>
              <a:ext cx="298509" cy="107725"/>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3CA25534-F573-4249-8726-E5D837A0EC00}"/>
                </a:ext>
              </a:extLst>
            </p:cNvPr>
            <p:cNvCxnSpPr>
              <a:cxnSpLocks/>
              <a:endCxn id="11" idx="1"/>
            </p:cNvCxnSpPr>
            <p:nvPr/>
          </p:nvCxnSpPr>
          <p:spPr>
            <a:xfrm rot="16200000" flipH="1">
              <a:off x="8394954" y="3586845"/>
              <a:ext cx="328099" cy="67525"/>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EAF3E78-7E65-4844-81F0-6EFCC4919CD9}"/>
                </a:ext>
              </a:extLst>
            </p:cNvPr>
            <p:cNvCxnSpPr>
              <a:cxnSpLocks/>
              <a:stCxn id="10" idx="2"/>
              <a:endCxn id="12" idx="1"/>
            </p:cNvCxnSpPr>
            <p:nvPr/>
          </p:nvCxnSpPr>
          <p:spPr>
            <a:xfrm rot="16200000" flipH="1">
              <a:off x="8232136" y="3866682"/>
              <a:ext cx="653734" cy="67525"/>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39A0CF0-6CFE-4AE1-801C-3502139302D7}"/>
                </a:ext>
              </a:extLst>
            </p:cNvPr>
            <p:cNvSpPr txBox="1"/>
            <p:nvPr/>
          </p:nvSpPr>
          <p:spPr>
            <a:xfrm>
              <a:off x="8661372" y="2993239"/>
              <a:ext cx="1467902" cy="600164"/>
            </a:xfrm>
            <a:prstGeom prst="rect">
              <a:avLst/>
            </a:prstGeom>
            <a:noFill/>
          </p:spPr>
          <p:txBody>
            <a:bodyPr wrap="none" lIns="182880" tIns="146304" rIns="182880" bIns="146304" rtlCol="0">
              <a:spAutoFit/>
            </a:bodyPr>
            <a:lstStyle/>
            <a:p>
              <a:pPr>
                <a:lnSpc>
                  <a:spcPct val="90000"/>
                </a:lnSpc>
                <a:spcAft>
                  <a:spcPts val="600"/>
                </a:spcAft>
              </a:pPr>
              <a:r>
                <a:rPr lang="pt-BR" sz="2200" dirty="0">
                  <a:gradFill>
                    <a:gsLst>
                      <a:gs pos="2917">
                        <a:schemeClr val="tx1"/>
                      </a:gs>
                      <a:gs pos="30000">
                        <a:schemeClr val="tx1"/>
                      </a:gs>
                    </a:gsLst>
                    <a:lin ang="5400000" scaled="0"/>
                  </a:gradFill>
                </a:rPr>
                <a:t>Diretório</a:t>
              </a:r>
            </a:p>
          </p:txBody>
        </p:sp>
        <p:sp>
          <p:nvSpPr>
            <p:cNvPr id="22" name="Rectangle 21">
              <a:extLst>
                <a:ext uri="{FF2B5EF4-FFF2-40B4-BE49-F238E27FC236}">
                  <a16:creationId xmlns:a16="http://schemas.microsoft.com/office/drawing/2014/main" id="{5D9D8810-658A-4C4A-BD30-797FD60C7CAF}"/>
                </a:ext>
              </a:extLst>
            </p:cNvPr>
            <p:cNvSpPr/>
            <p:nvPr/>
          </p:nvSpPr>
          <p:spPr bwMode="auto">
            <a:xfrm>
              <a:off x="7454981" y="3028497"/>
              <a:ext cx="3715842" cy="1744745"/>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TextBox 20">
              <a:extLst>
                <a:ext uri="{FF2B5EF4-FFF2-40B4-BE49-F238E27FC236}">
                  <a16:creationId xmlns:a16="http://schemas.microsoft.com/office/drawing/2014/main" id="{0DE2A822-8F3D-43E5-B02D-E9E12A69B6D9}"/>
                </a:ext>
              </a:extLst>
            </p:cNvPr>
            <p:cNvSpPr txBox="1"/>
            <p:nvPr/>
          </p:nvSpPr>
          <p:spPr>
            <a:xfrm>
              <a:off x="7764390" y="4467687"/>
              <a:ext cx="3087251" cy="572464"/>
            </a:xfrm>
            <a:prstGeom prst="rect">
              <a:avLst/>
            </a:prstGeom>
            <a:solidFill>
              <a:schemeClr val="bg2"/>
            </a:solidFill>
          </p:spPr>
          <p:txBody>
            <a:bodyPr wrap="square" lIns="182880" tIns="146304" rIns="182880" bIns="146304" rtlCol="0">
              <a:spAutoFit/>
            </a:bodyPr>
            <a:lstStyle/>
            <a:p>
              <a:pPr>
                <a:lnSpc>
                  <a:spcPct val="90000"/>
                </a:lnSpc>
                <a:spcAft>
                  <a:spcPts val="600"/>
                </a:spcAft>
              </a:pPr>
              <a:r>
                <a:rPr lang="pt-BR" sz="2000" dirty="0">
                  <a:gradFill>
                    <a:gsLst>
                      <a:gs pos="2917">
                        <a:schemeClr val="tx1"/>
                      </a:gs>
                      <a:gs pos="30000">
                        <a:schemeClr val="tx1"/>
                      </a:gs>
                    </a:gsLst>
                    <a:lin ang="5400000" scaled="0"/>
                  </a:gradFill>
                </a:rPr>
                <a:t>Namespace Hierárquico</a:t>
              </a:r>
            </a:p>
          </p:txBody>
        </p:sp>
        <p:sp>
          <p:nvSpPr>
            <p:cNvPr id="30" name="TextBox 29">
              <a:extLst>
                <a:ext uri="{FF2B5EF4-FFF2-40B4-BE49-F238E27FC236}">
                  <a16:creationId xmlns:a16="http://schemas.microsoft.com/office/drawing/2014/main" id="{E5152CB8-244F-4A91-BB58-FFADE867DB7D}"/>
                </a:ext>
              </a:extLst>
            </p:cNvPr>
            <p:cNvSpPr txBox="1"/>
            <p:nvPr/>
          </p:nvSpPr>
          <p:spPr>
            <a:xfrm>
              <a:off x="8845129" y="3484221"/>
              <a:ext cx="1492460" cy="600164"/>
            </a:xfrm>
            <a:prstGeom prst="rect">
              <a:avLst/>
            </a:prstGeom>
            <a:noFill/>
          </p:spPr>
          <p:txBody>
            <a:bodyPr wrap="none" lIns="182880" tIns="146304" rIns="182880" bIns="146304" rtlCol="0">
              <a:spAutoFit/>
            </a:bodyPr>
            <a:lstStyle/>
            <a:p>
              <a:pPr>
                <a:lnSpc>
                  <a:spcPct val="90000"/>
                </a:lnSpc>
                <a:spcAft>
                  <a:spcPts val="600"/>
                </a:spcAft>
              </a:pPr>
              <a:r>
                <a:rPr lang="pt-BR" sz="2200">
                  <a:gradFill>
                    <a:gsLst>
                      <a:gs pos="2917">
                        <a:schemeClr val="tx1"/>
                      </a:gs>
                      <a:gs pos="30000">
                        <a:schemeClr val="tx1"/>
                      </a:gs>
                    </a:gsLst>
                    <a:lin ang="5400000" scaled="0"/>
                  </a:gradFill>
                </a:rPr>
                <a:t>Arquivo1</a:t>
              </a:r>
            </a:p>
          </p:txBody>
        </p:sp>
        <p:sp>
          <p:nvSpPr>
            <p:cNvPr id="31" name="TextBox 30">
              <a:extLst>
                <a:ext uri="{FF2B5EF4-FFF2-40B4-BE49-F238E27FC236}">
                  <a16:creationId xmlns:a16="http://schemas.microsoft.com/office/drawing/2014/main" id="{582CA971-39AD-499E-9F4C-6AF8C4B39D14}"/>
                </a:ext>
              </a:extLst>
            </p:cNvPr>
            <p:cNvSpPr txBox="1"/>
            <p:nvPr/>
          </p:nvSpPr>
          <p:spPr>
            <a:xfrm>
              <a:off x="8854093" y="3930642"/>
              <a:ext cx="1492460" cy="600164"/>
            </a:xfrm>
            <a:prstGeom prst="rect">
              <a:avLst/>
            </a:prstGeom>
            <a:noFill/>
          </p:spPr>
          <p:txBody>
            <a:bodyPr wrap="none" lIns="182880" tIns="146304" rIns="182880" bIns="146304" rtlCol="0">
              <a:spAutoFit/>
            </a:bodyPr>
            <a:lstStyle/>
            <a:p>
              <a:pPr>
                <a:lnSpc>
                  <a:spcPct val="90000"/>
                </a:lnSpc>
                <a:spcAft>
                  <a:spcPts val="600"/>
                </a:spcAft>
              </a:pPr>
              <a:r>
                <a:rPr lang="pt-BR" sz="2200">
                  <a:gradFill>
                    <a:gsLst>
                      <a:gs pos="2917">
                        <a:schemeClr val="tx1"/>
                      </a:gs>
                      <a:gs pos="30000">
                        <a:schemeClr val="tx1"/>
                      </a:gs>
                    </a:gsLst>
                    <a:lin ang="5400000" scaled="0"/>
                  </a:gradFill>
                </a:rPr>
                <a:t>Arquivo2</a:t>
              </a:r>
            </a:p>
          </p:txBody>
        </p:sp>
      </p:grpSp>
      <p:sp>
        <p:nvSpPr>
          <p:cNvPr id="25" name="TextBox 24">
            <a:extLst>
              <a:ext uri="{FF2B5EF4-FFF2-40B4-BE49-F238E27FC236}">
                <a16:creationId xmlns:a16="http://schemas.microsoft.com/office/drawing/2014/main" id="{EA53D210-1A47-4E95-9A16-545FA1FCE8E4}"/>
              </a:ext>
            </a:extLst>
          </p:cNvPr>
          <p:cNvSpPr txBox="1"/>
          <p:nvPr/>
        </p:nvSpPr>
        <p:spPr>
          <a:xfrm>
            <a:off x="7033976" y="5120616"/>
            <a:ext cx="5027949" cy="1403461"/>
          </a:xfrm>
          <a:prstGeom prst="rect">
            <a:avLst/>
          </a:prstGeom>
          <a:noFill/>
        </p:spPr>
        <p:txBody>
          <a:bodyPr wrap="square" lIns="182880" tIns="146304" rIns="182880" bIns="146304" rtlCol="0">
            <a:spAutoFit/>
          </a:bodyPr>
          <a:lstStyle/>
          <a:p>
            <a:pPr>
              <a:spcAft>
                <a:spcPts val="600"/>
              </a:spcAft>
            </a:pPr>
            <a:r>
              <a:rPr lang="pt-BR" sz="1800" dirty="0">
                <a:gradFill>
                  <a:gsLst>
                    <a:gs pos="2917">
                      <a:schemeClr val="tx1"/>
                    </a:gs>
                    <a:gs pos="30000">
                      <a:schemeClr val="tx1"/>
                    </a:gs>
                  </a:gsLst>
                  <a:lin ang="5400000" scaled="0"/>
                </a:gradFill>
              </a:rPr>
              <a:t>O sistema de arquivos inclui diretórios e arquivos e é compatível com sistemas de análise de dados em grande escala, como Hadoop, Databricks e Azure Synapse Analytics</a:t>
            </a:r>
          </a:p>
        </p:txBody>
      </p:sp>
      <p:sp>
        <p:nvSpPr>
          <p:cNvPr id="26" name="Rectangle 25">
            <a:extLst>
              <a:ext uri="{FF2B5EF4-FFF2-40B4-BE49-F238E27FC236}">
                <a16:creationId xmlns:a16="http://schemas.microsoft.com/office/drawing/2014/main" id="{86430C37-BEE1-4B64-BDE6-C357A0DAAD4D}"/>
              </a:ext>
              <a:ext uri="{C183D7F6-B498-43B3-948B-1728B52AA6E4}">
                <adec:decorative xmlns:adec="http://schemas.microsoft.com/office/drawing/2017/decorative" val="1"/>
              </a:ext>
            </a:extLst>
          </p:cNvPr>
          <p:cNvSpPr/>
          <p:nvPr/>
        </p:nvSpPr>
        <p:spPr bwMode="auto">
          <a:xfrm>
            <a:off x="203200" y="1291175"/>
            <a:ext cx="6694802" cy="5243582"/>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7">
            <a:extLst>
              <a:ext uri="{FF2B5EF4-FFF2-40B4-BE49-F238E27FC236}">
                <a16:creationId xmlns:a16="http://schemas.microsoft.com/office/drawing/2014/main" id="{023910EF-AB02-4714-A0E3-50CD07B69E58}"/>
              </a:ext>
            </a:extLst>
          </p:cNvPr>
          <p:cNvSpPr txBox="1">
            <a:spLocks/>
          </p:cNvSpPr>
          <p:nvPr/>
        </p:nvSpPr>
        <p:spPr>
          <a:xfrm>
            <a:off x="396297" y="1432518"/>
            <a:ext cx="6444582" cy="5376728"/>
          </a:xfrm>
          <a:prstGeom prst="rect">
            <a:avLst/>
          </a:prstGeom>
        </p:spPr>
        <p:txBody>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pt-BR" sz="1900" dirty="0"/>
              <a:t>Sistema de arquivos distribuído criado no Armazenamento de Blobs</a:t>
            </a:r>
          </a:p>
          <a:p>
            <a:pPr marL="342900" lvl="1" indent="-342900">
              <a:buFont typeface="Arial" panose="020B0604020202020204" pitchFamily="34" charset="0"/>
              <a:buChar char="•"/>
            </a:pPr>
            <a:r>
              <a:rPr lang="pt-BR" sz="1900" dirty="0"/>
              <a:t>Combina o Azure Data Lake Store Gen 1 com o Armazenamento de Blobs do Azure para armazenamento e análise de arquivos em grande escala</a:t>
            </a:r>
          </a:p>
          <a:p>
            <a:pPr marL="342900" lvl="1" indent="-342900">
              <a:buFont typeface="Arial" panose="020B0604020202020204" pitchFamily="34" charset="0"/>
              <a:buChar char="•"/>
            </a:pPr>
            <a:r>
              <a:rPr lang="pt-BR" sz="1900" dirty="0"/>
              <a:t>Permite controle e gerenciamento de acesso em nível de arquivo e diretório</a:t>
            </a:r>
          </a:p>
          <a:p>
            <a:pPr marL="342900" lvl="1" indent="-342900">
              <a:buFont typeface="Arial" panose="020B0604020202020204" pitchFamily="34" charset="0"/>
              <a:buChar char="•"/>
            </a:pPr>
            <a:r>
              <a:rPr lang="pt-BR" sz="1900" dirty="0"/>
              <a:t>Compatível com sistemas analíticos comuns de grande escala</a:t>
            </a:r>
          </a:p>
          <a:p>
            <a:pPr lvl="1"/>
            <a:r>
              <a:rPr lang="pt-BR" sz="1900" dirty="0">
                <a:solidFill>
                  <a:srgbClr val="000000"/>
                </a:solidFill>
                <a:latin typeface="+mj-lt"/>
              </a:rPr>
              <a:t>Habilitado em uma conta de Armazenamento do Azure na opção </a:t>
            </a:r>
            <a:r>
              <a:rPr lang="pt-BR" sz="1900" i="1" dirty="0">
                <a:solidFill>
                  <a:srgbClr val="000000"/>
                </a:solidFill>
                <a:latin typeface="+mj-lt"/>
              </a:rPr>
              <a:t>Namespace Hierárquico</a:t>
            </a:r>
          </a:p>
          <a:p>
            <a:pPr marL="342900" lvl="1" indent="-342900">
              <a:buFont typeface="Arial" panose="020B0604020202020204" pitchFamily="34" charset="0"/>
              <a:buChar char="•"/>
            </a:pPr>
            <a:r>
              <a:rPr lang="pt-BR" sz="1900" dirty="0"/>
              <a:t>Defina durante a criação da conta</a:t>
            </a:r>
          </a:p>
          <a:p>
            <a:pPr marL="342900" lvl="1" indent="-342900">
              <a:buFont typeface="Arial" panose="020B0604020202020204" pitchFamily="34" charset="0"/>
              <a:buChar char="•"/>
            </a:pPr>
            <a:r>
              <a:rPr lang="pt-BR" sz="1900" dirty="0"/>
              <a:t>Atualize a conta de armazenamento</a:t>
            </a:r>
          </a:p>
          <a:p>
            <a:pPr marL="685800" lvl="2" indent="-342900"/>
            <a:r>
              <a:rPr lang="pt-BR" sz="1900" dirty="0"/>
              <a:t>Processo de atualização unidirecional</a:t>
            </a:r>
          </a:p>
        </p:txBody>
      </p:sp>
    </p:spTree>
    <p:extLst>
      <p:ext uri="{BB962C8B-B14F-4D97-AF65-F5344CB8AC3E}">
        <p14:creationId xmlns:p14="http://schemas.microsoft.com/office/powerpoint/2010/main" val="150890127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0560F32B-E601-4BFE-94D4-FB7A2DE876A2}"/>
              </a:ext>
              <a:ext uri="{C183D7F6-B498-43B3-948B-1728B52AA6E4}">
                <adec:decorative xmlns:adec="http://schemas.microsoft.com/office/drawing/2017/decorative" val="1"/>
              </a:ext>
            </a:extLst>
          </p:cNvPr>
          <p:cNvSpPr/>
          <p:nvPr/>
        </p:nvSpPr>
        <p:spPr bwMode="auto">
          <a:xfrm>
            <a:off x="203200" y="1578359"/>
            <a:ext cx="6694802" cy="3975774"/>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41DD03D0-5673-411E-BA4D-C1DC269B72DB}"/>
              </a:ext>
            </a:extLst>
          </p:cNvPr>
          <p:cNvSpPr>
            <a:spLocks noGrp="1"/>
          </p:cNvSpPr>
          <p:nvPr>
            <p:ph type="title"/>
          </p:nvPr>
        </p:nvSpPr>
        <p:spPr/>
        <p:txBody>
          <a:bodyPr/>
          <a:lstStyle/>
          <a:p>
            <a:pPr>
              <a:lnSpc>
                <a:spcPct val="100000"/>
              </a:lnSpc>
            </a:pPr>
            <a:r>
              <a:rPr lang="pt-BR" dirty="0"/>
              <a:t>Arquivos do Azure</a:t>
            </a:r>
          </a:p>
        </p:txBody>
      </p:sp>
      <p:grpSp>
        <p:nvGrpSpPr>
          <p:cNvPr id="3" name="Group 2">
            <a:extLst>
              <a:ext uri="{FF2B5EF4-FFF2-40B4-BE49-F238E27FC236}">
                <a16:creationId xmlns:a16="http://schemas.microsoft.com/office/drawing/2014/main" id="{048CE554-415E-40C7-8354-F4FBB66EEF31}"/>
              </a:ext>
              <a:ext uri="{C183D7F6-B498-43B3-948B-1728B52AA6E4}">
                <adec:decorative xmlns:adec="http://schemas.microsoft.com/office/drawing/2017/decorative" val="1"/>
              </a:ext>
            </a:extLst>
          </p:cNvPr>
          <p:cNvGrpSpPr/>
          <p:nvPr/>
        </p:nvGrpSpPr>
        <p:grpSpPr>
          <a:xfrm>
            <a:off x="6965748" y="1120690"/>
            <a:ext cx="7506608" cy="5122856"/>
            <a:chOff x="6965748" y="1120690"/>
            <a:chExt cx="7506608" cy="5122856"/>
          </a:xfrm>
        </p:grpSpPr>
        <p:sp>
          <p:nvSpPr>
            <p:cNvPr id="2" name="Rectangle 1">
              <a:extLst>
                <a:ext uri="{FF2B5EF4-FFF2-40B4-BE49-F238E27FC236}">
                  <a16:creationId xmlns:a16="http://schemas.microsoft.com/office/drawing/2014/main" id="{FC3EBEE1-12F6-4825-8939-FD429B58D577}"/>
                </a:ext>
              </a:extLst>
            </p:cNvPr>
            <p:cNvSpPr/>
            <p:nvPr/>
          </p:nvSpPr>
          <p:spPr bwMode="auto">
            <a:xfrm>
              <a:off x="6965748" y="1120690"/>
              <a:ext cx="4921452" cy="5122856"/>
            </a:xfrm>
            <a:prstGeom prst="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89993F25-7222-4E97-8E58-500AAC7F09C8}"/>
                </a:ext>
              </a:extLst>
            </p:cNvPr>
            <p:cNvGrpSpPr/>
            <p:nvPr/>
          </p:nvGrpSpPr>
          <p:grpSpPr>
            <a:xfrm>
              <a:off x="7163771" y="1224834"/>
              <a:ext cx="7308585" cy="4940084"/>
              <a:chOff x="7163771" y="1224834"/>
              <a:chExt cx="7308585" cy="4940084"/>
            </a:xfrm>
          </p:grpSpPr>
          <p:pic>
            <p:nvPicPr>
              <p:cNvPr id="5" name="Graphic 4">
                <a:extLst>
                  <a:ext uri="{FF2B5EF4-FFF2-40B4-BE49-F238E27FC236}">
                    <a16:creationId xmlns:a16="http://schemas.microsoft.com/office/drawing/2014/main" id="{858E39B7-9C28-466C-9B29-419E7BCF4A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63771" y="1224834"/>
                <a:ext cx="824782" cy="824782"/>
              </a:xfrm>
              <a:prstGeom prst="rect">
                <a:avLst/>
              </a:prstGeom>
            </p:spPr>
          </p:pic>
          <p:sp>
            <p:nvSpPr>
              <p:cNvPr id="6" name="TextBox 5">
                <a:extLst>
                  <a:ext uri="{FF2B5EF4-FFF2-40B4-BE49-F238E27FC236}">
                    <a16:creationId xmlns:a16="http://schemas.microsoft.com/office/drawing/2014/main" id="{F3ED1093-43C3-4260-8E9B-F31FBC5655DA}"/>
                  </a:ext>
                </a:extLst>
              </p:cNvPr>
              <p:cNvSpPr txBox="1"/>
              <p:nvPr/>
            </p:nvSpPr>
            <p:spPr>
              <a:xfrm>
                <a:off x="7920918" y="1300899"/>
                <a:ext cx="3713645" cy="981807"/>
              </a:xfrm>
              <a:prstGeom prst="rect">
                <a:avLst/>
              </a:prstGeom>
              <a:noFill/>
            </p:spPr>
            <p:txBody>
              <a:bodyPr wrap="none" lIns="182880" tIns="146304" rIns="182880" bIns="146304" rtlCol="0">
                <a:spAutoFit/>
              </a:bodyPr>
              <a:lstStyle/>
              <a:p>
                <a:pPr>
                  <a:lnSpc>
                    <a:spcPct val="90000"/>
                  </a:lnSpc>
                  <a:spcAft>
                    <a:spcPts val="600"/>
                  </a:spcAft>
                </a:pPr>
                <a:r>
                  <a:rPr lang="pt-BR" sz="2200" dirty="0">
                    <a:gradFill>
                      <a:gsLst>
                        <a:gs pos="2917">
                          <a:schemeClr val="tx1"/>
                        </a:gs>
                        <a:gs pos="30000">
                          <a:schemeClr val="tx1"/>
                        </a:gs>
                      </a:gsLst>
                      <a:lin ang="5400000" scaled="0"/>
                    </a:gradFill>
                  </a:rPr>
                  <a:t>Conta de Armazenamento </a:t>
                </a:r>
              </a:p>
              <a:p>
                <a:pPr>
                  <a:lnSpc>
                    <a:spcPct val="90000"/>
                  </a:lnSpc>
                  <a:spcAft>
                    <a:spcPts val="600"/>
                  </a:spcAft>
                </a:pPr>
                <a:r>
                  <a:rPr lang="pt-BR" sz="2200" dirty="0">
                    <a:gradFill>
                      <a:gsLst>
                        <a:gs pos="2917">
                          <a:schemeClr val="tx1"/>
                        </a:gs>
                        <a:gs pos="30000">
                          <a:schemeClr val="tx1"/>
                        </a:gs>
                      </a:gsLst>
                      <a:lin ang="5400000" scaled="0"/>
                    </a:gradFill>
                  </a:rPr>
                  <a:t>do Azure</a:t>
                </a:r>
              </a:p>
            </p:txBody>
          </p:sp>
          <p:cxnSp>
            <p:nvCxnSpPr>
              <p:cNvPr id="8" name="Connector: Elbow 7">
                <a:extLst>
                  <a:ext uri="{FF2B5EF4-FFF2-40B4-BE49-F238E27FC236}">
                    <a16:creationId xmlns:a16="http://schemas.microsoft.com/office/drawing/2014/main" id="{8D2DFDA2-0D2A-4C81-88FD-48DC66F7E16A}"/>
                  </a:ext>
                </a:extLst>
              </p:cNvPr>
              <p:cNvCxnSpPr>
                <a:cxnSpLocks/>
                <a:stCxn id="5" idx="2"/>
                <a:endCxn id="23" idx="0"/>
              </p:cNvCxnSpPr>
              <p:nvPr/>
            </p:nvCxnSpPr>
            <p:spPr>
              <a:xfrm rot="16200000" flipH="1">
                <a:off x="7727078" y="1898699"/>
                <a:ext cx="220836" cy="522669"/>
              </a:xfrm>
              <a:prstGeom prst="bentConnector3">
                <a:avLst>
                  <a:gd name="adj1" fmla="val 5000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E0C05D2-8780-4620-A74D-E01F07E738DD}"/>
                  </a:ext>
                </a:extLst>
              </p:cNvPr>
              <p:cNvSpPr txBox="1"/>
              <p:nvPr/>
            </p:nvSpPr>
            <p:spPr>
              <a:xfrm>
                <a:off x="8457716" y="2352440"/>
                <a:ext cx="6014640" cy="904863"/>
              </a:xfrm>
              <a:prstGeom prst="rect">
                <a:avLst/>
              </a:prstGeom>
              <a:noFill/>
            </p:spPr>
            <p:txBody>
              <a:bodyPr wrap="square" lIns="182880" tIns="146304" rIns="182880" bIns="146304" rtlCol="0">
                <a:spAutoFit/>
              </a:bodyPr>
              <a:lstStyle/>
              <a:p>
                <a:pPr>
                  <a:lnSpc>
                    <a:spcPct val="90000"/>
                  </a:lnSpc>
                  <a:spcAft>
                    <a:spcPts val="600"/>
                  </a:spcAft>
                </a:pPr>
                <a:r>
                  <a:rPr lang="pt-BR" sz="2200" dirty="0">
                    <a:gradFill>
                      <a:gsLst>
                        <a:gs pos="2917">
                          <a:schemeClr val="tx1"/>
                        </a:gs>
                        <a:gs pos="30000">
                          <a:schemeClr val="tx1"/>
                        </a:gs>
                      </a:gsLst>
                      <a:lin ang="5400000" scaled="0"/>
                    </a:gradFill>
                  </a:rPr>
                  <a:t>Compartilhamento </a:t>
                </a:r>
                <a:br>
                  <a:rPr lang="pt-BR" sz="2200" dirty="0">
                    <a:gradFill>
                      <a:gsLst>
                        <a:gs pos="2917">
                          <a:schemeClr val="tx1"/>
                        </a:gs>
                        <a:gs pos="30000">
                          <a:schemeClr val="tx1"/>
                        </a:gs>
                      </a:gsLst>
                      <a:lin ang="5400000" scaled="0"/>
                    </a:gradFill>
                  </a:rPr>
                </a:br>
                <a:r>
                  <a:rPr lang="pt-BR" sz="2200" dirty="0">
                    <a:gradFill>
                      <a:gsLst>
                        <a:gs pos="2917">
                          <a:schemeClr val="tx1"/>
                        </a:gs>
                        <a:gs pos="30000">
                          <a:schemeClr val="tx1"/>
                        </a:gs>
                      </a:gsLst>
                      <a:lin ang="5400000" scaled="0"/>
                    </a:gradFill>
                  </a:rPr>
                  <a:t>de Arquivos do Azure</a:t>
                </a:r>
              </a:p>
            </p:txBody>
          </p:sp>
          <p:pic>
            <p:nvPicPr>
              <p:cNvPr id="10" name="Graphic 9" descr="Pasta aberta com preenchimento sólido">
                <a:extLst>
                  <a:ext uri="{FF2B5EF4-FFF2-40B4-BE49-F238E27FC236}">
                    <a16:creationId xmlns:a16="http://schemas.microsoft.com/office/drawing/2014/main" id="{91F105A8-FB40-47D0-B6C9-9C910EAA24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8604" y="2980304"/>
                <a:ext cx="593274" cy="593274"/>
              </a:xfrm>
              <a:prstGeom prst="rect">
                <a:avLst/>
              </a:prstGeom>
            </p:spPr>
          </p:pic>
          <p:pic>
            <p:nvPicPr>
              <p:cNvPr id="11" name="Graphic 10" descr="Papel com preenchimento sólido">
                <a:extLst>
                  <a:ext uri="{FF2B5EF4-FFF2-40B4-BE49-F238E27FC236}">
                    <a16:creationId xmlns:a16="http://schemas.microsoft.com/office/drawing/2014/main" id="{4BACC298-B87A-4F6D-92F8-DDABDF68A8B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92766" y="3555546"/>
                <a:ext cx="458223" cy="458223"/>
              </a:xfrm>
              <a:prstGeom prst="rect">
                <a:avLst/>
              </a:prstGeom>
            </p:spPr>
          </p:pic>
          <p:pic>
            <p:nvPicPr>
              <p:cNvPr id="12" name="Graphic 11" descr="Papel com preenchimento sólido">
                <a:extLst>
                  <a:ext uri="{FF2B5EF4-FFF2-40B4-BE49-F238E27FC236}">
                    <a16:creationId xmlns:a16="http://schemas.microsoft.com/office/drawing/2014/main" id="{559F52AD-8FD7-4474-9103-D0BCA9F115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92766" y="3998200"/>
                <a:ext cx="458223" cy="458223"/>
              </a:xfrm>
              <a:prstGeom prst="rect">
                <a:avLst/>
              </a:prstGeom>
            </p:spPr>
          </p:pic>
          <p:cxnSp>
            <p:nvCxnSpPr>
              <p:cNvPr id="13" name="Connector: Elbow 12">
                <a:extLst>
                  <a:ext uri="{FF2B5EF4-FFF2-40B4-BE49-F238E27FC236}">
                    <a16:creationId xmlns:a16="http://schemas.microsoft.com/office/drawing/2014/main" id="{98951595-87E5-4FFE-B24A-2E56CCEEDBA9}"/>
                  </a:ext>
                </a:extLst>
              </p:cNvPr>
              <p:cNvCxnSpPr>
                <a:cxnSpLocks/>
              </p:cNvCxnSpPr>
              <p:nvPr/>
            </p:nvCxnSpPr>
            <p:spPr>
              <a:xfrm rot="16200000" flipH="1">
                <a:off x="8025487" y="3041573"/>
                <a:ext cx="298509" cy="107725"/>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6A98EA27-C15A-4567-B85F-69B2A868D83C}"/>
                  </a:ext>
                </a:extLst>
              </p:cNvPr>
              <p:cNvCxnSpPr>
                <a:cxnSpLocks/>
                <a:endCxn id="11" idx="1"/>
              </p:cNvCxnSpPr>
              <p:nvPr/>
            </p:nvCxnSpPr>
            <p:spPr>
              <a:xfrm rot="16200000" flipH="1">
                <a:off x="8394954" y="3586845"/>
                <a:ext cx="328099" cy="67525"/>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94692F5E-37F4-4E21-B5FE-FCBA0620FE94}"/>
                  </a:ext>
                </a:extLst>
              </p:cNvPr>
              <p:cNvCxnSpPr>
                <a:cxnSpLocks/>
                <a:stCxn id="10" idx="2"/>
                <a:endCxn id="12" idx="1"/>
              </p:cNvCxnSpPr>
              <p:nvPr/>
            </p:nvCxnSpPr>
            <p:spPr>
              <a:xfrm rot="16200000" flipH="1">
                <a:off x="8232136" y="3866682"/>
                <a:ext cx="653734" cy="67525"/>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3" name="Graphic 22" descr="Pasta aberta com preenchimento sólido">
                <a:extLst>
                  <a:ext uri="{FF2B5EF4-FFF2-40B4-BE49-F238E27FC236}">
                    <a16:creationId xmlns:a16="http://schemas.microsoft.com/office/drawing/2014/main" id="{3A7DEF5E-47F4-4B80-99BD-65719627F56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15721" y="2270452"/>
                <a:ext cx="766219" cy="766219"/>
              </a:xfrm>
              <a:prstGeom prst="rect">
                <a:avLst/>
              </a:prstGeom>
            </p:spPr>
          </p:pic>
          <p:pic>
            <p:nvPicPr>
              <p:cNvPr id="24" name="Graphic 23" descr="Computador com preenchimento sólido">
                <a:extLst>
                  <a:ext uri="{FF2B5EF4-FFF2-40B4-BE49-F238E27FC236}">
                    <a16:creationId xmlns:a16="http://schemas.microsoft.com/office/drawing/2014/main" id="{84C914BF-513E-4831-ADC4-A12990386D7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74268" y="4820667"/>
                <a:ext cx="1344251" cy="1344251"/>
              </a:xfrm>
              <a:prstGeom prst="rect">
                <a:avLst/>
              </a:prstGeom>
            </p:spPr>
          </p:pic>
          <p:cxnSp>
            <p:nvCxnSpPr>
              <p:cNvPr id="26" name="Connector: Elbow 25">
                <a:extLst>
                  <a:ext uri="{FF2B5EF4-FFF2-40B4-BE49-F238E27FC236}">
                    <a16:creationId xmlns:a16="http://schemas.microsoft.com/office/drawing/2014/main" id="{34849134-1644-436E-8DCC-21C7C374F4C0}"/>
                  </a:ext>
                </a:extLst>
              </p:cNvPr>
              <p:cNvCxnSpPr>
                <a:cxnSpLocks/>
                <a:stCxn id="24" idx="0"/>
                <a:endCxn id="23" idx="1"/>
              </p:cNvCxnSpPr>
              <p:nvPr/>
            </p:nvCxnSpPr>
            <p:spPr>
              <a:xfrm rot="16200000" flipV="1">
                <a:off x="7797506" y="2571778"/>
                <a:ext cx="2167105" cy="2330673"/>
              </a:xfrm>
              <a:prstGeom prst="bentConnector4">
                <a:avLst>
                  <a:gd name="adj1" fmla="val 7835"/>
                  <a:gd name="adj2" fmla="val 109808"/>
                </a:avLst>
              </a:prstGeom>
              <a:ln w="57150">
                <a:solidFill>
                  <a:schemeClr val="bg1">
                    <a:lumMod val="50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grpSp>
      <p:sp>
        <p:nvSpPr>
          <p:cNvPr id="41" name="Text Placeholder 2">
            <a:extLst>
              <a:ext uri="{FF2B5EF4-FFF2-40B4-BE49-F238E27FC236}">
                <a16:creationId xmlns:a16="http://schemas.microsoft.com/office/drawing/2014/main" id="{7478DD2C-B78B-4889-A914-B367D86F6E36}"/>
              </a:ext>
            </a:extLst>
          </p:cNvPr>
          <p:cNvSpPr txBox="1">
            <a:spLocks/>
          </p:cNvSpPr>
          <p:nvPr/>
        </p:nvSpPr>
        <p:spPr>
          <a:xfrm>
            <a:off x="418285" y="1928763"/>
            <a:ext cx="6267086" cy="3625370"/>
          </a:xfrm>
          <a:prstGeom prst="rect">
            <a:avLst/>
          </a:prstGeom>
        </p:spPr>
        <p:txBody>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pt-BR" dirty="0"/>
              <a:t>Compartilhamentos de arquivos na nuvem que podem ser acessados de qualquer lugar que tenha conexão com a Internet</a:t>
            </a:r>
          </a:p>
          <a:p>
            <a:pPr marL="342900" marR="0" lvl="0" indent="-342900" algn="l" defTabSz="914367" rtl="0" eaLnBrk="1" fontAlgn="auto" latinLnBrk="0" hangingPunct="1">
              <a:lnSpc>
                <a:spcPct val="100000"/>
              </a:lnSpc>
              <a:spcBef>
                <a:spcPts val="200"/>
              </a:spcBef>
              <a:spcAft>
                <a:spcPts val="400"/>
              </a:spcAft>
              <a:buClrTx/>
              <a:buSzPct val="90000"/>
              <a:buFont typeface="Arial" panose="020B0604020202020204" pitchFamily="34" charset="0"/>
              <a:buChar char="•"/>
              <a:tabLst/>
              <a:defRPr/>
            </a:pPr>
            <a:r>
              <a:rPr lang="pt-BR" sz="2000" dirty="0">
                <a:solidFill>
                  <a:srgbClr val="171717"/>
                </a:solidFill>
                <a:latin typeface="Segoe UI" panose="020B0502040204020203" pitchFamily="34" charset="0"/>
                <a:ea typeface="+mn-ea"/>
                <a:cs typeface="+mn-cs"/>
              </a:rPr>
              <a:t>Suporte para protocolos comuns de compartilhamento de arquivos:</a:t>
            </a:r>
          </a:p>
          <a:p>
            <a:pPr marL="685800" lvl="2" indent="-342900">
              <a:defRPr/>
            </a:pPr>
            <a:r>
              <a:rPr kumimoji="0" lang="pt-BR" sz="1600" b="0" i="0" u="none" strike="noStrike" cap="none" normalizeH="0" baseline="0" noProof="0" dirty="0">
                <a:ln>
                  <a:noFill/>
                </a:ln>
                <a:solidFill>
                  <a:srgbClr val="171717"/>
                </a:solidFill>
                <a:uLnTx/>
                <a:uFillTx/>
                <a:latin typeface="Segoe UI" panose="020B0502040204020203" pitchFamily="34" charset="0"/>
                <a:ea typeface="+mn-ea"/>
                <a:cs typeface="+mn-cs"/>
              </a:rPr>
              <a:t>Protocolo SMB</a:t>
            </a:r>
          </a:p>
          <a:p>
            <a:pPr marL="685800" lvl="2" indent="-342900">
              <a:defRPr/>
            </a:pPr>
            <a:r>
              <a:rPr lang="pt-BR" sz="1600" dirty="0">
                <a:solidFill>
                  <a:srgbClr val="171717"/>
                </a:solidFill>
                <a:latin typeface="Segoe UI" panose="020B0502040204020203" pitchFamily="34" charset="0"/>
              </a:rPr>
              <a:t>NFS (Network File System) – </a:t>
            </a:r>
            <a:r>
              <a:rPr lang="pt-BR" sz="1600" i="1" dirty="0">
                <a:solidFill>
                  <a:srgbClr val="171717"/>
                </a:solidFill>
                <a:latin typeface="Segoe UI" panose="020B0502040204020203" pitchFamily="34" charset="0"/>
              </a:rPr>
              <a:t>requer camada premium</a:t>
            </a:r>
          </a:p>
          <a:p>
            <a:pPr marL="342900" marR="0" lvl="0" indent="-342900" algn="l" defTabSz="914367" rtl="0" eaLnBrk="1" fontAlgn="auto" latinLnBrk="0" hangingPunct="1">
              <a:lnSpc>
                <a:spcPct val="100000"/>
              </a:lnSpc>
              <a:spcBef>
                <a:spcPts val="200"/>
              </a:spcBef>
              <a:spcAft>
                <a:spcPts val="400"/>
              </a:spcAft>
              <a:buClrTx/>
              <a:buSzPct val="90000"/>
              <a:buFont typeface="Arial" panose="020B0604020202020204" pitchFamily="34" charset="0"/>
              <a:buChar char="•"/>
              <a:tabLst/>
              <a:defRPr/>
            </a:pPr>
            <a:r>
              <a:rPr kumimoji="0" lang="pt-BR" sz="2000" b="0" i="0" u="none" strike="noStrike" cap="none" normalizeH="0" baseline="0" noProof="0" dirty="0">
                <a:ln>
                  <a:noFill/>
                </a:ln>
                <a:solidFill>
                  <a:srgbClr val="171717"/>
                </a:solidFill>
                <a:uLnTx/>
                <a:uFillTx/>
                <a:latin typeface="Segoe UI" panose="020B0502040204020203" pitchFamily="34" charset="0"/>
                <a:ea typeface="+mn-ea"/>
                <a:cs typeface="+mn-cs"/>
              </a:rPr>
              <a:t>Os dados são replicados para redundância e criptografados quando estão inativos</a:t>
            </a:r>
          </a:p>
          <a:p>
            <a:endParaRPr lang="en-US" sz="2000" dirty="0">
              <a:solidFill>
                <a:srgbClr val="171717"/>
              </a:solidFill>
              <a:latin typeface="Segoe UI" panose="020B0502040204020203" pitchFamily="34" charset="0"/>
            </a:endParaRPr>
          </a:p>
          <a:p>
            <a:endParaRPr lang="en-US" sz="2000" dirty="0">
              <a:latin typeface="+mn-lt"/>
            </a:endParaRPr>
          </a:p>
        </p:txBody>
      </p:sp>
    </p:spTree>
    <p:extLst>
      <p:ext uri="{BB962C8B-B14F-4D97-AF65-F5344CB8AC3E}">
        <p14:creationId xmlns:p14="http://schemas.microsoft.com/office/powerpoint/2010/main" val="282205268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1488539-54EE-4500-8A59-B600E66854E9}"/>
              </a:ext>
              <a:ext uri="{C183D7F6-B498-43B3-948B-1728B52AA6E4}">
                <adec:decorative xmlns:adec="http://schemas.microsoft.com/office/drawing/2017/decorative" val="1"/>
              </a:ext>
            </a:extLst>
          </p:cNvPr>
          <p:cNvSpPr/>
          <p:nvPr/>
        </p:nvSpPr>
        <p:spPr bwMode="auto">
          <a:xfrm>
            <a:off x="203200" y="1578358"/>
            <a:ext cx="5213310" cy="4705957"/>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43D01E3-0D66-4E55-BA57-BA3563EE087C}"/>
              </a:ext>
            </a:extLst>
          </p:cNvPr>
          <p:cNvSpPr>
            <a:spLocks noGrp="1"/>
          </p:cNvSpPr>
          <p:nvPr>
            <p:ph type="title"/>
          </p:nvPr>
        </p:nvSpPr>
        <p:spPr/>
        <p:txBody>
          <a:bodyPr/>
          <a:lstStyle/>
          <a:p>
            <a:pPr>
              <a:lnSpc>
                <a:spcPct val="100000"/>
              </a:lnSpc>
            </a:pPr>
            <a:r>
              <a:rPr lang="pt-BR" dirty="0"/>
              <a:t>Armazenamento de Tabelas do Azure</a:t>
            </a:r>
          </a:p>
        </p:txBody>
      </p:sp>
      <p:grpSp>
        <p:nvGrpSpPr>
          <p:cNvPr id="19" name="Group 18">
            <a:extLst>
              <a:ext uri="{FF2B5EF4-FFF2-40B4-BE49-F238E27FC236}">
                <a16:creationId xmlns:a16="http://schemas.microsoft.com/office/drawing/2014/main" id="{F9B4144A-14F4-45D2-B193-A5A8F768BC7E}"/>
              </a:ext>
              <a:ext uri="{C183D7F6-B498-43B3-948B-1728B52AA6E4}">
                <adec:decorative xmlns:adec="http://schemas.microsoft.com/office/drawing/2017/decorative" val="1"/>
              </a:ext>
            </a:extLst>
          </p:cNvPr>
          <p:cNvGrpSpPr/>
          <p:nvPr/>
        </p:nvGrpSpPr>
        <p:grpSpPr>
          <a:xfrm>
            <a:off x="7163771" y="1050666"/>
            <a:ext cx="4470792" cy="2428622"/>
            <a:chOff x="7163771" y="1224834"/>
            <a:chExt cx="4470792" cy="2428622"/>
          </a:xfrm>
        </p:grpSpPr>
        <p:pic>
          <p:nvPicPr>
            <p:cNvPr id="4" name="Graphic 3">
              <a:extLst>
                <a:ext uri="{FF2B5EF4-FFF2-40B4-BE49-F238E27FC236}">
                  <a16:creationId xmlns:a16="http://schemas.microsoft.com/office/drawing/2014/main" id="{9CB72F0C-21E0-46A2-A361-54E9ED48CE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63771" y="1224834"/>
              <a:ext cx="824782" cy="824782"/>
            </a:xfrm>
            <a:prstGeom prst="rect">
              <a:avLst/>
            </a:prstGeom>
          </p:spPr>
        </p:pic>
        <p:sp>
          <p:nvSpPr>
            <p:cNvPr id="6" name="TextBox 5">
              <a:extLst>
                <a:ext uri="{FF2B5EF4-FFF2-40B4-BE49-F238E27FC236}">
                  <a16:creationId xmlns:a16="http://schemas.microsoft.com/office/drawing/2014/main" id="{675E4894-0010-46EC-B453-D00F22ECFA5F}"/>
                </a:ext>
              </a:extLst>
            </p:cNvPr>
            <p:cNvSpPr txBox="1"/>
            <p:nvPr/>
          </p:nvSpPr>
          <p:spPr>
            <a:xfrm>
              <a:off x="7920918" y="1300899"/>
              <a:ext cx="3713645" cy="904863"/>
            </a:xfrm>
            <a:prstGeom prst="rect">
              <a:avLst/>
            </a:prstGeom>
            <a:noFill/>
          </p:spPr>
          <p:txBody>
            <a:bodyPr wrap="none" lIns="182880" tIns="146304" rIns="182880" bIns="146304" rtlCol="0">
              <a:spAutoFit/>
            </a:bodyPr>
            <a:lstStyle/>
            <a:p>
              <a:pPr>
                <a:lnSpc>
                  <a:spcPct val="90000"/>
                </a:lnSpc>
                <a:spcAft>
                  <a:spcPts val="600"/>
                </a:spcAft>
              </a:pPr>
              <a:r>
                <a:rPr lang="pt-BR" sz="2200" dirty="0">
                  <a:gradFill>
                    <a:gsLst>
                      <a:gs pos="2917">
                        <a:schemeClr val="tx1"/>
                      </a:gs>
                      <a:gs pos="30000">
                        <a:schemeClr val="tx1"/>
                      </a:gs>
                    </a:gsLst>
                    <a:lin ang="5400000" scaled="0"/>
                  </a:gradFill>
                </a:rPr>
                <a:t>Conta de Armazenamento </a:t>
              </a:r>
              <a:br>
                <a:rPr lang="pt-BR" sz="2200" dirty="0">
                  <a:gradFill>
                    <a:gsLst>
                      <a:gs pos="2917">
                        <a:schemeClr val="tx1"/>
                      </a:gs>
                      <a:gs pos="30000">
                        <a:schemeClr val="tx1"/>
                      </a:gs>
                    </a:gsLst>
                    <a:lin ang="5400000" scaled="0"/>
                  </a:gradFill>
                </a:rPr>
              </a:br>
              <a:r>
                <a:rPr lang="pt-BR" sz="2200" dirty="0">
                  <a:gradFill>
                    <a:gsLst>
                      <a:gs pos="2917">
                        <a:schemeClr val="tx1"/>
                      </a:gs>
                      <a:gs pos="30000">
                        <a:schemeClr val="tx1"/>
                      </a:gs>
                    </a:gsLst>
                    <a:lin ang="5400000" scaled="0"/>
                  </a:gradFill>
                </a:rPr>
                <a:t>do Azure</a:t>
              </a:r>
            </a:p>
          </p:txBody>
        </p:sp>
        <p:pic>
          <p:nvPicPr>
            <p:cNvPr id="10" name="Graphic 9" descr="Tabela com preenchimento sólido">
              <a:extLst>
                <a:ext uri="{FF2B5EF4-FFF2-40B4-BE49-F238E27FC236}">
                  <a16:creationId xmlns:a16="http://schemas.microsoft.com/office/drawing/2014/main" id="{ACCBE986-5066-43A8-992A-D71B2BC4C1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50889" y="2049616"/>
              <a:ext cx="914400" cy="914400"/>
            </a:xfrm>
            <a:prstGeom prst="rect">
              <a:avLst/>
            </a:prstGeom>
          </p:spPr>
        </p:pic>
        <p:cxnSp>
          <p:nvCxnSpPr>
            <p:cNvPr id="12" name="Connector: Elbow 11">
              <a:extLst>
                <a:ext uri="{FF2B5EF4-FFF2-40B4-BE49-F238E27FC236}">
                  <a16:creationId xmlns:a16="http://schemas.microsoft.com/office/drawing/2014/main" id="{11229F7C-1074-415A-A7CE-5CC6FDB928A7}"/>
                </a:ext>
              </a:extLst>
            </p:cNvPr>
            <p:cNvCxnSpPr>
              <a:stCxn id="4" idx="2"/>
              <a:endCxn id="10" idx="1"/>
            </p:cNvCxnSpPr>
            <p:nvPr/>
          </p:nvCxnSpPr>
          <p:spPr>
            <a:xfrm rot="16200000" flipH="1">
              <a:off x="7434925" y="2190852"/>
              <a:ext cx="457200" cy="174727"/>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4073B3B-EF8E-41C6-AAD3-E8B5CE9129BF}"/>
                </a:ext>
              </a:extLst>
            </p:cNvPr>
            <p:cNvSpPr txBox="1"/>
            <p:nvPr/>
          </p:nvSpPr>
          <p:spPr>
            <a:xfrm>
              <a:off x="8840017" y="2506816"/>
              <a:ext cx="1277209" cy="600164"/>
            </a:xfrm>
            <a:prstGeom prst="rect">
              <a:avLst/>
            </a:prstGeom>
            <a:noFill/>
          </p:spPr>
          <p:txBody>
            <a:bodyPr wrap="none" lIns="182880" tIns="146304" rIns="182880" bIns="146304" rtlCol="0">
              <a:spAutoFit/>
            </a:bodyPr>
            <a:lstStyle/>
            <a:p>
              <a:pPr>
                <a:lnSpc>
                  <a:spcPct val="90000"/>
                </a:lnSpc>
                <a:spcAft>
                  <a:spcPts val="600"/>
                </a:spcAft>
              </a:pPr>
              <a:r>
                <a:rPr lang="pt-BR" sz="2200" dirty="0">
                  <a:gradFill>
                    <a:gsLst>
                      <a:gs pos="2917">
                        <a:schemeClr val="tx1"/>
                      </a:gs>
                      <a:gs pos="30000">
                        <a:schemeClr val="tx1"/>
                      </a:gs>
                    </a:gsLst>
                    <a:lin ang="5400000" scaled="0"/>
                  </a:gradFill>
                </a:rPr>
                <a:t>Tabelas</a:t>
              </a:r>
            </a:p>
          </p:txBody>
        </p:sp>
        <p:pic>
          <p:nvPicPr>
            <p:cNvPr id="14" name="Graphic 13" descr="Tabela com preenchimento sólido">
              <a:extLst>
                <a:ext uri="{FF2B5EF4-FFF2-40B4-BE49-F238E27FC236}">
                  <a16:creationId xmlns:a16="http://schemas.microsoft.com/office/drawing/2014/main" id="{540B434E-C67B-405F-BF0A-C152A8AFE0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50889" y="2739056"/>
              <a:ext cx="914400" cy="914400"/>
            </a:xfrm>
            <a:prstGeom prst="rect">
              <a:avLst/>
            </a:prstGeom>
          </p:spPr>
        </p:pic>
        <p:cxnSp>
          <p:nvCxnSpPr>
            <p:cNvPr id="15" name="Connector: Elbow 14">
              <a:extLst>
                <a:ext uri="{FF2B5EF4-FFF2-40B4-BE49-F238E27FC236}">
                  <a16:creationId xmlns:a16="http://schemas.microsoft.com/office/drawing/2014/main" id="{97B25EAC-8FB5-4DA0-81AD-AD2F04D894DC}"/>
                </a:ext>
              </a:extLst>
            </p:cNvPr>
            <p:cNvCxnSpPr>
              <a:cxnSpLocks/>
              <a:stCxn id="4" idx="2"/>
              <a:endCxn id="14" idx="1"/>
            </p:cNvCxnSpPr>
            <p:nvPr/>
          </p:nvCxnSpPr>
          <p:spPr>
            <a:xfrm rot="16200000" flipH="1">
              <a:off x="7090205" y="2535572"/>
              <a:ext cx="1146640" cy="174727"/>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8" name="Right Brace 17">
              <a:extLst>
                <a:ext uri="{FF2B5EF4-FFF2-40B4-BE49-F238E27FC236}">
                  <a16:creationId xmlns:a16="http://schemas.microsoft.com/office/drawing/2014/main" id="{D2E43172-AE12-45E4-B0C4-D499B29EF900}"/>
                </a:ext>
              </a:extLst>
            </p:cNvPr>
            <p:cNvSpPr/>
            <p:nvPr/>
          </p:nvSpPr>
          <p:spPr>
            <a:xfrm>
              <a:off x="8730482" y="2382099"/>
              <a:ext cx="198022" cy="873631"/>
            </a:xfrm>
            <a:prstGeom prst="rightBrace">
              <a:avLst/>
            </a:prstGeom>
            <a:ln w="285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aphicFrame>
        <p:nvGraphicFramePr>
          <p:cNvPr id="20" name="Table 20">
            <a:extLst>
              <a:ext uri="{FF2B5EF4-FFF2-40B4-BE49-F238E27FC236}">
                <a16:creationId xmlns:a16="http://schemas.microsoft.com/office/drawing/2014/main" id="{B04F1BF9-FB0B-44A5-8310-ADB6053E8DB2}"/>
              </a:ext>
            </a:extLst>
          </p:cNvPr>
          <p:cNvGraphicFramePr>
            <a:graphicFrameLocks noGrp="1"/>
          </p:cNvGraphicFramePr>
          <p:nvPr>
            <p:extLst>
              <p:ext uri="{D42A27DB-BD31-4B8C-83A1-F6EECF244321}">
                <p14:modId xmlns:p14="http://schemas.microsoft.com/office/powerpoint/2010/main" val="2713757953"/>
              </p:ext>
            </p:extLst>
          </p:nvPr>
        </p:nvGraphicFramePr>
        <p:xfrm>
          <a:off x="5333424" y="4548533"/>
          <a:ext cx="6867006" cy="1483360"/>
        </p:xfrm>
        <a:graphic>
          <a:graphicData uri="http://schemas.openxmlformats.org/drawingml/2006/table">
            <a:tbl>
              <a:tblPr firstRow="1" bandRow="1">
                <a:tableStyleId>{00A15C55-8517-42AA-B614-E9B94910E393}</a:tableStyleId>
              </a:tblPr>
              <a:tblGrid>
                <a:gridCol w="1551623">
                  <a:extLst>
                    <a:ext uri="{9D8B030D-6E8A-4147-A177-3AD203B41FA5}">
                      <a16:colId xmlns:a16="http://schemas.microsoft.com/office/drawing/2014/main" val="3191160089"/>
                    </a:ext>
                  </a:extLst>
                </a:gridCol>
                <a:gridCol w="1035325">
                  <a:extLst>
                    <a:ext uri="{9D8B030D-6E8A-4147-A177-3AD203B41FA5}">
                      <a16:colId xmlns:a16="http://schemas.microsoft.com/office/drawing/2014/main" val="606405350"/>
                    </a:ext>
                  </a:extLst>
                </a:gridCol>
                <a:gridCol w="1416368">
                  <a:extLst>
                    <a:ext uri="{9D8B030D-6E8A-4147-A177-3AD203B41FA5}">
                      <a16:colId xmlns:a16="http://schemas.microsoft.com/office/drawing/2014/main" val="3759297550"/>
                    </a:ext>
                  </a:extLst>
                </a:gridCol>
                <a:gridCol w="1238661">
                  <a:extLst>
                    <a:ext uri="{9D8B030D-6E8A-4147-A177-3AD203B41FA5}">
                      <a16:colId xmlns:a16="http://schemas.microsoft.com/office/drawing/2014/main" val="1897717842"/>
                    </a:ext>
                  </a:extLst>
                </a:gridCol>
                <a:gridCol w="1625029">
                  <a:extLst>
                    <a:ext uri="{9D8B030D-6E8A-4147-A177-3AD203B41FA5}">
                      <a16:colId xmlns:a16="http://schemas.microsoft.com/office/drawing/2014/main" val="1472913710"/>
                    </a:ext>
                  </a:extLst>
                </a:gridCol>
              </a:tblGrid>
              <a:tr h="370840">
                <a:tc>
                  <a:txBody>
                    <a:bodyPr/>
                    <a:lstStyle/>
                    <a:p>
                      <a:r>
                        <a:rPr lang="pt-BR"/>
                        <a:t>PartitionKey</a:t>
                      </a:r>
                    </a:p>
                  </a:txBody>
                  <a:tcPr/>
                </a:tc>
                <a:tc>
                  <a:txBody>
                    <a:bodyPr/>
                    <a:lstStyle/>
                    <a:p>
                      <a:r>
                        <a:rPr lang="pt-BR"/>
                        <a:t>RowKey</a:t>
                      </a:r>
                    </a:p>
                  </a:txBody>
                  <a:tcPr/>
                </a:tc>
                <a:tc>
                  <a:txBody>
                    <a:bodyPr/>
                    <a:lstStyle/>
                    <a:p>
                      <a:r>
                        <a:rPr lang="pt-BR"/>
                        <a:t>Timestamp</a:t>
                      </a:r>
                    </a:p>
                  </a:txBody>
                  <a:tcPr/>
                </a:tc>
                <a:tc>
                  <a:txBody>
                    <a:bodyPr/>
                    <a:lstStyle/>
                    <a:p>
                      <a:r>
                        <a:rPr lang="pt-BR"/>
                        <a:t>Property1</a:t>
                      </a:r>
                    </a:p>
                  </a:txBody>
                  <a:tcPr/>
                </a:tc>
                <a:tc>
                  <a:txBody>
                    <a:bodyPr/>
                    <a:lstStyle/>
                    <a:p>
                      <a:r>
                        <a:rPr lang="pt-BR"/>
                        <a:t>Property2</a:t>
                      </a:r>
                    </a:p>
                  </a:txBody>
                  <a:tcPr/>
                </a:tc>
                <a:extLst>
                  <a:ext uri="{0D108BD9-81ED-4DB2-BD59-A6C34878D82A}">
                    <a16:rowId xmlns:a16="http://schemas.microsoft.com/office/drawing/2014/main" val="2928249872"/>
                  </a:ext>
                </a:extLst>
              </a:tr>
              <a:tr h="370840">
                <a:tc>
                  <a:txBody>
                    <a:bodyPr/>
                    <a:lstStyle/>
                    <a:p>
                      <a:r>
                        <a:rPr lang="pt-BR"/>
                        <a:t>1</a:t>
                      </a:r>
                    </a:p>
                  </a:txBody>
                  <a:tcPr/>
                </a:tc>
                <a:tc>
                  <a:txBody>
                    <a:bodyPr/>
                    <a:lstStyle/>
                    <a:p>
                      <a:r>
                        <a:rPr lang="pt-BR"/>
                        <a:t>123</a:t>
                      </a:r>
                    </a:p>
                  </a:txBody>
                  <a:tcPr/>
                </a:tc>
                <a:tc>
                  <a:txBody>
                    <a:bodyPr/>
                    <a:lstStyle/>
                    <a:p>
                      <a:r>
                        <a:rPr lang="pt-BR"/>
                        <a:t>2022-01-01</a:t>
                      </a:r>
                    </a:p>
                  </a:txBody>
                  <a:tcPr/>
                </a:tc>
                <a:tc>
                  <a:txBody>
                    <a:bodyPr/>
                    <a:lstStyle/>
                    <a:p>
                      <a:r>
                        <a:rPr lang="pt-BR"/>
                        <a:t>A value</a:t>
                      </a:r>
                    </a:p>
                  </a:txBody>
                  <a:tcPr/>
                </a:tc>
                <a:tc>
                  <a:txBody>
                    <a:bodyPr/>
                    <a:lstStyle/>
                    <a:p>
                      <a:r>
                        <a:rPr lang="pt-BR"/>
                        <a:t>Another value</a:t>
                      </a:r>
                    </a:p>
                  </a:txBody>
                  <a:tcPr/>
                </a:tc>
                <a:extLst>
                  <a:ext uri="{0D108BD9-81ED-4DB2-BD59-A6C34878D82A}">
                    <a16:rowId xmlns:a16="http://schemas.microsoft.com/office/drawing/2014/main" val="1868627342"/>
                  </a:ext>
                </a:extLst>
              </a:tr>
              <a:tr h="370840">
                <a:tc>
                  <a:txBody>
                    <a:bodyPr/>
                    <a:lstStyle/>
                    <a:p>
                      <a:r>
                        <a:rPr lang="pt-BR"/>
                        <a:t>1</a:t>
                      </a:r>
                    </a:p>
                  </a:txBody>
                  <a:tcPr/>
                </a:tc>
                <a:tc>
                  <a:txBody>
                    <a:bodyPr/>
                    <a:lstStyle/>
                    <a:p>
                      <a:r>
                        <a:rPr lang="pt-BR"/>
                        <a:t>124</a:t>
                      </a:r>
                    </a:p>
                  </a:txBody>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pt-BR"/>
                        <a:t>2022-01-01</a:t>
                      </a:r>
                    </a:p>
                  </a:txBody>
                  <a:tcPr/>
                </a:tc>
                <a:tc>
                  <a:txBody>
                    <a:bodyPr/>
                    <a:lstStyle/>
                    <a:p>
                      <a:r>
                        <a:rPr lang="pt-BR"/>
                        <a:t>This value</a:t>
                      </a:r>
                    </a:p>
                  </a:txBody>
                  <a:tcPr/>
                </a:tc>
                <a:tc>
                  <a:txBody>
                    <a:bodyPr/>
                    <a:lstStyle/>
                    <a:p>
                      <a:endParaRPr lang="en-US" dirty="0"/>
                    </a:p>
                  </a:txBody>
                  <a:tcPr>
                    <a:noFill/>
                  </a:tcPr>
                </a:tc>
                <a:extLst>
                  <a:ext uri="{0D108BD9-81ED-4DB2-BD59-A6C34878D82A}">
                    <a16:rowId xmlns:a16="http://schemas.microsoft.com/office/drawing/2014/main" val="3481296278"/>
                  </a:ext>
                </a:extLst>
              </a:tr>
              <a:tr h="370840">
                <a:tc>
                  <a:txBody>
                    <a:bodyPr/>
                    <a:lstStyle/>
                    <a:p>
                      <a:r>
                        <a:rPr lang="pt-BR"/>
                        <a:t>2</a:t>
                      </a:r>
                    </a:p>
                  </a:txBody>
                  <a:tcPr/>
                </a:tc>
                <a:tc>
                  <a:txBody>
                    <a:bodyPr/>
                    <a:lstStyle/>
                    <a:p>
                      <a:r>
                        <a:rPr lang="pt-BR"/>
                        <a:t>125</a:t>
                      </a:r>
                    </a:p>
                  </a:txBody>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pt-BR"/>
                        <a:t>2022-01-01</a:t>
                      </a:r>
                    </a:p>
                  </a:txBody>
                  <a:tcPr/>
                </a:tc>
                <a:tc>
                  <a:txBody>
                    <a:bodyPr/>
                    <a:lstStyle/>
                    <a:p>
                      <a:endParaRPr lang="en-US" dirty="0"/>
                    </a:p>
                  </a:txBody>
                  <a:tcPr>
                    <a:noFill/>
                  </a:tcPr>
                </a:tc>
                <a:tc>
                  <a:txBody>
                    <a:bodyPr/>
                    <a:lstStyle/>
                    <a:p>
                      <a:r>
                        <a:rPr lang="pt-BR"/>
                        <a:t>That value</a:t>
                      </a:r>
                    </a:p>
                  </a:txBody>
                  <a:tcPr/>
                </a:tc>
                <a:extLst>
                  <a:ext uri="{0D108BD9-81ED-4DB2-BD59-A6C34878D82A}">
                    <a16:rowId xmlns:a16="http://schemas.microsoft.com/office/drawing/2014/main" val="4277493063"/>
                  </a:ext>
                </a:extLst>
              </a:tr>
            </a:tbl>
          </a:graphicData>
        </a:graphic>
      </p:graphicFrame>
      <p:sp>
        <p:nvSpPr>
          <p:cNvPr id="21" name="Isosceles Triangle 20">
            <a:extLst>
              <a:ext uri="{FF2B5EF4-FFF2-40B4-BE49-F238E27FC236}">
                <a16:creationId xmlns:a16="http://schemas.microsoft.com/office/drawing/2014/main" id="{EBD95174-1EF2-4D50-9C89-74F24CAB66AE}"/>
              </a:ext>
              <a:ext uri="{C183D7F6-B498-43B3-948B-1728B52AA6E4}">
                <adec:decorative xmlns:adec="http://schemas.microsoft.com/office/drawing/2017/decorative" val="1"/>
              </a:ext>
            </a:extLst>
          </p:cNvPr>
          <p:cNvSpPr/>
          <p:nvPr/>
        </p:nvSpPr>
        <p:spPr bwMode="auto">
          <a:xfrm>
            <a:off x="5416510" y="3331599"/>
            <a:ext cx="6703657" cy="1172250"/>
          </a:xfrm>
          <a:prstGeom prst="triangle">
            <a:avLst>
              <a:gd name="adj" fmla="val 423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5" name="Text Placeholder 2">
            <a:extLst>
              <a:ext uri="{FF2B5EF4-FFF2-40B4-BE49-F238E27FC236}">
                <a16:creationId xmlns:a16="http://schemas.microsoft.com/office/drawing/2014/main" id="{05D2AE3B-ED58-4789-A379-B1D76721F5EE}"/>
              </a:ext>
            </a:extLst>
          </p:cNvPr>
          <p:cNvSpPr txBox="1">
            <a:spLocks/>
          </p:cNvSpPr>
          <p:nvPr/>
        </p:nvSpPr>
        <p:spPr>
          <a:xfrm>
            <a:off x="211815" y="1793295"/>
            <a:ext cx="5188854" cy="4303135"/>
          </a:xfrm>
          <a:prstGeom prst="rect">
            <a:avLst/>
          </a:prstGeom>
        </p:spPr>
        <p:txBody>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pt-BR" sz="1600" dirty="0"/>
              <a:t>Armazenamento de </a:t>
            </a:r>
            <a:r>
              <a:rPr lang="pt-BR" sz="1600" i="1" dirty="0"/>
              <a:t>chaves-valores</a:t>
            </a:r>
            <a:r>
              <a:rPr lang="pt-BR" sz="1600" dirty="0"/>
              <a:t> para dados de aplicativos</a:t>
            </a:r>
          </a:p>
          <a:p>
            <a:pPr marL="342900" marR="0" lvl="0" indent="-342900" algn="l" defTabSz="914367" rtl="0" eaLnBrk="1" fontAlgn="auto" latinLnBrk="0" hangingPunct="1">
              <a:lnSpc>
                <a:spcPct val="100000"/>
              </a:lnSpc>
              <a:spcBef>
                <a:spcPts val="200"/>
              </a:spcBef>
              <a:spcAft>
                <a:spcPts val="400"/>
              </a:spcAft>
              <a:buClrTx/>
              <a:buSzPct val="90000"/>
              <a:buFont typeface="Arial" panose="020B0604020202020204" pitchFamily="34" charset="0"/>
              <a:buChar char="•"/>
              <a:tabLst/>
              <a:defRPr/>
            </a:pPr>
            <a:r>
              <a:rPr kumimoji="0" lang="pt-BR" sz="1600" b="0" u="none" strike="noStrike" cap="none" normalizeH="0" baseline="0" noProof="0" dirty="0">
                <a:ln>
                  <a:noFill/>
                </a:ln>
                <a:solidFill>
                  <a:srgbClr val="171717"/>
                </a:solidFill>
                <a:uLnTx/>
                <a:uFillTx/>
                <a:latin typeface="Segoe UI" panose="020B0502040204020203" pitchFamily="34" charset="0"/>
                <a:ea typeface="+mn-ea"/>
                <a:cs typeface="+mn-cs"/>
              </a:rPr>
              <a:t>As tabelas consistem em colunas de </a:t>
            </a:r>
            <a:r>
              <a:rPr kumimoji="0" lang="pt-BR" sz="1600" b="0" i="1" u="none" strike="noStrike" cap="none" normalizeH="0" baseline="0" noProof="0" dirty="0">
                <a:ln>
                  <a:noFill/>
                </a:ln>
                <a:solidFill>
                  <a:srgbClr val="171717"/>
                </a:solidFill>
                <a:uLnTx/>
                <a:uFillTx/>
                <a:latin typeface="Segoe UI" panose="020B0502040204020203" pitchFamily="34" charset="0"/>
                <a:ea typeface="+mn-ea"/>
                <a:cs typeface="+mn-cs"/>
              </a:rPr>
              <a:t>chave</a:t>
            </a:r>
            <a:r>
              <a:rPr kumimoji="0" lang="pt-BR" sz="1600" b="0" u="none" strike="noStrike" cap="none" normalizeH="0" baseline="0" noProof="0" dirty="0">
                <a:ln>
                  <a:noFill/>
                </a:ln>
                <a:solidFill>
                  <a:srgbClr val="171717"/>
                </a:solidFill>
                <a:uLnTx/>
                <a:uFillTx/>
                <a:latin typeface="Segoe UI" panose="020B0502040204020203" pitchFamily="34" charset="0"/>
                <a:ea typeface="+mn-ea"/>
                <a:cs typeface="+mn-cs"/>
              </a:rPr>
              <a:t> e </a:t>
            </a:r>
            <a:r>
              <a:rPr kumimoji="0" lang="pt-BR" sz="1600" b="0" i="1" u="none" strike="noStrike" cap="none" normalizeH="0" baseline="0" noProof="0" dirty="0">
                <a:ln>
                  <a:noFill/>
                </a:ln>
                <a:solidFill>
                  <a:srgbClr val="171717"/>
                </a:solidFill>
                <a:uLnTx/>
                <a:uFillTx/>
                <a:latin typeface="Segoe UI" panose="020B0502040204020203" pitchFamily="34" charset="0"/>
                <a:ea typeface="+mn-ea"/>
                <a:cs typeface="+mn-cs"/>
              </a:rPr>
              <a:t>valor</a:t>
            </a:r>
          </a:p>
          <a:p>
            <a:pPr marL="685800" lvl="2" indent="-342900">
              <a:defRPr/>
            </a:pPr>
            <a:r>
              <a:rPr kumimoji="0" lang="pt-BR" sz="1600" b="0" i="0" u="none" strike="noStrike" cap="none" normalizeH="0" baseline="0" noProof="0" dirty="0">
                <a:ln>
                  <a:noFill/>
                </a:ln>
                <a:solidFill>
                  <a:srgbClr val="171717"/>
                </a:solidFill>
                <a:uLnTx/>
                <a:uFillTx/>
                <a:latin typeface="Segoe UI" panose="020B0502040204020203" pitchFamily="34" charset="0"/>
                <a:ea typeface="+mn-ea"/>
                <a:cs typeface="+mn-cs"/>
              </a:rPr>
              <a:t>Chaves de partição e linha</a:t>
            </a:r>
          </a:p>
          <a:p>
            <a:pPr marL="685800" lvl="2" indent="-342900">
              <a:defRPr/>
            </a:pPr>
            <a:r>
              <a:rPr lang="pt-BR" sz="1600" dirty="0">
                <a:solidFill>
                  <a:srgbClr val="171717"/>
                </a:solidFill>
                <a:latin typeface="Segoe UI" panose="020B0502040204020203" pitchFamily="34" charset="0"/>
              </a:rPr>
              <a:t>Colunas personalizadas de propriedade para valores de dados</a:t>
            </a:r>
          </a:p>
          <a:p>
            <a:pPr marL="1028700" lvl="3" indent="-342900">
              <a:defRPr/>
            </a:pPr>
            <a:r>
              <a:rPr kumimoji="0" lang="pt-BR" sz="1600" b="0" u="none" strike="noStrike" cap="none" normalizeH="0" baseline="0" noProof="0" dirty="0">
                <a:ln>
                  <a:noFill/>
                </a:ln>
                <a:solidFill>
                  <a:srgbClr val="171717"/>
                </a:solidFill>
                <a:uLnTx/>
                <a:uFillTx/>
                <a:latin typeface="Segoe UI" panose="020B0502040204020203" pitchFamily="34" charset="0"/>
                <a:ea typeface="+mn-ea"/>
                <a:cs typeface="+mn-cs"/>
              </a:rPr>
              <a:t>Uma coluna </a:t>
            </a:r>
            <a:r>
              <a:rPr kumimoji="0" lang="pt-BR" sz="1600" b="0" i="1" u="none" strike="noStrike" cap="none" normalizeH="0" baseline="0" noProof="0" dirty="0">
                <a:ln>
                  <a:noFill/>
                </a:ln>
                <a:solidFill>
                  <a:srgbClr val="171717"/>
                </a:solidFill>
                <a:uLnTx/>
                <a:uFillTx/>
                <a:latin typeface="Segoe UI" panose="020B0502040204020203" pitchFamily="34" charset="0"/>
                <a:ea typeface="+mn-ea"/>
                <a:cs typeface="+mn-cs"/>
              </a:rPr>
              <a:t>Timestamp</a:t>
            </a:r>
            <a:r>
              <a:rPr kumimoji="0" lang="pt-BR" sz="1600" b="0" u="none" strike="noStrike" cap="none" normalizeH="0" baseline="0" noProof="0" dirty="0">
                <a:ln>
                  <a:noFill/>
                </a:ln>
                <a:solidFill>
                  <a:srgbClr val="171717"/>
                </a:solidFill>
                <a:uLnTx/>
                <a:uFillTx/>
                <a:latin typeface="Segoe UI" panose="020B0502040204020203" pitchFamily="34" charset="0"/>
                <a:ea typeface="+mn-ea"/>
                <a:cs typeface="+mn-cs"/>
              </a:rPr>
              <a:t> é adicionada automaticamente para registrar alterações de dados</a:t>
            </a:r>
          </a:p>
          <a:p>
            <a:pPr marL="342900" marR="0" lvl="0" indent="-342900" algn="l" defTabSz="914367" rtl="0" eaLnBrk="1" fontAlgn="auto" latinLnBrk="0" hangingPunct="1">
              <a:lnSpc>
                <a:spcPct val="100000"/>
              </a:lnSpc>
              <a:spcBef>
                <a:spcPts val="200"/>
              </a:spcBef>
              <a:spcAft>
                <a:spcPts val="400"/>
              </a:spcAft>
              <a:buClrTx/>
              <a:buSzPct val="90000"/>
              <a:buFont typeface="Arial" panose="020B0604020202020204" pitchFamily="34" charset="0"/>
              <a:buChar char="•"/>
              <a:tabLst/>
              <a:defRPr/>
            </a:pPr>
            <a:r>
              <a:rPr lang="pt-BR" sz="1600" dirty="0">
                <a:solidFill>
                  <a:srgbClr val="171717"/>
                </a:solidFill>
                <a:latin typeface="Segoe UI" panose="020B0502040204020203" pitchFamily="34" charset="0"/>
              </a:rPr>
              <a:t>As linhas são agrupadas em partições para melhorar o desempenho</a:t>
            </a:r>
          </a:p>
          <a:p>
            <a:pPr marL="342900" marR="0" lvl="0" indent="-342900" algn="l" defTabSz="914367" rtl="0" eaLnBrk="1" fontAlgn="auto" latinLnBrk="0" hangingPunct="1">
              <a:lnSpc>
                <a:spcPct val="100000"/>
              </a:lnSpc>
              <a:spcBef>
                <a:spcPts val="200"/>
              </a:spcBef>
              <a:spcAft>
                <a:spcPts val="400"/>
              </a:spcAft>
              <a:buClrTx/>
              <a:buSzPct val="90000"/>
              <a:buFont typeface="Arial" panose="020B0604020202020204" pitchFamily="34" charset="0"/>
              <a:buChar char="•"/>
              <a:tabLst/>
              <a:defRPr/>
            </a:pPr>
            <a:r>
              <a:rPr kumimoji="0" lang="pt-BR" sz="1600" b="0" i="0" u="none" strike="noStrike" cap="none" normalizeH="0" baseline="0" noProof="0" dirty="0">
                <a:ln>
                  <a:noFill/>
                </a:ln>
                <a:solidFill>
                  <a:srgbClr val="171717"/>
                </a:solidFill>
                <a:uLnTx/>
                <a:uFillTx/>
                <a:latin typeface="Segoe UI" panose="020B0502040204020203" pitchFamily="34" charset="0"/>
                <a:ea typeface="+mn-ea"/>
                <a:cs typeface="+mn-cs"/>
              </a:rPr>
              <a:t>As colunas de propriedade recebem um tipo de dados e podem conter qualquer valor desse tipo</a:t>
            </a:r>
          </a:p>
          <a:p>
            <a:pPr marL="342900" marR="0" lvl="0" indent="-342900" algn="l" defTabSz="914367" rtl="0" eaLnBrk="1" fontAlgn="auto" latinLnBrk="0" hangingPunct="1">
              <a:lnSpc>
                <a:spcPct val="100000"/>
              </a:lnSpc>
              <a:spcBef>
                <a:spcPts val="200"/>
              </a:spcBef>
              <a:spcAft>
                <a:spcPts val="400"/>
              </a:spcAft>
              <a:buClrTx/>
              <a:buSzPct val="90000"/>
              <a:buFont typeface="Arial" panose="020B0604020202020204" pitchFamily="34" charset="0"/>
              <a:buChar char="•"/>
              <a:tabLst/>
              <a:defRPr/>
            </a:pPr>
            <a:r>
              <a:rPr lang="pt-BR" sz="1600" dirty="0">
                <a:solidFill>
                  <a:srgbClr val="171717"/>
                </a:solidFill>
                <a:latin typeface="Segoe UI" panose="020B0502040204020203" pitchFamily="34" charset="0"/>
              </a:rPr>
              <a:t>As linhas não precisam incluir as mesmas colunas de propriedade</a:t>
            </a:r>
          </a:p>
          <a:p>
            <a:endParaRPr lang="en-US" sz="1600" dirty="0">
              <a:solidFill>
                <a:srgbClr val="171717"/>
              </a:solidFill>
              <a:latin typeface="Segoe UI" panose="020B0502040204020203" pitchFamily="34" charset="0"/>
            </a:endParaRPr>
          </a:p>
          <a:p>
            <a:endParaRPr lang="en-US" sz="1600" dirty="0">
              <a:latin typeface="+mn-lt"/>
            </a:endParaRPr>
          </a:p>
        </p:txBody>
      </p:sp>
    </p:spTree>
    <p:extLst>
      <p:ext uri="{BB962C8B-B14F-4D97-AF65-F5344CB8AC3E}">
        <p14:creationId xmlns:p14="http://schemas.microsoft.com/office/powerpoint/2010/main" val="390244224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0A9EB-DA52-48ED-85C7-02BD39A4845E}"/>
              </a:ext>
            </a:extLst>
          </p:cNvPr>
          <p:cNvSpPr>
            <a:spLocks noGrp="1"/>
          </p:cNvSpPr>
          <p:nvPr>
            <p:ph type="title"/>
          </p:nvPr>
        </p:nvSpPr>
        <p:spPr/>
        <p:txBody>
          <a:bodyPr/>
          <a:lstStyle/>
          <a:p>
            <a:pPr>
              <a:lnSpc>
                <a:spcPct val="100000"/>
              </a:lnSpc>
            </a:pPr>
            <a:r>
              <a:rPr lang="pt-BR" dirty="0"/>
              <a:t>Laboratório: Explorar o Armazenamento do Azure</a:t>
            </a:r>
          </a:p>
        </p:txBody>
      </p:sp>
      <p:sp>
        <p:nvSpPr>
          <p:cNvPr id="4" name="Text Placeholder 3">
            <a:extLst>
              <a:ext uri="{FF2B5EF4-FFF2-40B4-BE49-F238E27FC236}">
                <a16:creationId xmlns:a16="http://schemas.microsoft.com/office/drawing/2014/main" id="{EE0FE8E7-5E70-4DAD-B0D2-E143DFD211B2}"/>
              </a:ext>
            </a:extLst>
          </p:cNvPr>
          <p:cNvSpPr txBox="1">
            <a:spLocks/>
          </p:cNvSpPr>
          <p:nvPr/>
        </p:nvSpPr>
        <p:spPr>
          <a:xfrm>
            <a:off x="1139687" y="3123727"/>
            <a:ext cx="10243929" cy="2170516"/>
          </a:xfrm>
          <a:prstGeom prst="rect">
            <a:avLst/>
          </a:prstGeom>
          <a:ln w="28575">
            <a:solidFill>
              <a:srgbClr val="0078D4"/>
            </a:solidFill>
          </a:ln>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pt-BR" sz="2400" dirty="0">
                <a:gradFill>
                  <a:gsLst>
                    <a:gs pos="2917">
                      <a:srgbClr val="1A1A1A"/>
                    </a:gs>
                    <a:gs pos="30000">
                      <a:srgbClr val="1A1A1A"/>
                    </a:gs>
                  </a:gsLst>
                  <a:lin ang="5400000" scaled="0"/>
                </a:gradFill>
                <a:latin typeface="Segoe UI"/>
              </a:rPr>
              <a:t>Inicie a máquina virtual para este laboratório</a:t>
            </a:r>
          </a:p>
          <a:p>
            <a:pPr marL="457200" lvl="2" defTabSz="914400">
              <a:spcBef>
                <a:spcPts val="0"/>
              </a:spcBef>
              <a:spcAft>
                <a:spcPts val="0"/>
              </a:spcAft>
              <a:buSzTx/>
              <a:defRPr/>
            </a:pPr>
            <a:r>
              <a:rPr kumimoji="0" lang="pt-BR" sz="1647" b="0" i="0" u="none" strike="noStrike" cap="none" normalizeH="0" baseline="0" noProof="0" dirty="0">
                <a:ln>
                  <a:noFill/>
                </a:ln>
                <a:gradFill>
                  <a:gsLst>
                    <a:gs pos="2917">
                      <a:srgbClr val="1A1A1A"/>
                    </a:gs>
                    <a:gs pos="30000">
                      <a:srgbClr val="1A1A1A"/>
                    </a:gs>
                  </a:gsLst>
                  <a:lin ang="5400000" scaled="0"/>
                </a:gradFill>
                <a:uLnTx/>
                <a:uFillTx/>
                <a:latin typeface="Segoe UI"/>
                <a:ea typeface="+mn-ea"/>
                <a:cs typeface="+mn-cs"/>
              </a:rPr>
              <a:t>ou acesse a página de exercícios em </a:t>
            </a:r>
            <a:r>
              <a:rPr kumimoji="0" lang="pt-BR" sz="1647" b="0" i="0" u="none" strike="noStrike" cap="none" normalizeH="0" baseline="0" noProof="0" dirty="0">
                <a:ln>
                  <a:noFill/>
                </a:ln>
                <a:gradFill>
                  <a:gsLst>
                    <a:gs pos="2917">
                      <a:srgbClr val="1A1A1A"/>
                    </a:gs>
                    <a:gs pos="30000">
                      <a:srgbClr val="1A1A1A"/>
                    </a:gs>
                  </a:gsLst>
                  <a:lin ang="5400000" scaled="0"/>
                </a:gradFill>
                <a:uLnTx/>
                <a:uFillTx/>
                <a:latin typeface="Segoe UI"/>
                <a:ea typeface="+mn-ea"/>
                <a:cs typeface="+mn-cs"/>
                <a:hlinkClick r:id="rId3"/>
              </a:rPr>
              <a:t>https://aka.ms/dp900-storage-lab</a:t>
            </a:r>
            <a:r>
              <a:rPr lang="pt-BR" sz="1647" dirty="0">
                <a:gradFill>
                  <a:gsLst>
                    <a:gs pos="2917">
                      <a:srgbClr val="1A1A1A"/>
                    </a:gs>
                    <a:gs pos="30000">
                      <a:srgbClr val="1A1A1A"/>
                    </a:gs>
                  </a:gsLst>
                  <a:lin ang="5400000" scaled="0"/>
                </a:gradFill>
                <a:latin typeface="Segoe UI"/>
                <a:ea typeface="+mn-ea"/>
                <a:cs typeface="+mn-cs"/>
              </a:rPr>
              <a:t>   </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pt-BR" sz="2400" b="0" i="0" u="none" strike="noStrike" cap="none" normalizeH="0" baseline="0" noProof="0" dirty="0">
                <a:ln>
                  <a:noFill/>
                </a:ln>
                <a:gradFill>
                  <a:gsLst>
                    <a:gs pos="2917">
                      <a:srgbClr val="1A1A1A"/>
                    </a:gs>
                    <a:gs pos="30000">
                      <a:srgbClr val="1A1A1A"/>
                    </a:gs>
                  </a:gsLst>
                  <a:lin ang="5400000" scaled="0"/>
                </a:gradFill>
                <a:uLnTx/>
                <a:uFillTx/>
                <a:latin typeface="Segoe UI"/>
                <a:ea typeface="+mn-ea"/>
                <a:cs typeface="+mn-cs"/>
              </a:rPr>
              <a:t>Siga as instruções para concluir o exercício no Microsoft Learn</a:t>
            </a:r>
          </a:p>
          <a:p>
            <a:pPr marL="457200" lvl="2" defTabSz="914400">
              <a:spcBef>
                <a:spcPts val="0"/>
              </a:spcBef>
              <a:spcAft>
                <a:spcPts val="0"/>
              </a:spcAft>
              <a:buSzTx/>
              <a:defRPr/>
            </a:pPr>
            <a:r>
              <a:rPr lang="pt-BR" sz="1647" dirty="0">
                <a:gradFill>
                  <a:gsLst>
                    <a:gs pos="2917">
                      <a:srgbClr val="1A1A1A"/>
                    </a:gs>
                    <a:gs pos="30000">
                      <a:srgbClr val="1A1A1A"/>
                    </a:gs>
                  </a:gsLst>
                  <a:lin ang="5400000" scaled="0"/>
                </a:gradFill>
                <a:latin typeface="Segoe UI"/>
                <a:ea typeface="+mn-ea"/>
                <a:cs typeface="+mn-cs"/>
              </a:rPr>
              <a:t>Use a assinatura do Azure fornecida para este laboratório</a:t>
            </a:r>
          </a:p>
          <a:p>
            <a:pPr marL="457200" lvl="2" defTabSz="914400">
              <a:spcBef>
                <a:spcPts val="0"/>
              </a:spcBef>
              <a:spcAft>
                <a:spcPts val="0"/>
              </a:spcAft>
              <a:buSzTx/>
              <a:defRPr/>
            </a:pPr>
            <a:endParaRPr kumimoji="0" lang="en-US" sz="1647" b="0" i="0" u="none" strike="noStrike" kern="0" cap="none" spc="-49"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p:txBody>
      </p:sp>
      <p:sp>
        <p:nvSpPr>
          <p:cNvPr id="6" name="Text Placeholder 1">
            <a:extLst>
              <a:ext uri="{FF2B5EF4-FFF2-40B4-BE49-F238E27FC236}">
                <a16:creationId xmlns:a16="http://schemas.microsoft.com/office/drawing/2014/main" id="{3855F996-B593-4F88-8E38-79121E85AA2D}"/>
              </a:ext>
            </a:extLst>
          </p:cNvPr>
          <p:cNvSpPr txBox="1">
            <a:spLocks/>
          </p:cNvSpPr>
          <p:nvPr/>
        </p:nvSpPr>
        <p:spPr>
          <a:xfrm>
            <a:off x="586740" y="1759228"/>
            <a:ext cx="11018520"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392"/>
              </a:spcBef>
              <a:spcAft>
                <a:spcPts val="588"/>
              </a:spcAft>
              <a:buClrTx/>
              <a:buSzPct val="90000"/>
              <a:buFont typeface="Wingdings" panose="05000000000000000000" pitchFamily="2" charset="2"/>
              <a:buNone/>
              <a:tabLst/>
              <a:defRPr/>
            </a:pPr>
            <a:r>
              <a:rPr kumimoji="0" lang="pt-BR" sz="2400" b="0" i="0" u="none" strike="noStrike" cap="none" normalizeH="0" baseline="0" noProof="0" dirty="0">
                <a:ln>
                  <a:noFill/>
                </a:ln>
                <a:gradFill>
                  <a:gsLst>
                    <a:gs pos="1250">
                      <a:srgbClr val="1A1A1A"/>
                    </a:gs>
                    <a:gs pos="100000">
                      <a:srgbClr val="1A1A1A"/>
                    </a:gs>
                  </a:gsLst>
                  <a:lin ang="5400000" scaled="0"/>
                </a:gradFill>
                <a:uLnTx/>
                <a:uFillTx/>
                <a:latin typeface="Segoe UI Semilight" panose="020B0402040204020203" pitchFamily="34" charset="0"/>
                <a:ea typeface="+mn-ea"/>
                <a:cs typeface="Segoe UI Semilight" panose="020B0402040204020203" pitchFamily="34" charset="0"/>
              </a:rPr>
              <a:t>Neste laboratório, você provisionará e usará o Armazenamento do Azure</a:t>
            </a:r>
          </a:p>
        </p:txBody>
      </p:sp>
      <p:grpSp>
        <p:nvGrpSpPr>
          <p:cNvPr id="5" name="Group 4" descr="Ícone de três pontos e formas em V apontando para fora nos lados esquerdo e direito">
            <a:extLst>
              <a:ext uri="{FF2B5EF4-FFF2-40B4-BE49-F238E27FC236}">
                <a16:creationId xmlns:a16="http://schemas.microsoft.com/office/drawing/2014/main" id="{56289A30-431C-48DA-A612-9D68B71917C9}"/>
              </a:ext>
            </a:extLst>
          </p:cNvPr>
          <p:cNvGrpSpPr/>
          <p:nvPr/>
        </p:nvGrpSpPr>
        <p:grpSpPr>
          <a:xfrm>
            <a:off x="10616413" y="4592011"/>
            <a:ext cx="702132" cy="702232"/>
            <a:chOff x="3088645" y="5729498"/>
            <a:chExt cx="648328" cy="648420"/>
          </a:xfrm>
        </p:grpSpPr>
        <p:grpSp>
          <p:nvGrpSpPr>
            <p:cNvPr id="7" name="Group 6">
              <a:extLst>
                <a:ext uri="{FF2B5EF4-FFF2-40B4-BE49-F238E27FC236}">
                  <a16:creationId xmlns:a16="http://schemas.microsoft.com/office/drawing/2014/main" id="{E1B3475A-2242-4192-A2DB-FF654448902E}"/>
                </a:ext>
                <a:ext uri="{C183D7F6-B498-43B3-948B-1728B52AA6E4}">
                  <adec:decorative xmlns:adec="http://schemas.microsoft.com/office/drawing/2017/decorative" val="1"/>
                </a:ext>
              </a:extLst>
            </p:cNvPr>
            <p:cNvGrpSpPr/>
            <p:nvPr/>
          </p:nvGrpSpPr>
          <p:grpSpPr>
            <a:xfrm>
              <a:off x="3088645" y="5729498"/>
              <a:ext cx="648328" cy="648420"/>
              <a:chOff x="7962901" y="3032919"/>
              <a:chExt cx="981074" cy="981076"/>
            </a:xfrm>
          </p:grpSpPr>
          <p:sp>
            <p:nvSpPr>
              <p:cNvPr id="9" name="Freeform 5">
                <a:extLst>
                  <a:ext uri="{FF2B5EF4-FFF2-40B4-BE49-F238E27FC236}">
                    <a16:creationId xmlns:a16="http://schemas.microsoft.com/office/drawing/2014/main" id="{5F32B4E5-5C4A-4E8E-AF30-9D73B850ED47}"/>
                  </a:ext>
                </a:extLst>
              </p:cNvPr>
              <p:cNvSpPr>
                <a:spLocks/>
              </p:cNvSpPr>
              <p:nvPr/>
            </p:nvSpPr>
            <p:spPr bwMode="auto">
              <a:xfrm>
                <a:off x="7962901" y="3032919"/>
                <a:ext cx="981074" cy="981076"/>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 name="Freeform 6">
                <a:extLst>
                  <a:ext uri="{FF2B5EF4-FFF2-40B4-BE49-F238E27FC236}">
                    <a16:creationId xmlns:a16="http://schemas.microsoft.com/office/drawing/2014/main" id="{8380E229-CB73-4336-8CF4-BF9EB0121110}"/>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Ícone de três pontos e formas em V apontando para fora nos lados esquerdo e direito">
              <a:extLst>
                <a:ext uri="{FF2B5EF4-FFF2-40B4-BE49-F238E27FC236}">
                  <a16:creationId xmlns:a16="http://schemas.microsoft.com/office/drawing/2014/main" id="{ECF79248-7850-4DA4-9E0D-5C6D3B5E7BE9}"/>
                </a:ext>
              </a:extLst>
            </p:cNvPr>
            <p:cNvPicPr>
              <a:picLocks noChangeAspect="1"/>
            </p:cNvPicPr>
            <p:nvPr/>
          </p:nvPicPr>
          <p:blipFill>
            <a:blip r:embed="rId4"/>
            <a:stretch>
              <a:fillRect/>
            </a:stretch>
          </p:blipFill>
          <p:spPr>
            <a:xfrm>
              <a:off x="3184209" y="5952822"/>
              <a:ext cx="457200" cy="201773"/>
            </a:xfrm>
            <a:prstGeom prst="rect">
              <a:avLst/>
            </a:prstGeom>
          </p:spPr>
        </p:pic>
      </p:grpSp>
    </p:spTree>
    <p:extLst>
      <p:ext uri="{BB962C8B-B14F-4D97-AF65-F5344CB8AC3E}">
        <p14:creationId xmlns:p14="http://schemas.microsoft.com/office/powerpoint/2010/main" val="334550022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descr="Ícone de um documento"/>
          <p:cNvSpPr>
            <a:spLocks noGrp="1"/>
          </p:cNvSpPr>
          <p:nvPr>
            <p:ph type="title"/>
          </p:nvPr>
        </p:nvSpPr>
        <p:spPr>
          <a:xfrm>
            <a:off x="425366" y="395338"/>
            <a:ext cx="11341268" cy="680196"/>
          </a:xfrm>
        </p:spPr>
        <p:txBody>
          <a:bodyPr/>
          <a:lstStyle/>
          <a:p>
            <a:pPr>
              <a:lnSpc>
                <a:spcPct val="100000"/>
              </a:lnSpc>
            </a:pPr>
            <a:r>
              <a:rPr lang="pt-BR"/>
              <a:t>Lição 1: Verificação de conhecimento</a:t>
            </a:r>
          </a:p>
        </p:txBody>
      </p:sp>
      <p:sp>
        <p:nvSpPr>
          <p:cNvPr id="40" name="TextBox 39">
            <a:extLst>
              <a:ext uri="{FF2B5EF4-FFF2-40B4-BE49-F238E27FC236}">
                <a16:creationId xmlns:a16="http://schemas.microsoft.com/office/drawing/2014/main" id="{3BA1F15F-4D29-4062-98DD-AB6AFB989835}"/>
              </a:ext>
            </a:extLst>
          </p:cNvPr>
          <p:cNvSpPr txBox="1"/>
          <p:nvPr/>
        </p:nvSpPr>
        <p:spPr>
          <a:xfrm>
            <a:off x="1646006" y="1618793"/>
            <a:ext cx="10113905" cy="1007968"/>
          </a:xfrm>
          <a:prstGeom prst="rect">
            <a:avLst/>
          </a:prstGeom>
          <a:noFill/>
        </p:spPr>
        <p:txBody>
          <a:bodyPr wrap="square" lIns="0" tIns="0" rIns="0" bIns="0">
            <a:spAutoFit/>
          </a:bodyPr>
          <a:lstStyle/>
          <a:p>
            <a:pPr>
              <a:spcAft>
                <a:spcPts val="294"/>
              </a:spcAft>
              <a:defRPr/>
            </a:pPr>
            <a:r>
              <a:rPr lang="pt-BR" sz="1600" dirty="0">
                <a:latin typeface="+mj-lt"/>
              </a:rPr>
              <a:t>Quais são os elementos de uma chave do Armazenamento de tabelas do Azure?</a:t>
            </a:r>
          </a:p>
          <a:p>
            <a:pPr marL="336145" indent="-336145">
              <a:spcAft>
                <a:spcPts val="294"/>
              </a:spcAft>
              <a:buFont typeface="Wingdings" panose="05000000000000000000" pitchFamily="2" charset="2"/>
              <a:buChar char="q"/>
              <a:defRPr/>
            </a:pPr>
            <a:r>
              <a:rPr lang="pt-BR" sz="1400" dirty="0"/>
              <a:t>Nome da tabela e nome da coluna</a:t>
            </a:r>
          </a:p>
          <a:p>
            <a:pPr marL="336145" indent="-336145">
              <a:spcAft>
                <a:spcPts val="294"/>
              </a:spcAft>
              <a:buFont typeface="Wingdings" panose="05000000000000000000" pitchFamily="2" charset="2"/>
              <a:buChar char="q"/>
              <a:defRPr/>
            </a:pPr>
            <a:r>
              <a:rPr lang="pt-BR" sz="1400" dirty="0"/>
              <a:t>Chave de partição e chave de linha</a:t>
            </a:r>
          </a:p>
          <a:p>
            <a:pPr marL="336145" indent="-336145">
              <a:spcAft>
                <a:spcPts val="294"/>
              </a:spcAft>
              <a:buFont typeface="Wingdings" panose="05000000000000000000" pitchFamily="2" charset="2"/>
              <a:buChar char="q"/>
              <a:defRPr/>
            </a:pPr>
            <a:r>
              <a:rPr lang="pt-BR" sz="1400" dirty="0"/>
              <a:t>Número da linha</a:t>
            </a:r>
          </a:p>
        </p:txBody>
      </p:sp>
      <p:sp>
        <p:nvSpPr>
          <p:cNvPr id="6" name="Graphic 26" descr="Marca de seleção em chave de partição e chave de linha">
            <a:extLst>
              <a:ext uri="{FF2B5EF4-FFF2-40B4-BE49-F238E27FC236}">
                <a16:creationId xmlns:a16="http://schemas.microsoft.com/office/drawing/2014/main" id="{7D05BC2A-9C6E-43B0-8D7F-ECDE30924359}"/>
              </a:ext>
            </a:extLst>
          </p:cNvPr>
          <p:cNvSpPr/>
          <p:nvPr/>
        </p:nvSpPr>
        <p:spPr>
          <a:xfrm>
            <a:off x="1646006" y="2122777"/>
            <a:ext cx="225870" cy="158646"/>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sz="1730" dirty="0"/>
          </a:p>
        </p:txBody>
      </p:sp>
      <p:cxnSp>
        <p:nvCxnSpPr>
          <p:cNvPr id="12" name="Straight Connector 11">
            <a:extLst>
              <a:ext uri="{FF2B5EF4-FFF2-40B4-BE49-F238E27FC236}">
                <a16:creationId xmlns:a16="http://schemas.microsoft.com/office/drawing/2014/main" id="{8638AAB1-0E91-4186-AED1-38EFA34D41C8}"/>
              </a:ext>
              <a:ext uri="{C183D7F6-B498-43B3-948B-1728B52AA6E4}">
                <adec:decorative xmlns:adec="http://schemas.microsoft.com/office/drawing/2017/decorative" val="1"/>
              </a:ext>
            </a:extLst>
          </p:cNvPr>
          <p:cNvCxnSpPr>
            <a:cxnSpLocks/>
          </p:cNvCxnSpPr>
          <p:nvPr/>
        </p:nvCxnSpPr>
        <p:spPr>
          <a:xfrm>
            <a:off x="1646006" y="2852029"/>
            <a:ext cx="101139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2624CD9-542E-49EF-9252-E02C03C282FB}"/>
              </a:ext>
            </a:extLst>
          </p:cNvPr>
          <p:cNvSpPr txBox="1"/>
          <p:nvPr/>
        </p:nvSpPr>
        <p:spPr>
          <a:xfrm>
            <a:off x="1646006" y="3085885"/>
            <a:ext cx="8942397" cy="1254189"/>
          </a:xfrm>
          <a:prstGeom prst="rect">
            <a:avLst/>
          </a:prstGeom>
          <a:noFill/>
        </p:spPr>
        <p:txBody>
          <a:bodyPr wrap="square" lIns="0" tIns="0" rIns="0" bIns="0">
            <a:spAutoFit/>
          </a:bodyPr>
          <a:lstStyle/>
          <a:p>
            <a:pPr>
              <a:spcAft>
                <a:spcPts val="294"/>
              </a:spcAft>
              <a:defRPr/>
            </a:pPr>
            <a:r>
              <a:rPr lang="pt-BR" sz="1600">
                <a:latin typeface="+mj-lt"/>
              </a:rPr>
              <a:t>O que você deve fazer em uma conta de Armazenamento do Azure para dar suporte a um data lake para o Azure Synapse Analytics?</a:t>
            </a:r>
          </a:p>
          <a:p>
            <a:pPr marL="336145" indent="-336145">
              <a:spcAft>
                <a:spcPts val="294"/>
              </a:spcAft>
              <a:buFont typeface="Wingdings" panose="05000000000000000000" pitchFamily="2" charset="2"/>
              <a:buChar char="q"/>
              <a:defRPr/>
            </a:pPr>
            <a:r>
              <a:rPr lang="pt-BR" sz="1400"/>
              <a:t>Adicionar um compartilhamento de Arquivos do Azure</a:t>
            </a:r>
          </a:p>
          <a:p>
            <a:pPr marL="336145" indent="-336145">
              <a:spcAft>
                <a:spcPts val="294"/>
              </a:spcAft>
              <a:buFont typeface="Wingdings" panose="05000000000000000000" pitchFamily="2" charset="2"/>
              <a:buChar char="q"/>
              <a:defRPr/>
            </a:pPr>
            <a:r>
              <a:rPr lang="pt-BR" sz="1400"/>
              <a:t>Criar tabelas de Armazenamento do Azure para os dados que você quer analisar</a:t>
            </a:r>
          </a:p>
          <a:p>
            <a:pPr marL="336145" indent="-336145">
              <a:spcAft>
                <a:spcPts val="294"/>
              </a:spcAft>
              <a:buFont typeface="Wingdings" panose="05000000000000000000" pitchFamily="2" charset="2"/>
              <a:buChar char="q"/>
              <a:defRPr/>
            </a:pPr>
            <a:r>
              <a:rPr lang="pt-BR" sz="1400"/>
              <a:t>Atualizar a conta para habilitar o </a:t>
            </a:r>
            <a:r>
              <a:rPr lang="pt-BR" sz="1400" i="1"/>
              <a:t>namespace hierárquico</a:t>
            </a:r>
            <a:r>
              <a:rPr lang="pt-BR" sz="1400"/>
              <a:t> e criar um contêiner de blobs</a:t>
            </a:r>
          </a:p>
        </p:txBody>
      </p:sp>
      <p:sp>
        <p:nvSpPr>
          <p:cNvPr id="8" name="Graphic 27" descr="Marca de seleção na opção para usar um bloco de páginas para blobs que exigem acesso aleatório de leitura e gravação. Usar um blob de blocos para objetos discretos que são alterados com pouca frequência">
            <a:extLst>
              <a:ext uri="{FF2B5EF4-FFF2-40B4-BE49-F238E27FC236}">
                <a16:creationId xmlns:a16="http://schemas.microsoft.com/office/drawing/2014/main" id="{1B814A20-05D2-467E-A2C3-BD207A2201D0}"/>
              </a:ext>
            </a:extLst>
          </p:cNvPr>
          <p:cNvSpPr/>
          <p:nvPr/>
        </p:nvSpPr>
        <p:spPr>
          <a:xfrm>
            <a:off x="1646006" y="4090178"/>
            <a:ext cx="225870" cy="158646"/>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sz="1730" dirty="0"/>
          </a:p>
        </p:txBody>
      </p:sp>
      <p:cxnSp>
        <p:nvCxnSpPr>
          <p:cNvPr id="14" name="Straight Connector 13">
            <a:extLst>
              <a:ext uri="{FF2B5EF4-FFF2-40B4-BE49-F238E27FC236}">
                <a16:creationId xmlns:a16="http://schemas.microsoft.com/office/drawing/2014/main" id="{81C52061-5571-4C82-8372-76A935F5688C}"/>
              </a:ext>
              <a:ext uri="{C183D7F6-B498-43B3-948B-1728B52AA6E4}">
                <adec:decorative xmlns:adec="http://schemas.microsoft.com/office/drawing/2017/decorative" val="1"/>
              </a:ext>
            </a:extLst>
          </p:cNvPr>
          <p:cNvCxnSpPr>
            <a:cxnSpLocks/>
          </p:cNvCxnSpPr>
          <p:nvPr/>
        </p:nvCxnSpPr>
        <p:spPr>
          <a:xfrm>
            <a:off x="1646006" y="4580218"/>
            <a:ext cx="101139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89798CE-D451-4A7C-A575-16C102C586CF}"/>
              </a:ext>
            </a:extLst>
          </p:cNvPr>
          <p:cNvSpPr txBox="1"/>
          <p:nvPr/>
        </p:nvSpPr>
        <p:spPr>
          <a:xfrm>
            <a:off x="1646006" y="4735223"/>
            <a:ext cx="10113905" cy="1254189"/>
          </a:xfrm>
          <a:prstGeom prst="rect">
            <a:avLst/>
          </a:prstGeom>
          <a:noFill/>
        </p:spPr>
        <p:txBody>
          <a:bodyPr wrap="square" lIns="0" tIns="0" rIns="0" bIns="0">
            <a:spAutoFit/>
          </a:bodyPr>
          <a:lstStyle/>
          <a:p>
            <a:pPr>
              <a:spcAft>
                <a:spcPts val="294"/>
              </a:spcAft>
              <a:defRPr/>
            </a:pPr>
            <a:r>
              <a:rPr lang="pt-BR" sz="1600" dirty="0">
                <a:latin typeface="+mj-lt"/>
              </a:rPr>
              <a:t>Qual opção de Armazenamento do Azure deve ser usada para criar compartilhamentos de arquivos de rede baseados em nuvem?</a:t>
            </a:r>
          </a:p>
          <a:p>
            <a:pPr marL="336145" indent="-336145">
              <a:spcAft>
                <a:spcPts val="294"/>
              </a:spcAft>
              <a:buFont typeface="Wingdings" panose="05000000000000000000" pitchFamily="2" charset="2"/>
              <a:buChar char="q"/>
              <a:defRPr/>
            </a:pPr>
            <a:r>
              <a:rPr lang="pt-BR" sz="1400" dirty="0"/>
              <a:t>Armazenamento de Blobs do Azure</a:t>
            </a:r>
          </a:p>
          <a:p>
            <a:pPr marL="336145" indent="-336145">
              <a:spcAft>
                <a:spcPts val="294"/>
              </a:spcAft>
              <a:buFont typeface="Wingdings" panose="05000000000000000000" pitchFamily="2" charset="2"/>
              <a:buChar char="q"/>
              <a:defRPr/>
            </a:pPr>
            <a:r>
              <a:rPr lang="pt-BR" sz="1400" dirty="0"/>
              <a:t>Tabelas do Azure</a:t>
            </a:r>
          </a:p>
          <a:p>
            <a:pPr marL="336145" indent="-336145">
              <a:spcAft>
                <a:spcPts val="294"/>
              </a:spcAft>
              <a:buFont typeface="Wingdings" panose="05000000000000000000" pitchFamily="2" charset="2"/>
              <a:buChar char="q"/>
              <a:defRPr/>
            </a:pPr>
            <a:r>
              <a:rPr lang="pt-BR" sz="1400" dirty="0"/>
              <a:t>Arquivos do Azure</a:t>
            </a:r>
          </a:p>
        </p:txBody>
      </p:sp>
      <p:sp>
        <p:nvSpPr>
          <p:cNvPr id="13" name="Graphic 28" descr="Marca de seleção para permitir que usuários em sites diferentes compartilhem arquivos">
            <a:extLst>
              <a:ext uri="{FF2B5EF4-FFF2-40B4-BE49-F238E27FC236}">
                <a16:creationId xmlns:a16="http://schemas.microsoft.com/office/drawing/2014/main" id="{2CE6C891-3AA6-435F-887D-FE50B153C633}"/>
              </a:ext>
            </a:extLst>
          </p:cNvPr>
          <p:cNvSpPr/>
          <p:nvPr/>
        </p:nvSpPr>
        <p:spPr>
          <a:xfrm>
            <a:off x="1646006" y="5749113"/>
            <a:ext cx="225870" cy="158646"/>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sz="1730" dirty="0"/>
          </a:p>
        </p:txBody>
      </p:sp>
      <p:pic>
        <p:nvPicPr>
          <p:cNvPr id="2" name="Graphic 1" descr="Ponto de interrogação do crachá com preenchimento sólido">
            <a:extLst>
              <a:ext uri="{FF2B5EF4-FFF2-40B4-BE49-F238E27FC236}">
                <a16:creationId xmlns:a16="http://schemas.microsoft.com/office/drawing/2014/main" id="{09ABF890-D8E8-49E3-BDA4-5034A861BFD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5264" y="1528208"/>
            <a:ext cx="933775" cy="933775"/>
          </a:xfrm>
          <a:prstGeom prst="rect">
            <a:avLst/>
          </a:prstGeom>
        </p:spPr>
      </p:pic>
      <p:pic>
        <p:nvPicPr>
          <p:cNvPr id="3" name="Graphic 2" descr="Ponto de interrogação do crachá com preenchimento sólido">
            <a:extLst>
              <a:ext uri="{FF2B5EF4-FFF2-40B4-BE49-F238E27FC236}">
                <a16:creationId xmlns:a16="http://schemas.microsoft.com/office/drawing/2014/main" id="{7921BC58-6ED2-447B-BEF7-3C8500D86D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5263" y="2933853"/>
            <a:ext cx="933775" cy="933775"/>
          </a:xfrm>
          <a:prstGeom prst="rect">
            <a:avLst/>
          </a:prstGeom>
        </p:spPr>
      </p:pic>
      <p:pic>
        <p:nvPicPr>
          <p:cNvPr id="4" name="Graphic 3" descr="Ponto de interrogação do crachá com preenchimento sólido">
            <a:extLst>
              <a:ext uri="{FF2B5EF4-FFF2-40B4-BE49-F238E27FC236}">
                <a16:creationId xmlns:a16="http://schemas.microsoft.com/office/drawing/2014/main" id="{444D35CD-5FFB-47B6-9AB2-F97A12B44A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5263" y="4576578"/>
            <a:ext cx="933775" cy="933775"/>
          </a:xfrm>
          <a:prstGeom prst="rect">
            <a:avLst/>
          </a:prstGeom>
        </p:spPr>
      </p:pic>
    </p:spTree>
    <p:extLst>
      <p:ext uri="{BB962C8B-B14F-4D97-AF65-F5344CB8AC3E}">
        <p14:creationId xmlns:p14="http://schemas.microsoft.com/office/powerpoint/2010/main" val="3793101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1BE858-0F27-47E5-AFEC-0727DEBA30F6}"/>
              </a:ext>
            </a:extLst>
          </p:cNvPr>
          <p:cNvSpPr>
            <a:spLocks noGrp="1"/>
          </p:cNvSpPr>
          <p:nvPr>
            <p:ph type="title"/>
          </p:nvPr>
        </p:nvSpPr>
        <p:spPr/>
        <p:txBody>
          <a:bodyPr/>
          <a:lstStyle/>
          <a:p>
            <a:pPr>
              <a:lnSpc>
                <a:spcPct val="100000"/>
              </a:lnSpc>
            </a:pPr>
            <a:r>
              <a:rPr lang="pt-BR" sz="2000" dirty="0"/>
              <a:t>Lição 2: Conceitos básicos do Azure Cosmos DB</a:t>
            </a:r>
          </a:p>
        </p:txBody>
      </p:sp>
      <p:grpSp>
        <p:nvGrpSpPr>
          <p:cNvPr id="6" name="Group 5">
            <a:extLst>
              <a:ext uri="{FF2B5EF4-FFF2-40B4-BE49-F238E27FC236}">
                <a16:creationId xmlns:a16="http://schemas.microsoft.com/office/drawing/2014/main" id="{4570984A-80CA-4CB0-81FB-BB0E32D4A0D4}"/>
              </a:ext>
              <a:ext uri="{C183D7F6-B498-43B3-948B-1728B52AA6E4}">
                <adec:decorative xmlns:adec="http://schemas.microsoft.com/office/drawing/2017/decorative" val="1"/>
              </a:ext>
            </a:extLst>
          </p:cNvPr>
          <p:cNvGrpSpPr/>
          <p:nvPr/>
        </p:nvGrpSpPr>
        <p:grpSpPr>
          <a:xfrm>
            <a:off x="10164789" y="2840126"/>
            <a:ext cx="1250650" cy="1250650"/>
            <a:chOff x="2995195" y="3678811"/>
            <a:chExt cx="800001" cy="800001"/>
          </a:xfrm>
        </p:grpSpPr>
        <p:sp>
          <p:nvSpPr>
            <p:cNvPr id="7" name="Oval 6">
              <a:extLst>
                <a:ext uri="{FF2B5EF4-FFF2-40B4-BE49-F238E27FC236}">
                  <a16:creationId xmlns:a16="http://schemas.microsoft.com/office/drawing/2014/main" id="{0E4C9E26-01AA-41EC-8DA0-E0A8EA52A2DB}"/>
                </a:ext>
              </a:extLst>
            </p:cNvPr>
            <p:cNvSpPr/>
            <p:nvPr/>
          </p:nvSpPr>
          <p:spPr bwMode="auto">
            <a:xfrm>
              <a:off x="2995195" y="3678811"/>
              <a:ext cx="800001" cy="800001"/>
            </a:xfrm>
            <a:prstGeom prst="ellipse">
              <a:avLst/>
            </a:prstGeom>
            <a:solidFill>
              <a:schemeClr val="tx2">
                <a:lumMod val="60000"/>
                <a:lumOff val="40000"/>
              </a:schemeClr>
            </a:solidFill>
            <a:ln w="38100">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Graphic 7">
              <a:extLst>
                <a:ext uri="{FF2B5EF4-FFF2-40B4-BE49-F238E27FC236}">
                  <a16:creationId xmlns:a16="http://schemas.microsoft.com/office/drawing/2014/main" id="{36FE5847-1E15-4056-98C0-4D0A0D7DA5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18047" y="3801663"/>
              <a:ext cx="554296" cy="554296"/>
            </a:xfrm>
            <a:prstGeom prst="rect">
              <a:avLst/>
            </a:prstGeom>
          </p:spPr>
        </p:pic>
      </p:grpSp>
    </p:spTree>
    <p:extLst>
      <p:ext uri="{BB962C8B-B14F-4D97-AF65-F5344CB8AC3E}">
        <p14:creationId xmlns:p14="http://schemas.microsoft.com/office/powerpoint/2010/main" val="330954465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E1741A-9C27-4B99-BC01-347B39193002}"/>
              </a:ext>
              <a:ext uri="{C183D7F6-B498-43B3-948B-1728B52AA6E4}">
                <adec:decorative xmlns:adec="http://schemas.microsoft.com/office/drawing/2017/decorative" val="1"/>
              </a:ext>
            </a:extLst>
          </p:cNvPr>
          <p:cNvSpPr/>
          <p:nvPr/>
        </p:nvSpPr>
        <p:spPr bwMode="auto">
          <a:xfrm>
            <a:off x="317646" y="2028095"/>
            <a:ext cx="6860868" cy="4046550"/>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CDE058AE-AD56-43FC-A954-C39758DCD66E}"/>
              </a:ext>
            </a:extLst>
          </p:cNvPr>
          <p:cNvSpPr>
            <a:spLocks noGrp="1"/>
          </p:cNvSpPr>
          <p:nvPr>
            <p:ph type="title"/>
          </p:nvPr>
        </p:nvSpPr>
        <p:spPr/>
        <p:txBody>
          <a:bodyPr/>
          <a:lstStyle/>
          <a:p>
            <a:pPr>
              <a:lnSpc>
                <a:spcPct val="100000"/>
              </a:lnSpc>
            </a:pPr>
            <a:r>
              <a:rPr lang="pt-BR" dirty="0"/>
              <a:t>O que é o Azure Cosmos DB?</a:t>
            </a:r>
          </a:p>
        </p:txBody>
      </p:sp>
      <p:sp>
        <p:nvSpPr>
          <p:cNvPr id="5" name="TextBox 4">
            <a:extLst>
              <a:ext uri="{FF2B5EF4-FFF2-40B4-BE49-F238E27FC236}">
                <a16:creationId xmlns:a16="http://schemas.microsoft.com/office/drawing/2014/main" id="{AB4E71F2-4275-421D-8EC6-25995636C4DE}"/>
              </a:ext>
            </a:extLst>
          </p:cNvPr>
          <p:cNvSpPr txBox="1"/>
          <p:nvPr/>
        </p:nvSpPr>
        <p:spPr>
          <a:xfrm>
            <a:off x="425793" y="1988556"/>
            <a:ext cx="6336690" cy="3809248"/>
          </a:xfrm>
          <a:prstGeom prst="rect">
            <a:avLst/>
          </a:prstGeom>
          <a:noFill/>
        </p:spPr>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lvl="0">
              <a:spcBef>
                <a:spcPts val="200"/>
              </a:spcBef>
              <a:spcAft>
                <a:spcPts val="400"/>
              </a:spcAft>
              <a:buSzPct val="90000"/>
              <a:defRPr/>
            </a:pPr>
            <a:r>
              <a:rPr lang="pt-BR" sz="2100" dirty="0">
                <a:solidFill>
                  <a:srgbClr val="000000"/>
                </a:solidFill>
                <a:latin typeface="+mj-lt"/>
              </a:rPr>
              <a:t>Um sistema de gerenciamento de banco de dados </a:t>
            </a:r>
            <a:r>
              <a:rPr lang="pt-BR" sz="2100" i="1" dirty="0">
                <a:solidFill>
                  <a:srgbClr val="000000"/>
                </a:solidFill>
                <a:latin typeface="+mj-lt"/>
              </a:rPr>
              <a:t>NoSQL</a:t>
            </a:r>
            <a:r>
              <a:rPr lang="pt-BR" sz="2100" dirty="0">
                <a:solidFill>
                  <a:srgbClr val="000000"/>
                </a:solidFill>
                <a:latin typeface="+mj-lt"/>
              </a:rPr>
              <a:t> de vários modelos e escala global </a:t>
            </a:r>
          </a:p>
          <a:p>
            <a:pPr lvl="0">
              <a:spcBef>
                <a:spcPts val="200"/>
              </a:spcBef>
              <a:spcAft>
                <a:spcPts val="400"/>
              </a:spcAft>
              <a:buSzPct val="90000"/>
              <a:defRPr/>
            </a:pPr>
            <a:endParaRPr lang="en-US" sz="2100" spc="-49" dirty="0">
              <a:solidFill>
                <a:srgbClr val="000000"/>
              </a:solidFill>
              <a:latin typeface="+mj-lt"/>
            </a:endParaRPr>
          </a:p>
          <a:p>
            <a:pPr marL="342900" marR="0" lvl="0" indent="-342900" algn="l" defTabSz="914367" rtl="0" eaLnBrk="1" fontAlgn="auto" latinLnBrk="0" hangingPunct="1">
              <a:spcBef>
                <a:spcPts val="0"/>
              </a:spcBef>
              <a:spcAft>
                <a:spcPts val="600"/>
              </a:spcAft>
              <a:buClrTx/>
              <a:buSzTx/>
              <a:buFont typeface="Arial"/>
              <a:buChar char="•"/>
              <a:tabLst/>
              <a:defRPr/>
            </a:pPr>
            <a:r>
              <a:rPr kumimoji="0" lang="pt-BR" sz="2100" b="0" i="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Segoe UI"/>
              </a:rPr>
              <a:t>Suporte para várias APIs de armazenamento</a:t>
            </a:r>
          </a:p>
          <a:p>
            <a:pPr marL="342900" marR="0" lvl="0" indent="-342900" algn="l" defTabSz="914367" rtl="0" eaLnBrk="1" fontAlgn="auto" latinLnBrk="0" hangingPunct="1">
              <a:spcBef>
                <a:spcPts val="0"/>
              </a:spcBef>
              <a:spcAft>
                <a:spcPts val="600"/>
              </a:spcAft>
              <a:buClrTx/>
              <a:buSzTx/>
              <a:buFont typeface="Arial"/>
              <a:buChar char="•"/>
              <a:tabLst/>
              <a:defRPr/>
            </a:pPr>
            <a:r>
              <a:rPr kumimoji="0" lang="pt-BR" sz="2100" b="0" i="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Segoe UI"/>
              </a:rPr>
              <a:t>Acesso em tempo real com desempenho rápido de leitura e gravação</a:t>
            </a:r>
          </a:p>
          <a:p>
            <a:pPr marL="342900" indent="-342900">
              <a:spcAft>
                <a:spcPts val="600"/>
              </a:spcAft>
              <a:buFont typeface="Arial"/>
              <a:buChar char="•"/>
              <a:defRPr/>
            </a:pPr>
            <a:r>
              <a:rPr lang="pt-BR" sz="2100" i="1" dirty="0">
                <a:gradFill>
                  <a:gsLst>
                    <a:gs pos="2917">
                      <a:srgbClr val="000000"/>
                    </a:gs>
                    <a:gs pos="30000">
                      <a:srgbClr val="000000"/>
                    </a:gs>
                  </a:gsLst>
                  <a:lin ang="5400000" scaled="0"/>
                </a:gradFill>
                <a:latin typeface="Segoe UI"/>
                <a:cs typeface="Segoe UI"/>
              </a:rPr>
              <a:t>Gravações em várias regiões</a:t>
            </a:r>
            <a:r>
              <a:rPr lang="pt-BR" sz="2100" dirty="0">
                <a:gradFill>
                  <a:gsLst>
                    <a:gs pos="2917">
                      <a:srgbClr val="000000"/>
                    </a:gs>
                    <a:gs pos="30000">
                      <a:srgbClr val="000000"/>
                    </a:gs>
                  </a:gsLst>
                  <a:lin ang="5400000" scaled="0"/>
                </a:gradFill>
                <a:latin typeface="Segoe UI"/>
                <a:cs typeface="Segoe UI"/>
              </a:rPr>
              <a:t> para replicar dados globalmente, permitindo que usuários em regiões especificadas trabalhem com uma réplica local</a:t>
            </a:r>
          </a:p>
        </p:txBody>
      </p:sp>
      <p:pic>
        <p:nvPicPr>
          <p:cNvPr id="7" name="Picture 8">
            <a:extLst>
              <a:ext uri="{FF2B5EF4-FFF2-40B4-BE49-F238E27FC236}">
                <a16:creationId xmlns:a16="http://schemas.microsoft.com/office/drawing/2014/main" id="{6B62B593-6BF7-4AAB-951D-60632B06A6A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916856" y="3408674"/>
            <a:ext cx="1492580" cy="1498058"/>
          </a:xfrm>
          <a:prstGeom prst="rect">
            <a:avLst/>
          </a:prstGeom>
        </p:spPr>
      </p:pic>
      <p:sp>
        <p:nvSpPr>
          <p:cNvPr id="8" name="TextBox 7">
            <a:extLst>
              <a:ext uri="{FF2B5EF4-FFF2-40B4-BE49-F238E27FC236}">
                <a16:creationId xmlns:a16="http://schemas.microsoft.com/office/drawing/2014/main" id="{59655FFD-C4A2-4726-B61E-A521976307CB}"/>
              </a:ext>
            </a:extLst>
          </p:cNvPr>
          <p:cNvSpPr txBox="1"/>
          <p:nvPr/>
        </p:nvSpPr>
        <p:spPr>
          <a:xfrm>
            <a:off x="7525254" y="2652243"/>
            <a:ext cx="1446678" cy="503215"/>
          </a:xfrm>
          <a:prstGeom prst="rect">
            <a:avLst/>
          </a:prstGeom>
          <a:noFill/>
        </p:spPr>
        <p:txBody>
          <a:bodyPr wrap="none" lIns="182880" tIns="146304" rIns="182880" bIns="146304" rtlCol="0">
            <a:spAutoFit/>
          </a:bodyPr>
          <a:lstStyle/>
          <a:p>
            <a:pPr>
              <a:lnSpc>
                <a:spcPct val="90000"/>
              </a:lnSpc>
              <a:spcAft>
                <a:spcPts val="600"/>
              </a:spcAft>
            </a:pPr>
            <a:r>
              <a:rPr lang="pt-BR" sz="1500" dirty="0">
                <a:gradFill>
                  <a:gsLst>
                    <a:gs pos="2917">
                      <a:schemeClr val="tx1"/>
                    </a:gs>
                    <a:gs pos="30000">
                      <a:schemeClr val="tx1"/>
                    </a:gs>
                  </a:gsLst>
                  <a:lin ang="5400000" scaled="0"/>
                </a:gradFill>
              </a:rPr>
              <a:t>Documentos</a:t>
            </a:r>
          </a:p>
        </p:txBody>
      </p:sp>
      <p:sp>
        <p:nvSpPr>
          <p:cNvPr id="9" name="TextBox 8">
            <a:extLst>
              <a:ext uri="{FF2B5EF4-FFF2-40B4-BE49-F238E27FC236}">
                <a16:creationId xmlns:a16="http://schemas.microsoft.com/office/drawing/2014/main" id="{991F6EAD-39E7-4585-8181-6F57631214F6}"/>
              </a:ext>
            </a:extLst>
          </p:cNvPr>
          <p:cNvSpPr txBox="1"/>
          <p:nvPr/>
        </p:nvSpPr>
        <p:spPr>
          <a:xfrm>
            <a:off x="7505984" y="5161160"/>
            <a:ext cx="1606081" cy="710964"/>
          </a:xfrm>
          <a:prstGeom prst="rect">
            <a:avLst/>
          </a:prstGeom>
          <a:noFill/>
        </p:spPr>
        <p:txBody>
          <a:bodyPr wrap="none" lIns="182880" tIns="146304" rIns="182880" bIns="146304" rtlCol="0">
            <a:spAutoFit/>
          </a:bodyPr>
          <a:lstStyle/>
          <a:p>
            <a:pPr>
              <a:lnSpc>
                <a:spcPct val="90000"/>
              </a:lnSpc>
              <a:spcAft>
                <a:spcPts val="600"/>
              </a:spcAft>
            </a:pPr>
            <a:r>
              <a:rPr lang="pt-BR" sz="1500" dirty="0">
                <a:gradFill>
                  <a:gsLst>
                    <a:gs pos="2917">
                      <a:schemeClr val="tx1"/>
                    </a:gs>
                    <a:gs pos="30000">
                      <a:schemeClr val="tx1"/>
                    </a:gs>
                  </a:gsLst>
                  <a:lin ang="5400000" scaled="0"/>
                </a:gradFill>
              </a:rPr>
              <a:t>Tabela de </a:t>
            </a:r>
            <a:br>
              <a:rPr lang="pt-BR" sz="1500" dirty="0">
                <a:gradFill>
                  <a:gsLst>
                    <a:gs pos="2917">
                      <a:schemeClr val="tx1"/>
                    </a:gs>
                    <a:gs pos="30000">
                      <a:schemeClr val="tx1"/>
                    </a:gs>
                  </a:gsLst>
                  <a:lin ang="5400000" scaled="0"/>
                </a:gradFill>
              </a:rPr>
            </a:br>
            <a:r>
              <a:rPr lang="pt-BR" sz="1500" dirty="0">
                <a:gradFill>
                  <a:gsLst>
                    <a:gs pos="2917">
                      <a:schemeClr val="tx1"/>
                    </a:gs>
                    <a:gs pos="30000">
                      <a:schemeClr val="tx1"/>
                    </a:gs>
                  </a:gsLst>
                  <a:lin ang="5400000" scaled="0"/>
                </a:gradFill>
              </a:rPr>
              <a:t>chaves-valores</a:t>
            </a:r>
          </a:p>
        </p:txBody>
      </p:sp>
      <p:sp>
        <p:nvSpPr>
          <p:cNvPr id="10" name="TextBox 9">
            <a:extLst>
              <a:ext uri="{FF2B5EF4-FFF2-40B4-BE49-F238E27FC236}">
                <a16:creationId xmlns:a16="http://schemas.microsoft.com/office/drawing/2014/main" id="{D738BF82-1BA2-43DB-954F-4E658180628A}"/>
              </a:ext>
            </a:extLst>
          </p:cNvPr>
          <p:cNvSpPr txBox="1"/>
          <p:nvPr/>
        </p:nvSpPr>
        <p:spPr>
          <a:xfrm>
            <a:off x="9908083" y="5184458"/>
            <a:ext cx="1977144" cy="710964"/>
          </a:xfrm>
          <a:prstGeom prst="rect">
            <a:avLst/>
          </a:prstGeom>
          <a:noFill/>
        </p:spPr>
        <p:txBody>
          <a:bodyPr wrap="none" lIns="182880" tIns="146304" rIns="182880" bIns="146304" rtlCol="0">
            <a:spAutoFit/>
          </a:bodyPr>
          <a:lstStyle/>
          <a:p>
            <a:pPr>
              <a:lnSpc>
                <a:spcPct val="90000"/>
              </a:lnSpc>
              <a:spcAft>
                <a:spcPts val="600"/>
              </a:spcAft>
            </a:pPr>
            <a:r>
              <a:rPr lang="pt-BR" sz="1500" dirty="0">
                <a:gradFill>
                  <a:gsLst>
                    <a:gs pos="2917">
                      <a:schemeClr val="tx1"/>
                    </a:gs>
                    <a:gs pos="30000">
                      <a:schemeClr val="tx1"/>
                    </a:gs>
                  </a:gsLst>
                  <a:lin ang="5400000" scaled="0"/>
                </a:gradFill>
              </a:rPr>
              <a:t>Repositórios de </a:t>
            </a:r>
            <a:br>
              <a:rPr lang="pt-BR" sz="1500" dirty="0">
                <a:gradFill>
                  <a:gsLst>
                    <a:gs pos="2917">
                      <a:schemeClr val="tx1"/>
                    </a:gs>
                    <a:gs pos="30000">
                      <a:schemeClr val="tx1"/>
                    </a:gs>
                  </a:gsLst>
                  <a:lin ang="5400000" scaled="0"/>
                </a:gradFill>
              </a:rPr>
            </a:br>
            <a:r>
              <a:rPr lang="pt-BR" sz="1500" dirty="0">
                <a:gradFill>
                  <a:gsLst>
                    <a:gs pos="2917">
                      <a:schemeClr val="tx1"/>
                    </a:gs>
                    <a:gs pos="30000">
                      <a:schemeClr val="tx1"/>
                    </a:gs>
                  </a:gsLst>
                  <a:lin ang="5400000" scaled="0"/>
                </a:gradFill>
              </a:rPr>
              <a:t>famílias de colunas</a:t>
            </a:r>
          </a:p>
        </p:txBody>
      </p:sp>
      <p:sp>
        <p:nvSpPr>
          <p:cNvPr id="11" name="TextBox 10">
            <a:extLst>
              <a:ext uri="{FF2B5EF4-FFF2-40B4-BE49-F238E27FC236}">
                <a16:creationId xmlns:a16="http://schemas.microsoft.com/office/drawing/2014/main" id="{58FD4466-7546-4E20-B9E5-BAA795F61ECB}"/>
              </a:ext>
            </a:extLst>
          </p:cNvPr>
          <p:cNvSpPr txBox="1"/>
          <p:nvPr/>
        </p:nvSpPr>
        <p:spPr>
          <a:xfrm>
            <a:off x="10406434" y="2643182"/>
            <a:ext cx="1055417" cy="503215"/>
          </a:xfrm>
          <a:prstGeom prst="rect">
            <a:avLst/>
          </a:prstGeom>
          <a:noFill/>
        </p:spPr>
        <p:txBody>
          <a:bodyPr wrap="none" lIns="182880" tIns="146304" rIns="182880" bIns="146304" rtlCol="0">
            <a:spAutoFit/>
          </a:bodyPr>
          <a:lstStyle/>
          <a:p>
            <a:pPr>
              <a:lnSpc>
                <a:spcPct val="90000"/>
              </a:lnSpc>
              <a:spcAft>
                <a:spcPts val="600"/>
              </a:spcAft>
            </a:pPr>
            <a:r>
              <a:rPr lang="pt-BR" sz="1500" dirty="0">
                <a:gradFill>
                  <a:gsLst>
                    <a:gs pos="2917">
                      <a:schemeClr val="tx1"/>
                    </a:gs>
                    <a:gs pos="30000">
                      <a:schemeClr val="tx1"/>
                    </a:gs>
                  </a:gsLst>
                  <a:lin ang="5400000" scaled="0"/>
                </a:gradFill>
              </a:rPr>
              <a:t>Gráficos</a:t>
            </a:r>
          </a:p>
        </p:txBody>
      </p:sp>
      <p:graphicFrame>
        <p:nvGraphicFramePr>
          <p:cNvPr id="12" name="Table 12">
            <a:extLst>
              <a:ext uri="{FF2B5EF4-FFF2-40B4-BE49-F238E27FC236}">
                <a16:creationId xmlns:a16="http://schemas.microsoft.com/office/drawing/2014/main" id="{9A798B66-891E-43F0-93A5-208F782E9B60}"/>
              </a:ext>
            </a:extLst>
          </p:cNvPr>
          <p:cNvGraphicFramePr>
            <a:graphicFrameLocks noGrp="1"/>
          </p:cNvGraphicFramePr>
          <p:nvPr>
            <p:extLst>
              <p:ext uri="{D42A27DB-BD31-4B8C-83A1-F6EECF244321}">
                <p14:modId xmlns:p14="http://schemas.microsoft.com/office/powerpoint/2010/main" val="1665160554"/>
              </p:ext>
            </p:extLst>
          </p:nvPr>
        </p:nvGraphicFramePr>
        <p:xfrm>
          <a:off x="7718939" y="5869198"/>
          <a:ext cx="867411" cy="548640"/>
        </p:xfrm>
        <a:graphic>
          <a:graphicData uri="http://schemas.openxmlformats.org/drawingml/2006/table">
            <a:tbl>
              <a:tblPr firstRow="1" bandRow="1">
                <a:tableStyleId>{5C22544A-7EE6-4342-B048-85BDC9FD1C3A}</a:tableStyleId>
              </a:tblPr>
              <a:tblGrid>
                <a:gridCol w="387668">
                  <a:extLst>
                    <a:ext uri="{9D8B030D-6E8A-4147-A177-3AD203B41FA5}">
                      <a16:colId xmlns:a16="http://schemas.microsoft.com/office/drawing/2014/main" val="2754731770"/>
                    </a:ext>
                  </a:extLst>
                </a:gridCol>
                <a:gridCol w="479743">
                  <a:extLst>
                    <a:ext uri="{9D8B030D-6E8A-4147-A177-3AD203B41FA5}">
                      <a16:colId xmlns:a16="http://schemas.microsoft.com/office/drawing/2014/main" val="2823872596"/>
                    </a:ext>
                  </a:extLst>
                </a:gridCol>
              </a:tblGrid>
              <a:tr h="149567">
                <a:tc>
                  <a:txBody>
                    <a:bodyPr/>
                    <a:lstStyle/>
                    <a:p>
                      <a:r>
                        <a:rPr lang="pt-BR" sz="800"/>
                        <a:t>Key</a:t>
                      </a:r>
                    </a:p>
                  </a:txBody>
                  <a:tcPr/>
                </a:tc>
                <a:tc>
                  <a:txBody>
                    <a:bodyPr/>
                    <a:lstStyle/>
                    <a:p>
                      <a:r>
                        <a:rPr lang="pt-BR" sz="800"/>
                        <a:t>Value</a:t>
                      </a:r>
                    </a:p>
                  </a:txBody>
                  <a:tcPr/>
                </a:tc>
                <a:extLst>
                  <a:ext uri="{0D108BD9-81ED-4DB2-BD59-A6C34878D82A}">
                    <a16:rowId xmlns:a16="http://schemas.microsoft.com/office/drawing/2014/main" val="3463622756"/>
                  </a:ext>
                </a:extLst>
              </a:tr>
              <a:tr h="149567">
                <a:tc>
                  <a:txBody>
                    <a:bodyPr/>
                    <a:lstStyle/>
                    <a:p>
                      <a:endParaRPr lang="en-US" sz="500" dirty="0"/>
                    </a:p>
                  </a:txBody>
                  <a:tcPr/>
                </a:tc>
                <a:tc>
                  <a:txBody>
                    <a:bodyPr/>
                    <a:lstStyle/>
                    <a:p>
                      <a:endParaRPr lang="en-US" sz="500" dirty="0"/>
                    </a:p>
                  </a:txBody>
                  <a:tcPr/>
                </a:tc>
                <a:extLst>
                  <a:ext uri="{0D108BD9-81ED-4DB2-BD59-A6C34878D82A}">
                    <a16:rowId xmlns:a16="http://schemas.microsoft.com/office/drawing/2014/main" val="2807142733"/>
                  </a:ext>
                </a:extLst>
              </a:tr>
              <a:tr h="149567">
                <a:tc>
                  <a:txBody>
                    <a:bodyPr/>
                    <a:lstStyle/>
                    <a:p>
                      <a:endParaRPr lang="en-US" sz="500" dirty="0"/>
                    </a:p>
                  </a:txBody>
                  <a:tcPr/>
                </a:tc>
                <a:tc>
                  <a:txBody>
                    <a:bodyPr/>
                    <a:lstStyle/>
                    <a:p>
                      <a:endParaRPr lang="en-US" sz="500" dirty="0"/>
                    </a:p>
                  </a:txBody>
                  <a:tcPr/>
                </a:tc>
                <a:extLst>
                  <a:ext uri="{0D108BD9-81ED-4DB2-BD59-A6C34878D82A}">
                    <a16:rowId xmlns:a16="http://schemas.microsoft.com/office/drawing/2014/main" val="4190124406"/>
                  </a:ext>
                </a:extLst>
              </a:tr>
            </a:tbl>
          </a:graphicData>
        </a:graphic>
      </p:graphicFrame>
      <p:grpSp>
        <p:nvGrpSpPr>
          <p:cNvPr id="17" name="Group 16">
            <a:extLst>
              <a:ext uri="{FF2B5EF4-FFF2-40B4-BE49-F238E27FC236}">
                <a16:creationId xmlns:a16="http://schemas.microsoft.com/office/drawing/2014/main" id="{AE446AF9-6A45-420F-9D39-C53D9C4190ED}"/>
              </a:ext>
              <a:ext uri="{C183D7F6-B498-43B3-948B-1728B52AA6E4}">
                <adec:decorative xmlns:adec="http://schemas.microsoft.com/office/drawing/2017/decorative" val="1"/>
              </a:ext>
            </a:extLst>
          </p:cNvPr>
          <p:cNvGrpSpPr/>
          <p:nvPr/>
        </p:nvGrpSpPr>
        <p:grpSpPr>
          <a:xfrm>
            <a:off x="10552502" y="2079682"/>
            <a:ext cx="829770" cy="673383"/>
            <a:chOff x="5638800" y="2683379"/>
            <a:chExt cx="1482166" cy="1202821"/>
          </a:xfrm>
          <a:solidFill>
            <a:schemeClr val="accent3"/>
          </a:solidFill>
        </p:grpSpPr>
        <p:pic>
          <p:nvPicPr>
            <p:cNvPr id="15" name="Graphic 14" descr="Rede com preenchimento sólido">
              <a:extLst>
                <a:ext uri="{FF2B5EF4-FFF2-40B4-BE49-F238E27FC236}">
                  <a16:creationId xmlns:a16="http://schemas.microsoft.com/office/drawing/2014/main" id="{462A5931-327F-482A-9B53-1A94576931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38800" y="2971800"/>
              <a:ext cx="914400" cy="914400"/>
            </a:xfrm>
            <a:prstGeom prst="rect">
              <a:avLst/>
            </a:prstGeom>
          </p:spPr>
        </p:pic>
        <p:pic>
          <p:nvPicPr>
            <p:cNvPr id="16" name="Graphic 15" descr="Rede com preenchimento sólido">
              <a:extLst>
                <a:ext uri="{FF2B5EF4-FFF2-40B4-BE49-F238E27FC236}">
                  <a16:creationId xmlns:a16="http://schemas.microsoft.com/office/drawing/2014/main" id="{139FD282-D690-4192-A234-F926A486EAC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790221">
              <a:off x="6206566" y="2683379"/>
              <a:ext cx="914400" cy="914399"/>
            </a:xfrm>
            <a:prstGeom prst="rect">
              <a:avLst/>
            </a:prstGeom>
          </p:spPr>
        </p:pic>
      </p:grpSp>
      <p:sp>
        <p:nvSpPr>
          <p:cNvPr id="18" name="TextBox 17">
            <a:extLst>
              <a:ext uri="{FF2B5EF4-FFF2-40B4-BE49-F238E27FC236}">
                <a16:creationId xmlns:a16="http://schemas.microsoft.com/office/drawing/2014/main" id="{B5786627-8FD9-4809-BDF8-CFD68378C0B8}"/>
              </a:ext>
            </a:extLst>
          </p:cNvPr>
          <p:cNvSpPr txBox="1"/>
          <p:nvPr/>
        </p:nvSpPr>
        <p:spPr>
          <a:xfrm>
            <a:off x="7702741" y="1852835"/>
            <a:ext cx="1214115" cy="1043363"/>
          </a:xfrm>
          <a:prstGeom prst="rect">
            <a:avLst/>
          </a:prstGeom>
          <a:noFill/>
        </p:spPr>
        <p:txBody>
          <a:bodyPr wrap="none" lIns="182880" tIns="146304" rIns="182880" bIns="146304" rtlCol="0">
            <a:spAutoFit/>
          </a:bodyPr>
          <a:lstStyle/>
          <a:p>
            <a:pPr>
              <a:lnSpc>
                <a:spcPct val="90000"/>
              </a:lnSpc>
            </a:pPr>
            <a:r>
              <a:rPr lang="pt-BR" sz="1800" b="1">
                <a:solidFill>
                  <a:schemeClr val="accent3"/>
                </a:solidFill>
              </a:rPr>
              <a:t>{</a:t>
            </a:r>
          </a:p>
          <a:p>
            <a:pPr>
              <a:lnSpc>
                <a:spcPct val="90000"/>
              </a:lnSpc>
            </a:pPr>
            <a:r>
              <a:rPr lang="pt-BR" sz="1800" b="1">
                <a:solidFill>
                  <a:schemeClr val="accent3"/>
                </a:solidFill>
                <a:latin typeface="Segoe UI" panose="020B0502040204020203" pitchFamily="34" charset="0"/>
                <a:cs typeface="Segoe UI" panose="020B0502040204020203" pitchFamily="34" charset="0"/>
              </a:rPr>
              <a:t>  "x":[</a:t>
            </a:r>
            <a:r>
              <a:rPr lang="pt-BR" sz="1100" b="1">
                <a:solidFill>
                  <a:schemeClr val="accent3"/>
                </a:solidFill>
                <a:latin typeface="Segoe UI" panose="020B0502040204020203" pitchFamily="34" charset="0"/>
                <a:cs typeface="Segoe UI" panose="020B0502040204020203" pitchFamily="34" charset="0"/>
              </a:rPr>
              <a:t>…</a:t>
            </a:r>
            <a:r>
              <a:rPr lang="pt-BR" sz="1800" b="1">
                <a:solidFill>
                  <a:schemeClr val="accent3"/>
                </a:solidFill>
                <a:latin typeface="Segoe UI" panose="020B0502040204020203" pitchFamily="34" charset="0"/>
                <a:cs typeface="Segoe UI" panose="020B0502040204020203" pitchFamily="34" charset="0"/>
              </a:rPr>
              <a:t>]</a:t>
            </a:r>
          </a:p>
          <a:p>
            <a:pPr>
              <a:lnSpc>
                <a:spcPct val="90000"/>
              </a:lnSpc>
            </a:pPr>
            <a:r>
              <a:rPr lang="pt-BR" sz="1800" b="1">
                <a:solidFill>
                  <a:schemeClr val="accent3"/>
                </a:solidFill>
              </a:rPr>
              <a:t>}</a:t>
            </a:r>
          </a:p>
        </p:txBody>
      </p:sp>
      <p:cxnSp>
        <p:nvCxnSpPr>
          <p:cNvPr id="33" name="Straight Arrow Connector 32">
            <a:extLst>
              <a:ext uri="{FF2B5EF4-FFF2-40B4-BE49-F238E27FC236}">
                <a16:creationId xmlns:a16="http://schemas.microsoft.com/office/drawing/2014/main" id="{5C166F79-79F7-4DC2-979B-6E169B389A87}"/>
              </a:ext>
              <a:ext uri="{C183D7F6-B498-43B3-948B-1728B52AA6E4}">
                <adec:decorative xmlns:adec="http://schemas.microsoft.com/office/drawing/2017/decorative" val="1"/>
              </a:ext>
            </a:extLst>
          </p:cNvPr>
          <p:cNvCxnSpPr>
            <a:cxnSpLocks/>
          </p:cNvCxnSpPr>
          <p:nvPr/>
        </p:nvCxnSpPr>
        <p:spPr>
          <a:xfrm flipH="1">
            <a:off x="10406434" y="3102143"/>
            <a:ext cx="402025" cy="420954"/>
          </a:xfrm>
          <a:prstGeom prst="straightConnector1">
            <a:avLst/>
          </a:prstGeom>
          <a:ln w="76200">
            <a:solidFill>
              <a:schemeClr val="accent3"/>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0A777D8B-CF5B-400F-A23F-762B7D54F1A8}"/>
              </a:ext>
              <a:ext uri="{C183D7F6-B498-43B3-948B-1728B52AA6E4}">
                <adec:decorative xmlns:adec="http://schemas.microsoft.com/office/drawing/2017/decorative" val="1"/>
              </a:ext>
            </a:extLst>
          </p:cNvPr>
          <p:cNvCxnSpPr>
            <a:cxnSpLocks/>
            <a:stCxn id="8" idx="2"/>
          </p:cNvCxnSpPr>
          <p:nvPr/>
        </p:nvCxnSpPr>
        <p:spPr>
          <a:xfrm>
            <a:off x="8248593" y="3155458"/>
            <a:ext cx="505185" cy="403131"/>
          </a:xfrm>
          <a:prstGeom prst="straightConnector1">
            <a:avLst/>
          </a:prstGeom>
          <a:ln w="76200">
            <a:solidFill>
              <a:schemeClr val="accent3"/>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AE8B97D4-9B22-4C50-9F9E-766D9826FA70}"/>
              </a:ext>
              <a:ext uri="{C183D7F6-B498-43B3-948B-1728B52AA6E4}">
                <adec:decorative xmlns:adec="http://schemas.microsoft.com/office/drawing/2017/decorative" val="1"/>
              </a:ext>
            </a:extLst>
          </p:cNvPr>
          <p:cNvCxnSpPr>
            <a:cxnSpLocks/>
            <a:stCxn id="9" idx="0"/>
          </p:cNvCxnSpPr>
          <p:nvPr/>
        </p:nvCxnSpPr>
        <p:spPr>
          <a:xfrm flipV="1">
            <a:off x="8309025" y="4845738"/>
            <a:ext cx="664276" cy="315422"/>
          </a:xfrm>
          <a:prstGeom prst="straightConnector1">
            <a:avLst/>
          </a:prstGeom>
          <a:ln w="76200">
            <a:solidFill>
              <a:schemeClr val="accent3"/>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E674641-539A-450D-A1E9-457B3ED4BEE7}"/>
              </a:ext>
              <a:ext uri="{C183D7F6-B498-43B3-948B-1728B52AA6E4}">
                <adec:decorative xmlns:adec="http://schemas.microsoft.com/office/drawing/2017/decorative" val="1"/>
              </a:ext>
            </a:extLst>
          </p:cNvPr>
          <p:cNvCxnSpPr>
            <a:cxnSpLocks/>
          </p:cNvCxnSpPr>
          <p:nvPr/>
        </p:nvCxnSpPr>
        <p:spPr>
          <a:xfrm flipH="1" flipV="1">
            <a:off x="10324410" y="4849308"/>
            <a:ext cx="438719" cy="335150"/>
          </a:xfrm>
          <a:prstGeom prst="straightConnector1">
            <a:avLst/>
          </a:prstGeom>
          <a:ln w="76200">
            <a:solidFill>
              <a:schemeClr val="accent3"/>
            </a:solidFill>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50" name="Table 12">
            <a:extLst>
              <a:ext uri="{FF2B5EF4-FFF2-40B4-BE49-F238E27FC236}">
                <a16:creationId xmlns:a16="http://schemas.microsoft.com/office/drawing/2014/main" id="{C634A0D4-1A5E-43F8-91B2-7BCBBB6821CA}"/>
              </a:ext>
            </a:extLst>
          </p:cNvPr>
          <p:cNvGraphicFramePr>
            <a:graphicFrameLocks noGrp="1"/>
          </p:cNvGraphicFramePr>
          <p:nvPr>
            <p:extLst>
              <p:ext uri="{D42A27DB-BD31-4B8C-83A1-F6EECF244321}">
                <p14:modId xmlns:p14="http://schemas.microsoft.com/office/powerpoint/2010/main" val="599401057"/>
              </p:ext>
            </p:extLst>
          </p:nvPr>
        </p:nvGraphicFramePr>
        <p:xfrm>
          <a:off x="10117982" y="5857674"/>
          <a:ext cx="1439755" cy="548640"/>
        </p:xfrm>
        <a:graphic>
          <a:graphicData uri="http://schemas.openxmlformats.org/drawingml/2006/table">
            <a:tbl>
              <a:tblPr firstRow="1" bandRow="1">
                <a:tableStyleId>{5C22544A-7EE6-4342-B048-85BDC9FD1C3A}</a:tableStyleId>
              </a:tblPr>
              <a:tblGrid>
                <a:gridCol w="414315">
                  <a:extLst>
                    <a:ext uri="{9D8B030D-6E8A-4147-A177-3AD203B41FA5}">
                      <a16:colId xmlns:a16="http://schemas.microsoft.com/office/drawing/2014/main" val="2754731770"/>
                    </a:ext>
                  </a:extLst>
                </a:gridCol>
                <a:gridCol w="512720">
                  <a:extLst>
                    <a:ext uri="{9D8B030D-6E8A-4147-A177-3AD203B41FA5}">
                      <a16:colId xmlns:a16="http://schemas.microsoft.com/office/drawing/2014/main" val="2823872596"/>
                    </a:ext>
                  </a:extLst>
                </a:gridCol>
                <a:gridCol w="512720">
                  <a:extLst>
                    <a:ext uri="{9D8B030D-6E8A-4147-A177-3AD203B41FA5}">
                      <a16:colId xmlns:a16="http://schemas.microsoft.com/office/drawing/2014/main" val="1939969230"/>
                    </a:ext>
                  </a:extLst>
                </a:gridCol>
              </a:tblGrid>
              <a:tr h="149567">
                <a:tc>
                  <a:txBody>
                    <a:bodyPr/>
                    <a:lstStyle/>
                    <a:p>
                      <a:r>
                        <a:rPr lang="pt-BR" sz="800"/>
                        <a:t>Col1</a:t>
                      </a:r>
                    </a:p>
                  </a:txBody>
                  <a:tcPr/>
                </a:tc>
                <a:tc>
                  <a:txBody>
                    <a:bodyPr/>
                    <a:lstStyle/>
                    <a:p>
                      <a:r>
                        <a:rPr lang="pt-BR" sz="800"/>
                        <a:t>Col2</a:t>
                      </a:r>
                    </a:p>
                  </a:txBody>
                  <a:tcPr/>
                </a:tc>
                <a:tc>
                  <a:txBody>
                    <a:bodyPr/>
                    <a:lstStyle/>
                    <a:p>
                      <a:r>
                        <a:rPr lang="pt-BR" sz="800"/>
                        <a:t>Col3</a:t>
                      </a:r>
                    </a:p>
                  </a:txBody>
                  <a:tcPr/>
                </a:tc>
                <a:extLst>
                  <a:ext uri="{0D108BD9-81ED-4DB2-BD59-A6C34878D82A}">
                    <a16:rowId xmlns:a16="http://schemas.microsoft.com/office/drawing/2014/main" val="3463622756"/>
                  </a:ext>
                </a:extLst>
              </a:tr>
              <a:tr h="149567">
                <a:tc>
                  <a:txBody>
                    <a:bodyPr/>
                    <a:lstStyle/>
                    <a:p>
                      <a:endParaRPr lang="en-US" sz="500" dirty="0"/>
                    </a:p>
                  </a:txBody>
                  <a:tcPr/>
                </a:tc>
                <a:tc>
                  <a:txBody>
                    <a:bodyPr/>
                    <a:lstStyle/>
                    <a:p>
                      <a:endParaRPr lang="en-US" sz="500" dirty="0"/>
                    </a:p>
                  </a:txBody>
                  <a:tcPr/>
                </a:tc>
                <a:tc>
                  <a:txBody>
                    <a:bodyPr/>
                    <a:lstStyle/>
                    <a:p>
                      <a:endParaRPr lang="en-US" sz="500" dirty="0"/>
                    </a:p>
                  </a:txBody>
                  <a:tcPr>
                    <a:noFill/>
                  </a:tcPr>
                </a:tc>
                <a:extLst>
                  <a:ext uri="{0D108BD9-81ED-4DB2-BD59-A6C34878D82A}">
                    <a16:rowId xmlns:a16="http://schemas.microsoft.com/office/drawing/2014/main" val="2807142733"/>
                  </a:ext>
                </a:extLst>
              </a:tr>
              <a:tr h="149567">
                <a:tc>
                  <a:txBody>
                    <a:bodyPr/>
                    <a:lstStyle/>
                    <a:p>
                      <a:endParaRPr lang="en-US" sz="500" dirty="0"/>
                    </a:p>
                  </a:txBody>
                  <a:tcPr/>
                </a:tc>
                <a:tc>
                  <a:txBody>
                    <a:bodyPr/>
                    <a:lstStyle/>
                    <a:p>
                      <a:endParaRPr lang="en-US" sz="500" dirty="0"/>
                    </a:p>
                  </a:txBody>
                  <a:tcPr>
                    <a:noFill/>
                  </a:tcPr>
                </a:tc>
                <a:tc>
                  <a:txBody>
                    <a:bodyPr/>
                    <a:lstStyle/>
                    <a:p>
                      <a:endParaRPr lang="en-US" sz="500" dirty="0"/>
                    </a:p>
                  </a:txBody>
                  <a:tcPr/>
                </a:tc>
                <a:extLst>
                  <a:ext uri="{0D108BD9-81ED-4DB2-BD59-A6C34878D82A}">
                    <a16:rowId xmlns:a16="http://schemas.microsoft.com/office/drawing/2014/main" val="4190124406"/>
                  </a:ext>
                </a:extLst>
              </a:tr>
            </a:tbl>
          </a:graphicData>
        </a:graphic>
      </p:graphicFrame>
    </p:spTree>
    <p:extLst>
      <p:ext uri="{BB962C8B-B14F-4D97-AF65-F5344CB8AC3E}">
        <p14:creationId xmlns:p14="http://schemas.microsoft.com/office/powerpoint/2010/main" val="195456318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0B81A-DA4C-41DF-8742-D00C08ED149F}"/>
              </a:ext>
            </a:extLst>
          </p:cNvPr>
          <p:cNvSpPr>
            <a:spLocks noGrp="1"/>
          </p:cNvSpPr>
          <p:nvPr>
            <p:ph type="title"/>
          </p:nvPr>
        </p:nvSpPr>
        <p:spPr/>
        <p:txBody>
          <a:bodyPr/>
          <a:lstStyle/>
          <a:p>
            <a:pPr>
              <a:lnSpc>
                <a:spcPct val="100000"/>
              </a:lnSpc>
            </a:pPr>
            <a:r>
              <a:rPr lang="pt-BR" dirty="0"/>
              <a:t>APIs do Azure Cosmos DB</a:t>
            </a:r>
          </a:p>
        </p:txBody>
      </p:sp>
      <p:sp>
        <p:nvSpPr>
          <p:cNvPr id="4" name="Rectangle 3">
            <a:extLst>
              <a:ext uri="{FF2B5EF4-FFF2-40B4-BE49-F238E27FC236}">
                <a16:creationId xmlns:a16="http://schemas.microsoft.com/office/drawing/2014/main" id="{F3929E0B-DC4D-4EA7-9F72-5C9C64F2C915}"/>
              </a:ext>
              <a:ext uri="{C183D7F6-B498-43B3-948B-1728B52AA6E4}">
                <adec:decorative xmlns:adec="http://schemas.microsoft.com/office/drawing/2017/decorative" val="1"/>
              </a:ext>
            </a:extLst>
          </p:cNvPr>
          <p:cNvSpPr/>
          <p:nvPr/>
        </p:nvSpPr>
        <p:spPr bwMode="auto">
          <a:xfrm>
            <a:off x="320375" y="1048358"/>
            <a:ext cx="3348873" cy="2655837"/>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E4D364B3-D016-4A0E-A3EB-8914AD54A941}"/>
              </a:ext>
              <a:ext uri="{C183D7F6-B498-43B3-948B-1728B52AA6E4}">
                <adec:decorative xmlns:adec="http://schemas.microsoft.com/office/drawing/2017/decorative" val="1"/>
              </a:ext>
            </a:extLst>
          </p:cNvPr>
          <p:cNvSpPr/>
          <p:nvPr/>
        </p:nvSpPr>
        <p:spPr bwMode="auto">
          <a:xfrm>
            <a:off x="2493774" y="3899771"/>
            <a:ext cx="3348873" cy="2655837"/>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6C76B141-1332-49A7-9C6D-F859E0C27C87}"/>
              </a:ext>
              <a:ext uri="{C183D7F6-B498-43B3-948B-1728B52AA6E4}">
                <adec:decorative xmlns:adec="http://schemas.microsoft.com/office/drawing/2017/decorative" val="1"/>
              </a:ext>
            </a:extLst>
          </p:cNvPr>
          <p:cNvSpPr/>
          <p:nvPr/>
        </p:nvSpPr>
        <p:spPr bwMode="auto">
          <a:xfrm>
            <a:off x="4480799" y="1048356"/>
            <a:ext cx="3348873" cy="2655837"/>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B586E99E-1977-4119-BDE7-5A3B7387EA68}"/>
              </a:ext>
              <a:ext uri="{C183D7F6-B498-43B3-948B-1728B52AA6E4}">
                <adec:decorative xmlns:adec="http://schemas.microsoft.com/office/drawing/2017/decorative" val="1"/>
              </a:ext>
            </a:extLst>
          </p:cNvPr>
          <p:cNvSpPr/>
          <p:nvPr/>
        </p:nvSpPr>
        <p:spPr bwMode="auto">
          <a:xfrm>
            <a:off x="8522754" y="1048357"/>
            <a:ext cx="3348873" cy="2655837"/>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a:extLst>
              <a:ext uri="{FF2B5EF4-FFF2-40B4-BE49-F238E27FC236}">
                <a16:creationId xmlns:a16="http://schemas.microsoft.com/office/drawing/2014/main" id="{80E85D22-ABB6-4341-AE4B-44498AF33543}"/>
              </a:ext>
              <a:ext uri="{C183D7F6-B498-43B3-948B-1728B52AA6E4}">
                <adec:decorative xmlns:adec="http://schemas.microsoft.com/office/drawing/2017/decorative" val="1"/>
              </a:ext>
            </a:extLst>
          </p:cNvPr>
          <p:cNvSpPr/>
          <p:nvPr/>
        </p:nvSpPr>
        <p:spPr bwMode="auto">
          <a:xfrm>
            <a:off x="6723116" y="3899771"/>
            <a:ext cx="3348873" cy="2655837"/>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A9F48D16-E223-4989-B582-458DCB49823A}"/>
              </a:ext>
            </a:extLst>
          </p:cNvPr>
          <p:cNvSpPr txBox="1"/>
          <p:nvPr/>
        </p:nvSpPr>
        <p:spPr>
          <a:xfrm>
            <a:off x="320371" y="1473023"/>
            <a:ext cx="3348873" cy="1111073"/>
          </a:xfrm>
          <a:prstGeom prst="rect">
            <a:avLst/>
          </a:prstGeom>
          <a:noFill/>
        </p:spPr>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marL="342900" marR="0" lvl="0" indent="-342900" algn="l" defTabSz="914367" rtl="0" eaLnBrk="1" fontAlgn="auto" latinLnBrk="0" hangingPunct="1">
              <a:spcBef>
                <a:spcPts val="0"/>
              </a:spcBef>
              <a:spcAft>
                <a:spcPts val="600"/>
              </a:spcAft>
              <a:buClrTx/>
              <a:buSzTx/>
              <a:buFont typeface="Arial"/>
              <a:buChar char="•"/>
              <a:tabLst/>
              <a:defRPr/>
            </a:pPr>
            <a:r>
              <a:rPr lang="pt-BR" sz="1600" dirty="0">
                <a:gradFill>
                  <a:gsLst>
                    <a:gs pos="2917">
                      <a:srgbClr val="000000"/>
                    </a:gs>
                    <a:gs pos="30000">
                      <a:srgbClr val="000000"/>
                    </a:gs>
                  </a:gsLst>
                  <a:lin ang="5400000" scaled="0"/>
                </a:gradFill>
                <a:latin typeface="Segoe UI"/>
                <a:cs typeface="Segoe UI"/>
              </a:rPr>
              <a:t>API nativa para Cosmos DB</a:t>
            </a:r>
          </a:p>
          <a:p>
            <a:pPr marL="342900" marR="0" lvl="0" indent="-342900" algn="l" defTabSz="914367" rtl="0" eaLnBrk="1" fontAlgn="auto" latinLnBrk="0" hangingPunct="1">
              <a:spcBef>
                <a:spcPts val="0"/>
              </a:spcBef>
              <a:spcAft>
                <a:spcPts val="600"/>
              </a:spcAft>
              <a:buClrTx/>
              <a:buSzTx/>
              <a:buFont typeface="Arial"/>
              <a:buChar char="•"/>
              <a:tabLst/>
              <a:defRPr/>
            </a:pPr>
            <a:r>
              <a:rPr kumimoji="0" lang="pt-BR" sz="1600" b="0" i="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Segoe UI"/>
              </a:rPr>
              <a:t>Consultas SQL baseadas em </a:t>
            </a:r>
            <a:r>
              <a:rPr kumimoji="0" lang="pt-BR" sz="1600" b="0" i="0" u="none" strike="noStrike" cap="none" normalizeH="0" baseline="0" noProof="0">
                <a:ln>
                  <a:noFill/>
                </a:ln>
                <a:gradFill>
                  <a:gsLst>
                    <a:gs pos="2917">
                      <a:srgbClr val="000000"/>
                    </a:gs>
                    <a:gs pos="30000">
                      <a:srgbClr val="000000"/>
                    </a:gs>
                  </a:gsLst>
                  <a:lin ang="5400000" scaled="0"/>
                </a:gradFill>
                <a:uLnTx/>
                <a:uFillTx/>
                <a:latin typeface="Segoe UI"/>
                <a:ea typeface="+mn-ea"/>
                <a:cs typeface="Segoe UI"/>
              </a:rPr>
              <a:t>documentos JSON</a:t>
            </a:r>
            <a:endParaRPr kumimoji="0" lang="pt-BR" sz="1600" b="0" i="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Segoe UI"/>
            </a:endParaRPr>
          </a:p>
        </p:txBody>
      </p:sp>
      <p:sp>
        <p:nvSpPr>
          <p:cNvPr id="11" name="Rectangle 10">
            <a:extLst>
              <a:ext uri="{FF2B5EF4-FFF2-40B4-BE49-F238E27FC236}">
                <a16:creationId xmlns:a16="http://schemas.microsoft.com/office/drawing/2014/main" id="{E58E7CDB-9D67-4500-A2F3-CD1BAB9FA9F5}"/>
              </a:ext>
            </a:extLst>
          </p:cNvPr>
          <p:cNvSpPr/>
          <p:nvPr/>
        </p:nvSpPr>
        <p:spPr bwMode="auto">
          <a:xfrm>
            <a:off x="320373" y="1048357"/>
            <a:ext cx="3348873" cy="43681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pt-BR" sz="1800" b="1" dirty="0">
                <a:gradFill>
                  <a:gsLst>
                    <a:gs pos="0">
                      <a:srgbClr val="FFFFFF"/>
                    </a:gs>
                    <a:gs pos="100000">
                      <a:srgbClr val="FFFFFF"/>
                    </a:gs>
                  </a:gsLst>
                  <a:lin ang="5400000" scaled="0"/>
                </a:gradFill>
                <a:ea typeface="Segoe UI" pitchFamily="34" charset="0"/>
                <a:cs typeface="Segoe UI" pitchFamily="34" charset="0"/>
              </a:rPr>
              <a:t>API do Core (SQL)</a:t>
            </a:r>
          </a:p>
        </p:txBody>
      </p:sp>
      <p:sp>
        <p:nvSpPr>
          <p:cNvPr id="12" name="TextBox 11">
            <a:extLst>
              <a:ext uri="{FF2B5EF4-FFF2-40B4-BE49-F238E27FC236}">
                <a16:creationId xmlns:a16="http://schemas.microsoft.com/office/drawing/2014/main" id="{5C6C9AE7-DA6B-4BAB-BC18-AF9E264CA2E4}"/>
              </a:ext>
            </a:extLst>
          </p:cNvPr>
          <p:cNvSpPr txBox="1"/>
          <p:nvPr/>
        </p:nvSpPr>
        <p:spPr>
          <a:xfrm>
            <a:off x="2106857" y="2436956"/>
            <a:ext cx="1500732" cy="1181862"/>
          </a:xfrm>
          <a:prstGeom prst="rect">
            <a:avLst/>
          </a:prstGeom>
          <a:solidFill>
            <a:schemeClr val="bg1"/>
          </a:solidFill>
          <a:ln>
            <a:solidFill>
              <a:schemeClr val="accent3"/>
            </a:solidFill>
          </a:ln>
        </p:spPr>
        <p:txBody>
          <a:bodyPr wrap="none" lIns="91440" tIns="91440" rIns="91440" bIns="91440" rtlCol="0" anchor="ctr">
            <a:spAutoFit/>
          </a:bodyPr>
          <a:lstStyle/>
          <a:p>
            <a:pPr>
              <a:lnSpc>
                <a:spcPct val="90000"/>
              </a:lnSpc>
            </a:pPr>
            <a:r>
              <a:rPr lang="pt-BR" sz="900">
                <a:gradFill>
                  <a:gsLst>
                    <a:gs pos="2917">
                      <a:schemeClr val="tx1"/>
                    </a:gs>
                    <a:gs pos="30000">
                      <a:schemeClr val="tx1"/>
                    </a:gs>
                  </a:gsLst>
                  <a:lin ang="5400000" scaled="0"/>
                </a:gradFill>
              </a:rPr>
              <a:t>{</a:t>
            </a:r>
          </a:p>
          <a:p>
            <a:pPr>
              <a:lnSpc>
                <a:spcPct val="90000"/>
              </a:lnSpc>
            </a:pPr>
            <a:r>
              <a:rPr lang="pt-BR" sz="900">
                <a:gradFill>
                  <a:gsLst>
                    <a:gs pos="2917">
                      <a:schemeClr val="tx1"/>
                    </a:gs>
                    <a:gs pos="30000">
                      <a:schemeClr val="tx1"/>
                    </a:gs>
                  </a:gsLst>
                  <a:lin ang="5400000" scaled="0"/>
                </a:gradFill>
              </a:rPr>
              <a:t>   "id": "joe@litware.com",</a:t>
            </a:r>
          </a:p>
          <a:p>
            <a:pPr>
              <a:lnSpc>
                <a:spcPct val="90000"/>
              </a:lnSpc>
            </a:pPr>
            <a:r>
              <a:rPr lang="pt-BR" sz="900">
                <a:gradFill>
                  <a:gsLst>
                    <a:gs pos="2917">
                      <a:schemeClr val="tx1"/>
                    </a:gs>
                    <a:gs pos="30000">
                      <a:schemeClr val="tx1"/>
                    </a:gs>
                  </a:gsLst>
                  <a:lin ang="5400000" scaled="0"/>
                </a:gradFill>
              </a:rPr>
              <a:t>   "name": "Joe Jones",</a:t>
            </a:r>
          </a:p>
          <a:p>
            <a:pPr>
              <a:lnSpc>
                <a:spcPct val="90000"/>
              </a:lnSpc>
            </a:pPr>
            <a:r>
              <a:rPr lang="pt-BR" sz="900">
                <a:gradFill>
                  <a:gsLst>
                    <a:gs pos="2917">
                      <a:schemeClr val="tx1"/>
                    </a:gs>
                    <a:gs pos="30000">
                      <a:schemeClr val="tx1"/>
                    </a:gs>
                  </a:gsLst>
                  <a:lin ang="5400000" scaled="0"/>
                </a:gradFill>
              </a:rPr>
              <a:t>   "address": {</a:t>
            </a:r>
          </a:p>
          <a:p>
            <a:pPr>
              <a:lnSpc>
                <a:spcPct val="90000"/>
              </a:lnSpc>
            </a:pPr>
            <a:r>
              <a:rPr lang="pt-BR" sz="900">
                <a:gradFill>
                  <a:gsLst>
                    <a:gs pos="2917">
                      <a:schemeClr val="tx1"/>
                    </a:gs>
                    <a:gs pos="30000">
                      <a:schemeClr val="tx1"/>
                    </a:gs>
                  </a:gsLst>
                  <a:lin ang="5400000" scaled="0"/>
                </a:gradFill>
              </a:rPr>
              <a:t>        "street": "1 Main St.",</a:t>
            </a:r>
          </a:p>
          <a:p>
            <a:pPr>
              <a:lnSpc>
                <a:spcPct val="90000"/>
              </a:lnSpc>
            </a:pPr>
            <a:r>
              <a:rPr lang="pt-BR" sz="900">
                <a:gradFill>
                  <a:gsLst>
                    <a:gs pos="2917">
                      <a:schemeClr val="tx1"/>
                    </a:gs>
                    <a:gs pos="30000">
                      <a:schemeClr val="tx1"/>
                    </a:gs>
                  </a:gsLst>
                  <a:lin ang="5400000" scaled="0"/>
                </a:gradFill>
              </a:rPr>
              <a:t>        "city": "Seattle"</a:t>
            </a:r>
          </a:p>
          <a:p>
            <a:pPr>
              <a:lnSpc>
                <a:spcPct val="90000"/>
              </a:lnSpc>
            </a:pPr>
            <a:r>
              <a:rPr lang="pt-BR" sz="900">
                <a:gradFill>
                  <a:gsLst>
                    <a:gs pos="2917">
                      <a:schemeClr val="tx1"/>
                    </a:gs>
                    <a:gs pos="30000">
                      <a:schemeClr val="tx1"/>
                    </a:gs>
                  </a:gsLst>
                  <a:lin ang="5400000" scaled="0"/>
                </a:gradFill>
              </a:rPr>
              <a:t>    }</a:t>
            </a:r>
          </a:p>
          <a:p>
            <a:pPr>
              <a:lnSpc>
                <a:spcPct val="90000"/>
              </a:lnSpc>
            </a:pPr>
            <a:r>
              <a:rPr lang="pt-BR" sz="900">
                <a:gradFill>
                  <a:gsLst>
                    <a:gs pos="2917">
                      <a:schemeClr val="tx1"/>
                    </a:gs>
                    <a:gs pos="30000">
                      <a:schemeClr val="tx1"/>
                    </a:gs>
                  </a:gsLst>
                  <a:lin ang="5400000" scaled="0"/>
                </a:gradFill>
              </a:rPr>
              <a:t>}</a:t>
            </a:r>
          </a:p>
        </p:txBody>
      </p:sp>
      <p:sp>
        <p:nvSpPr>
          <p:cNvPr id="13" name="TextBox 12">
            <a:extLst>
              <a:ext uri="{FF2B5EF4-FFF2-40B4-BE49-F238E27FC236}">
                <a16:creationId xmlns:a16="http://schemas.microsoft.com/office/drawing/2014/main" id="{76621B87-C51C-482A-9712-70DF59A6A3F6}"/>
              </a:ext>
            </a:extLst>
          </p:cNvPr>
          <p:cNvSpPr txBox="1"/>
          <p:nvPr/>
        </p:nvSpPr>
        <p:spPr>
          <a:xfrm>
            <a:off x="320371" y="2655588"/>
            <a:ext cx="1843774" cy="558614"/>
          </a:xfrm>
          <a:prstGeom prst="rect">
            <a:avLst/>
          </a:prstGeom>
          <a:noFill/>
          <a:ln>
            <a:noFill/>
          </a:ln>
        </p:spPr>
        <p:txBody>
          <a:bodyPr wrap="none" lIns="91440" tIns="91440" rIns="91440" bIns="91440" rtlCol="0" anchor="ctr">
            <a:spAutoFit/>
          </a:bodyPr>
          <a:lstStyle/>
          <a:p>
            <a:pPr>
              <a:lnSpc>
                <a:spcPct val="90000"/>
              </a:lnSpc>
            </a:pPr>
            <a:r>
              <a:rPr lang="pt-BR" sz="900" dirty="0">
                <a:gradFill>
                  <a:gsLst>
                    <a:gs pos="2917">
                      <a:schemeClr val="tx1"/>
                    </a:gs>
                    <a:gs pos="30000">
                      <a:schemeClr val="tx1"/>
                    </a:gs>
                  </a:gsLst>
                  <a:lin ang="5400000" scaled="0"/>
                </a:gradFill>
              </a:rPr>
              <a:t>SELECT *</a:t>
            </a:r>
          </a:p>
          <a:p>
            <a:pPr>
              <a:lnSpc>
                <a:spcPct val="90000"/>
              </a:lnSpc>
            </a:pPr>
            <a:r>
              <a:rPr lang="pt-BR" sz="900" dirty="0">
                <a:gradFill>
                  <a:gsLst>
                    <a:gs pos="2917">
                      <a:schemeClr val="tx1"/>
                    </a:gs>
                    <a:gs pos="30000">
                      <a:schemeClr val="tx1"/>
                    </a:gs>
                  </a:gsLst>
                  <a:lin ang="5400000" scaled="0"/>
                </a:gradFill>
              </a:rPr>
              <a:t>FROM customers c</a:t>
            </a:r>
          </a:p>
          <a:p>
            <a:pPr>
              <a:lnSpc>
                <a:spcPct val="90000"/>
              </a:lnSpc>
            </a:pPr>
            <a:r>
              <a:rPr lang="pt-BR" sz="900" dirty="0">
                <a:gradFill>
                  <a:gsLst>
                    <a:gs pos="2917">
                      <a:schemeClr val="tx1"/>
                    </a:gs>
                    <a:gs pos="30000">
                      <a:schemeClr val="tx1"/>
                    </a:gs>
                  </a:gsLst>
                  <a:lin ang="5400000" scaled="0"/>
                </a:gradFill>
              </a:rPr>
              <a:t>WHERE c.id = "joe@litware.com"</a:t>
            </a:r>
          </a:p>
        </p:txBody>
      </p:sp>
      <p:sp>
        <p:nvSpPr>
          <p:cNvPr id="14" name="Rectangle 13">
            <a:extLst>
              <a:ext uri="{FF2B5EF4-FFF2-40B4-BE49-F238E27FC236}">
                <a16:creationId xmlns:a16="http://schemas.microsoft.com/office/drawing/2014/main" id="{28465210-96E6-4F0E-932C-98B8F164B7F8}"/>
              </a:ext>
            </a:extLst>
          </p:cNvPr>
          <p:cNvSpPr/>
          <p:nvPr/>
        </p:nvSpPr>
        <p:spPr bwMode="auto">
          <a:xfrm>
            <a:off x="4480795" y="1048357"/>
            <a:ext cx="3348873" cy="43681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pt-BR" sz="1800" b="1">
                <a:gradFill>
                  <a:gsLst>
                    <a:gs pos="0">
                      <a:srgbClr val="FFFFFF"/>
                    </a:gs>
                    <a:gs pos="100000">
                      <a:srgbClr val="FFFFFF"/>
                    </a:gs>
                  </a:gsLst>
                  <a:lin ang="5400000" scaled="0"/>
                </a:gradFill>
                <a:ea typeface="Segoe UI" pitchFamily="34" charset="0"/>
                <a:cs typeface="Segoe UI" pitchFamily="34" charset="0"/>
              </a:rPr>
              <a:t>API do MongoDB</a:t>
            </a:r>
          </a:p>
        </p:txBody>
      </p:sp>
      <p:sp>
        <p:nvSpPr>
          <p:cNvPr id="15" name="TextBox 14">
            <a:extLst>
              <a:ext uri="{FF2B5EF4-FFF2-40B4-BE49-F238E27FC236}">
                <a16:creationId xmlns:a16="http://schemas.microsoft.com/office/drawing/2014/main" id="{B7D2333D-84AB-4145-955D-A87166E76401}"/>
              </a:ext>
            </a:extLst>
          </p:cNvPr>
          <p:cNvSpPr txBox="1"/>
          <p:nvPr/>
        </p:nvSpPr>
        <p:spPr>
          <a:xfrm>
            <a:off x="4480795" y="1465199"/>
            <a:ext cx="3348873" cy="1511183"/>
          </a:xfrm>
          <a:prstGeom prst="rect">
            <a:avLst/>
          </a:prstGeom>
          <a:noFill/>
        </p:spPr>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marL="342900" marR="0" lvl="0" indent="-342900" algn="l" defTabSz="914367" rtl="0" eaLnBrk="1" fontAlgn="auto" latinLnBrk="0" hangingPunct="1">
              <a:spcBef>
                <a:spcPts val="0"/>
              </a:spcBef>
              <a:spcAft>
                <a:spcPts val="600"/>
              </a:spcAft>
              <a:buClrTx/>
              <a:buSzTx/>
              <a:buFont typeface="Arial"/>
              <a:buChar char="•"/>
              <a:tabLst/>
              <a:defRPr/>
            </a:pPr>
            <a:r>
              <a:rPr lang="pt-BR" sz="1600">
                <a:gradFill>
                  <a:gsLst>
                    <a:gs pos="2917">
                      <a:srgbClr val="000000"/>
                    </a:gs>
                    <a:gs pos="30000">
                      <a:srgbClr val="000000"/>
                    </a:gs>
                  </a:gsLst>
                  <a:lin ang="5400000" scaled="0"/>
                </a:gradFill>
                <a:latin typeface="Segoe UI"/>
                <a:cs typeface="Segoe UI"/>
              </a:rPr>
              <a:t>Compatibilidade com o MongoDB</a:t>
            </a:r>
          </a:p>
          <a:p>
            <a:pPr marL="342900" lvl="1" defTabSz="973138">
              <a:spcAft>
                <a:spcPts val="600"/>
              </a:spcAft>
              <a:defRPr/>
            </a:pPr>
            <a:r>
              <a:rPr lang="pt-BR" sz="1400">
                <a:gradFill>
                  <a:gsLst>
                    <a:gs pos="2917">
                      <a:srgbClr val="000000"/>
                    </a:gs>
                    <a:gs pos="30000">
                      <a:srgbClr val="000000"/>
                    </a:gs>
                  </a:gsLst>
                  <a:lin ang="5400000" scaled="0"/>
                </a:gradFill>
                <a:latin typeface="Segoe UI"/>
                <a:cs typeface="Segoe UI"/>
              </a:rPr>
              <a:t>Um banco de dados conhecido baseado em documentos de código aberto</a:t>
            </a:r>
          </a:p>
        </p:txBody>
      </p:sp>
      <p:sp>
        <p:nvSpPr>
          <p:cNvPr id="16" name="TextBox 15">
            <a:extLst>
              <a:ext uri="{FF2B5EF4-FFF2-40B4-BE49-F238E27FC236}">
                <a16:creationId xmlns:a16="http://schemas.microsoft.com/office/drawing/2014/main" id="{ED2EEE72-9E3E-47A4-A639-BE886EB9A3A6}"/>
              </a:ext>
            </a:extLst>
          </p:cNvPr>
          <p:cNvSpPr txBox="1"/>
          <p:nvPr/>
        </p:nvSpPr>
        <p:spPr>
          <a:xfrm>
            <a:off x="4629278" y="2793330"/>
            <a:ext cx="1529586" cy="309315"/>
          </a:xfrm>
          <a:prstGeom prst="rect">
            <a:avLst/>
          </a:prstGeom>
          <a:noFill/>
          <a:ln>
            <a:noFill/>
          </a:ln>
        </p:spPr>
        <p:txBody>
          <a:bodyPr wrap="none" lIns="91440" tIns="91440" rIns="91440" bIns="91440" rtlCol="0" anchor="ctr">
            <a:spAutoFit/>
          </a:bodyPr>
          <a:lstStyle/>
          <a:p>
            <a:pPr>
              <a:lnSpc>
                <a:spcPct val="90000"/>
              </a:lnSpc>
            </a:pPr>
            <a:r>
              <a:rPr lang="pt-BR" sz="900">
                <a:gradFill>
                  <a:gsLst>
                    <a:gs pos="2917">
                      <a:schemeClr val="tx1"/>
                    </a:gs>
                    <a:gs pos="30000">
                      <a:schemeClr val="tx1"/>
                    </a:gs>
                  </a:gsLst>
                  <a:lin ang="5400000" scaled="0"/>
                </a:gradFill>
              </a:rPr>
              <a:t>db.products.find({ id: 123})</a:t>
            </a:r>
          </a:p>
        </p:txBody>
      </p:sp>
      <p:sp>
        <p:nvSpPr>
          <p:cNvPr id="17" name="TextBox 16">
            <a:extLst>
              <a:ext uri="{FF2B5EF4-FFF2-40B4-BE49-F238E27FC236}">
                <a16:creationId xmlns:a16="http://schemas.microsoft.com/office/drawing/2014/main" id="{67041FB8-7E14-497D-ADD3-53A6A2916F74}"/>
              </a:ext>
            </a:extLst>
          </p:cNvPr>
          <p:cNvSpPr txBox="1"/>
          <p:nvPr/>
        </p:nvSpPr>
        <p:spPr>
          <a:xfrm>
            <a:off x="6477822" y="2590113"/>
            <a:ext cx="1269899" cy="807913"/>
          </a:xfrm>
          <a:prstGeom prst="rect">
            <a:avLst/>
          </a:prstGeom>
          <a:solidFill>
            <a:schemeClr val="bg1"/>
          </a:solidFill>
          <a:ln>
            <a:solidFill>
              <a:schemeClr val="accent3"/>
            </a:solidFill>
          </a:ln>
        </p:spPr>
        <p:txBody>
          <a:bodyPr wrap="none" lIns="91440" tIns="91440" rIns="91440" bIns="91440" rtlCol="0" anchor="ctr">
            <a:spAutoFit/>
          </a:bodyPr>
          <a:lstStyle/>
          <a:p>
            <a:pPr>
              <a:lnSpc>
                <a:spcPct val="90000"/>
              </a:lnSpc>
            </a:pPr>
            <a:r>
              <a:rPr lang="pt-BR" sz="900">
                <a:gradFill>
                  <a:gsLst>
                    <a:gs pos="2917">
                      <a:schemeClr val="tx1"/>
                    </a:gs>
                    <a:gs pos="30000">
                      <a:schemeClr val="tx1"/>
                    </a:gs>
                  </a:gsLst>
                  <a:lin ang="5400000" scaled="0"/>
                </a:gradFill>
              </a:rPr>
              <a:t>{</a:t>
            </a:r>
          </a:p>
          <a:p>
            <a:pPr>
              <a:lnSpc>
                <a:spcPct val="90000"/>
              </a:lnSpc>
            </a:pPr>
            <a:r>
              <a:rPr lang="pt-BR" sz="900">
                <a:gradFill>
                  <a:gsLst>
                    <a:gs pos="2917">
                      <a:schemeClr val="tx1"/>
                    </a:gs>
                    <a:gs pos="30000">
                      <a:schemeClr val="tx1"/>
                    </a:gs>
                  </a:gsLst>
                  <a:lin ang="5400000" scaled="0"/>
                </a:gradFill>
              </a:rPr>
              <a:t>   "id": 123,</a:t>
            </a:r>
          </a:p>
          <a:p>
            <a:pPr>
              <a:lnSpc>
                <a:spcPct val="90000"/>
              </a:lnSpc>
            </a:pPr>
            <a:r>
              <a:rPr lang="pt-BR" sz="900">
                <a:gradFill>
                  <a:gsLst>
                    <a:gs pos="2917">
                      <a:schemeClr val="tx1"/>
                    </a:gs>
                    <a:gs pos="30000">
                      <a:schemeClr val="tx1"/>
                    </a:gs>
                  </a:gsLst>
                  <a:lin ang="5400000" scaled="0"/>
                </a:gradFill>
              </a:rPr>
              <a:t>   "name": "Hammer",</a:t>
            </a:r>
          </a:p>
          <a:p>
            <a:pPr>
              <a:lnSpc>
                <a:spcPct val="90000"/>
              </a:lnSpc>
            </a:pPr>
            <a:r>
              <a:rPr lang="pt-BR" sz="900">
                <a:gradFill>
                  <a:gsLst>
                    <a:gs pos="2917">
                      <a:schemeClr val="tx1"/>
                    </a:gs>
                    <a:gs pos="30000">
                      <a:schemeClr val="tx1"/>
                    </a:gs>
                  </a:gsLst>
                  <a:lin ang="5400000" scaled="0"/>
                </a:gradFill>
              </a:rPr>
              <a:t>   "price": 2.99}</a:t>
            </a:r>
          </a:p>
          <a:p>
            <a:pPr>
              <a:lnSpc>
                <a:spcPct val="90000"/>
              </a:lnSpc>
            </a:pPr>
            <a:r>
              <a:rPr lang="pt-BR" sz="900">
                <a:gradFill>
                  <a:gsLst>
                    <a:gs pos="2917">
                      <a:schemeClr val="tx1"/>
                    </a:gs>
                    <a:gs pos="30000">
                      <a:schemeClr val="tx1"/>
                    </a:gs>
                  </a:gsLst>
                  <a:lin ang="5400000" scaled="0"/>
                </a:gradFill>
              </a:rPr>
              <a:t>}</a:t>
            </a:r>
          </a:p>
        </p:txBody>
      </p:sp>
      <p:sp>
        <p:nvSpPr>
          <p:cNvPr id="18" name="Rectangle 17">
            <a:extLst>
              <a:ext uri="{FF2B5EF4-FFF2-40B4-BE49-F238E27FC236}">
                <a16:creationId xmlns:a16="http://schemas.microsoft.com/office/drawing/2014/main" id="{B2A22659-CA30-4AAF-9D0D-BDA45B140997}"/>
              </a:ext>
            </a:extLst>
          </p:cNvPr>
          <p:cNvSpPr/>
          <p:nvPr/>
        </p:nvSpPr>
        <p:spPr bwMode="auto">
          <a:xfrm>
            <a:off x="8522753" y="1056499"/>
            <a:ext cx="3348873" cy="43681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pt-BR" sz="1800" b="1">
                <a:gradFill>
                  <a:gsLst>
                    <a:gs pos="0">
                      <a:srgbClr val="FFFFFF"/>
                    </a:gs>
                    <a:gs pos="100000">
                      <a:srgbClr val="FFFFFF"/>
                    </a:gs>
                  </a:gsLst>
                  <a:lin ang="5400000" scaled="0"/>
                </a:gradFill>
                <a:ea typeface="Segoe UI" pitchFamily="34" charset="0"/>
                <a:cs typeface="Segoe UI" pitchFamily="34" charset="0"/>
              </a:rPr>
              <a:t>API de Tabela</a:t>
            </a:r>
          </a:p>
        </p:txBody>
      </p:sp>
      <p:sp>
        <p:nvSpPr>
          <p:cNvPr id="19" name="TextBox 18">
            <a:extLst>
              <a:ext uri="{FF2B5EF4-FFF2-40B4-BE49-F238E27FC236}">
                <a16:creationId xmlns:a16="http://schemas.microsoft.com/office/drawing/2014/main" id="{38CFF745-7F22-4582-9CF5-6952D11C00A7}"/>
              </a:ext>
            </a:extLst>
          </p:cNvPr>
          <p:cNvSpPr txBox="1"/>
          <p:nvPr/>
        </p:nvSpPr>
        <p:spPr>
          <a:xfrm>
            <a:off x="8585887" y="1465198"/>
            <a:ext cx="3348873" cy="1665071"/>
          </a:xfrm>
          <a:prstGeom prst="rect">
            <a:avLst/>
          </a:prstGeom>
          <a:noFill/>
        </p:spPr>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marL="342900" marR="0" lvl="0" indent="-342900" algn="l" defTabSz="914367" rtl="0" eaLnBrk="1" fontAlgn="auto" latinLnBrk="0" hangingPunct="1">
              <a:spcBef>
                <a:spcPts val="0"/>
              </a:spcBef>
              <a:spcAft>
                <a:spcPts val="600"/>
              </a:spcAft>
              <a:buClrTx/>
              <a:buSzTx/>
              <a:buFont typeface="Arial"/>
              <a:buChar char="•"/>
              <a:tabLst/>
              <a:defRPr/>
            </a:pPr>
            <a:r>
              <a:rPr lang="pt-BR" sz="1400" dirty="0">
                <a:gradFill>
                  <a:gsLst>
                    <a:gs pos="2917">
                      <a:srgbClr val="000000"/>
                    </a:gs>
                    <a:gs pos="30000">
                      <a:srgbClr val="000000"/>
                    </a:gs>
                  </a:gsLst>
                  <a:lin ang="5400000" scaled="0"/>
                </a:gradFill>
                <a:latin typeface="Segoe UI"/>
                <a:cs typeface="Segoe UI"/>
              </a:rPr>
              <a:t>API de armazenamento de chaves-valores</a:t>
            </a:r>
          </a:p>
          <a:p>
            <a:pPr marL="342900" marR="0" lvl="0" indent="-342900" algn="l" defTabSz="914367" rtl="0" eaLnBrk="1" fontAlgn="auto" latinLnBrk="0" hangingPunct="1">
              <a:spcBef>
                <a:spcPts val="0"/>
              </a:spcBef>
              <a:spcAft>
                <a:spcPts val="600"/>
              </a:spcAft>
              <a:buClrTx/>
              <a:buSzTx/>
              <a:buFont typeface="Arial"/>
              <a:buChar char="•"/>
              <a:tabLst/>
              <a:defRPr/>
            </a:pPr>
            <a:r>
              <a:rPr kumimoji="0" lang="pt-BR" sz="1400" b="0" i="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Segoe UI"/>
              </a:rPr>
              <a:t>Compatível com o Armazenamento de Tabelas do Azure, mas com maior desempenho e escalabilidade</a:t>
            </a:r>
          </a:p>
        </p:txBody>
      </p:sp>
      <p:graphicFrame>
        <p:nvGraphicFramePr>
          <p:cNvPr id="21" name="Table 12">
            <a:extLst>
              <a:ext uri="{FF2B5EF4-FFF2-40B4-BE49-F238E27FC236}">
                <a16:creationId xmlns:a16="http://schemas.microsoft.com/office/drawing/2014/main" id="{EA73DBFA-4FB4-464A-A48E-F40066F63386}"/>
              </a:ext>
            </a:extLst>
          </p:cNvPr>
          <p:cNvGraphicFramePr>
            <a:graphicFrameLocks noGrp="1"/>
          </p:cNvGraphicFramePr>
          <p:nvPr>
            <p:extLst>
              <p:ext uri="{D42A27DB-BD31-4B8C-83A1-F6EECF244321}">
                <p14:modId xmlns:p14="http://schemas.microsoft.com/office/powerpoint/2010/main" val="2018717581"/>
              </p:ext>
            </p:extLst>
          </p:nvPr>
        </p:nvGraphicFramePr>
        <p:xfrm>
          <a:off x="9127665" y="3067458"/>
          <a:ext cx="2358077" cy="548640"/>
        </p:xfrm>
        <a:graphic>
          <a:graphicData uri="http://schemas.openxmlformats.org/drawingml/2006/table">
            <a:tbl>
              <a:tblPr firstRow="1" bandRow="1">
                <a:tableStyleId>{5C22544A-7EE6-4342-B048-85BDC9FD1C3A}</a:tableStyleId>
              </a:tblPr>
              <a:tblGrid>
                <a:gridCol w="803593">
                  <a:extLst>
                    <a:ext uri="{9D8B030D-6E8A-4147-A177-3AD203B41FA5}">
                      <a16:colId xmlns:a16="http://schemas.microsoft.com/office/drawing/2014/main" val="2754731770"/>
                    </a:ext>
                  </a:extLst>
                </a:gridCol>
                <a:gridCol w="777242">
                  <a:extLst>
                    <a:ext uri="{9D8B030D-6E8A-4147-A177-3AD203B41FA5}">
                      <a16:colId xmlns:a16="http://schemas.microsoft.com/office/drawing/2014/main" val="2823872596"/>
                    </a:ext>
                  </a:extLst>
                </a:gridCol>
                <a:gridCol w="777242">
                  <a:extLst>
                    <a:ext uri="{9D8B030D-6E8A-4147-A177-3AD203B41FA5}">
                      <a16:colId xmlns:a16="http://schemas.microsoft.com/office/drawing/2014/main" val="2525147037"/>
                    </a:ext>
                  </a:extLst>
                </a:gridCol>
              </a:tblGrid>
              <a:tr h="0">
                <a:tc>
                  <a:txBody>
                    <a:bodyPr/>
                    <a:lstStyle/>
                    <a:p>
                      <a:r>
                        <a:rPr lang="pt-BR" sz="800"/>
                        <a:t>PartitionKey</a:t>
                      </a:r>
                    </a:p>
                  </a:txBody>
                  <a:tcPr/>
                </a:tc>
                <a:tc>
                  <a:txBody>
                    <a:bodyPr/>
                    <a:lstStyle/>
                    <a:p>
                      <a:r>
                        <a:rPr lang="pt-BR" sz="800"/>
                        <a:t>RowKey</a:t>
                      </a:r>
                    </a:p>
                  </a:txBody>
                  <a:tcPr/>
                </a:tc>
                <a:tc>
                  <a:txBody>
                    <a:bodyPr/>
                    <a:lstStyle/>
                    <a:p>
                      <a:r>
                        <a:rPr lang="pt-BR" sz="800"/>
                        <a:t>Name</a:t>
                      </a:r>
                    </a:p>
                  </a:txBody>
                  <a:tcPr/>
                </a:tc>
                <a:extLst>
                  <a:ext uri="{0D108BD9-81ED-4DB2-BD59-A6C34878D82A}">
                    <a16:rowId xmlns:a16="http://schemas.microsoft.com/office/drawing/2014/main" val="3463622756"/>
                  </a:ext>
                </a:extLst>
              </a:tr>
              <a:tr h="149567">
                <a:tc>
                  <a:txBody>
                    <a:bodyPr/>
                    <a:lstStyle/>
                    <a:p>
                      <a:r>
                        <a:rPr lang="pt-BR" sz="500" dirty="0">
                          <a:solidFill>
                            <a:schemeClr val="tx1"/>
                          </a:solidFill>
                        </a:rPr>
                        <a:t>1</a:t>
                      </a:r>
                    </a:p>
                  </a:txBody>
                  <a:tcPr/>
                </a:tc>
                <a:tc>
                  <a:txBody>
                    <a:bodyPr/>
                    <a:lstStyle/>
                    <a:p>
                      <a:r>
                        <a:rPr lang="pt-BR" sz="500">
                          <a:solidFill>
                            <a:schemeClr val="tx1"/>
                          </a:solidFill>
                        </a:rPr>
                        <a:t>123</a:t>
                      </a:r>
                    </a:p>
                  </a:txBody>
                  <a:tcPr/>
                </a:tc>
                <a:tc>
                  <a:txBody>
                    <a:bodyPr/>
                    <a:lstStyle/>
                    <a:p>
                      <a:r>
                        <a:rPr lang="pt-BR" sz="500">
                          <a:solidFill>
                            <a:schemeClr val="tx1"/>
                          </a:solidFill>
                        </a:rPr>
                        <a:t>Joe Jones</a:t>
                      </a:r>
                    </a:p>
                  </a:txBody>
                  <a:tcPr/>
                </a:tc>
                <a:extLst>
                  <a:ext uri="{0D108BD9-81ED-4DB2-BD59-A6C34878D82A}">
                    <a16:rowId xmlns:a16="http://schemas.microsoft.com/office/drawing/2014/main" val="2807142733"/>
                  </a:ext>
                </a:extLst>
              </a:tr>
              <a:tr h="149567">
                <a:tc>
                  <a:txBody>
                    <a:bodyPr/>
                    <a:lstStyle/>
                    <a:p>
                      <a:r>
                        <a:rPr lang="pt-BR" sz="500">
                          <a:solidFill>
                            <a:schemeClr val="tx1"/>
                          </a:solidFill>
                        </a:rPr>
                        <a:t>1</a:t>
                      </a:r>
                    </a:p>
                  </a:txBody>
                  <a:tcPr/>
                </a:tc>
                <a:tc>
                  <a:txBody>
                    <a:bodyPr/>
                    <a:lstStyle/>
                    <a:p>
                      <a:r>
                        <a:rPr lang="pt-BR" sz="500">
                          <a:solidFill>
                            <a:schemeClr val="tx1"/>
                          </a:solidFill>
                        </a:rPr>
                        <a:t>124</a:t>
                      </a:r>
                    </a:p>
                  </a:txBody>
                  <a:tcPr/>
                </a:tc>
                <a:tc>
                  <a:txBody>
                    <a:bodyPr/>
                    <a:lstStyle/>
                    <a:p>
                      <a:r>
                        <a:rPr lang="pt-BR" sz="500" dirty="0">
                          <a:solidFill>
                            <a:schemeClr val="tx1"/>
                          </a:solidFill>
                        </a:rPr>
                        <a:t>Samir Nadoy</a:t>
                      </a:r>
                    </a:p>
                  </a:txBody>
                  <a:tcPr/>
                </a:tc>
                <a:extLst>
                  <a:ext uri="{0D108BD9-81ED-4DB2-BD59-A6C34878D82A}">
                    <a16:rowId xmlns:a16="http://schemas.microsoft.com/office/drawing/2014/main" val="4190124406"/>
                  </a:ext>
                </a:extLst>
              </a:tr>
            </a:tbl>
          </a:graphicData>
        </a:graphic>
      </p:graphicFrame>
      <p:sp>
        <p:nvSpPr>
          <p:cNvPr id="22" name="Rectangle 21">
            <a:extLst>
              <a:ext uri="{FF2B5EF4-FFF2-40B4-BE49-F238E27FC236}">
                <a16:creationId xmlns:a16="http://schemas.microsoft.com/office/drawing/2014/main" id="{29067AFF-1B72-45C8-BD7A-B8F2B3D1CB06}"/>
              </a:ext>
            </a:extLst>
          </p:cNvPr>
          <p:cNvSpPr/>
          <p:nvPr/>
        </p:nvSpPr>
        <p:spPr bwMode="auto">
          <a:xfrm>
            <a:off x="2493774" y="3905855"/>
            <a:ext cx="3348873" cy="43681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pt-BR" sz="1800" b="1">
                <a:gradFill>
                  <a:gsLst>
                    <a:gs pos="0">
                      <a:srgbClr val="FFFFFF"/>
                    </a:gs>
                    <a:gs pos="100000">
                      <a:srgbClr val="FFFFFF"/>
                    </a:gs>
                  </a:gsLst>
                  <a:lin ang="5400000" scaled="0"/>
                </a:gradFill>
                <a:ea typeface="Segoe UI" pitchFamily="34" charset="0"/>
                <a:cs typeface="Segoe UI" pitchFamily="34" charset="0"/>
              </a:rPr>
              <a:t>API do Cassandra</a:t>
            </a:r>
          </a:p>
        </p:txBody>
      </p:sp>
      <p:sp>
        <p:nvSpPr>
          <p:cNvPr id="23" name="TextBox 22">
            <a:extLst>
              <a:ext uri="{FF2B5EF4-FFF2-40B4-BE49-F238E27FC236}">
                <a16:creationId xmlns:a16="http://schemas.microsoft.com/office/drawing/2014/main" id="{A47F239A-C0D4-47C6-A7DD-B8CE3795984F}"/>
              </a:ext>
            </a:extLst>
          </p:cNvPr>
          <p:cNvSpPr txBox="1"/>
          <p:nvPr/>
        </p:nvSpPr>
        <p:spPr>
          <a:xfrm>
            <a:off x="2449119" y="4336598"/>
            <a:ext cx="3348873" cy="1203406"/>
          </a:xfrm>
          <a:prstGeom prst="rect">
            <a:avLst/>
          </a:prstGeom>
          <a:noFill/>
        </p:spPr>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marL="342900" marR="0" lvl="0" indent="-342900" algn="l" defTabSz="914367" rtl="0" eaLnBrk="1" fontAlgn="auto" latinLnBrk="0" hangingPunct="1">
              <a:lnSpc>
                <a:spcPct val="90000"/>
              </a:lnSpc>
              <a:spcBef>
                <a:spcPts val="0"/>
              </a:spcBef>
              <a:spcAft>
                <a:spcPts val="600"/>
              </a:spcAft>
              <a:buClrTx/>
              <a:buSzTx/>
              <a:buFont typeface="Arial"/>
              <a:buChar char="•"/>
              <a:tabLst/>
              <a:defRPr/>
            </a:pPr>
            <a:r>
              <a:rPr lang="pt-BR" sz="1600" dirty="0">
                <a:gradFill>
                  <a:gsLst>
                    <a:gs pos="2917">
                      <a:srgbClr val="000000"/>
                    </a:gs>
                    <a:gs pos="30000">
                      <a:srgbClr val="000000"/>
                    </a:gs>
                  </a:gsLst>
                  <a:lin ang="5400000" scaled="0"/>
                </a:gradFill>
                <a:latin typeface="Segoe UI"/>
                <a:cs typeface="Segoe UI"/>
              </a:rPr>
              <a:t>Compatibilidade com o Apache Cassandra</a:t>
            </a:r>
          </a:p>
          <a:p>
            <a:pPr marL="342900" lvl="1" defTabSz="973138">
              <a:lnSpc>
                <a:spcPct val="90000"/>
              </a:lnSpc>
              <a:spcAft>
                <a:spcPts val="600"/>
              </a:spcAft>
              <a:defRPr/>
            </a:pPr>
            <a:r>
              <a:rPr lang="pt-BR" sz="1400" dirty="0">
                <a:gradFill>
                  <a:gsLst>
                    <a:gs pos="2917">
                      <a:srgbClr val="000000"/>
                    </a:gs>
                    <a:gs pos="30000">
                      <a:srgbClr val="000000"/>
                    </a:gs>
                  </a:gsLst>
                  <a:lin ang="5400000" scaled="0"/>
                </a:gradFill>
                <a:latin typeface="Segoe UI"/>
                <a:cs typeface="Segoe UI"/>
              </a:rPr>
              <a:t>Um banco de dados conhecido de família de colunas de código aberto</a:t>
            </a:r>
          </a:p>
        </p:txBody>
      </p:sp>
      <p:graphicFrame>
        <p:nvGraphicFramePr>
          <p:cNvPr id="25" name="Table 12">
            <a:extLst>
              <a:ext uri="{FF2B5EF4-FFF2-40B4-BE49-F238E27FC236}">
                <a16:creationId xmlns:a16="http://schemas.microsoft.com/office/drawing/2014/main" id="{E35F8B33-EC8C-41FC-8EB1-9D60DE216337}"/>
              </a:ext>
            </a:extLst>
          </p:cNvPr>
          <p:cNvGraphicFramePr>
            <a:graphicFrameLocks noGrp="1"/>
          </p:cNvGraphicFramePr>
          <p:nvPr>
            <p:extLst>
              <p:ext uri="{D42A27DB-BD31-4B8C-83A1-F6EECF244321}">
                <p14:modId xmlns:p14="http://schemas.microsoft.com/office/powerpoint/2010/main" val="286215562"/>
              </p:ext>
            </p:extLst>
          </p:nvPr>
        </p:nvGraphicFramePr>
        <p:xfrm>
          <a:off x="3832038" y="5651013"/>
          <a:ext cx="1885571" cy="548640"/>
        </p:xfrm>
        <a:graphic>
          <a:graphicData uri="http://schemas.openxmlformats.org/drawingml/2006/table">
            <a:tbl>
              <a:tblPr firstRow="1" bandRow="1">
                <a:tableStyleId>{5C22544A-7EE6-4342-B048-85BDC9FD1C3A}</a:tableStyleId>
              </a:tblPr>
              <a:tblGrid>
                <a:gridCol w="303530">
                  <a:extLst>
                    <a:ext uri="{9D8B030D-6E8A-4147-A177-3AD203B41FA5}">
                      <a16:colId xmlns:a16="http://schemas.microsoft.com/office/drawing/2014/main" val="2754731770"/>
                    </a:ext>
                  </a:extLst>
                </a:gridCol>
                <a:gridCol w="482918">
                  <a:extLst>
                    <a:ext uri="{9D8B030D-6E8A-4147-A177-3AD203B41FA5}">
                      <a16:colId xmlns:a16="http://schemas.microsoft.com/office/drawing/2014/main" val="2823872596"/>
                    </a:ext>
                  </a:extLst>
                </a:gridCol>
                <a:gridCol w="465393">
                  <a:extLst>
                    <a:ext uri="{9D8B030D-6E8A-4147-A177-3AD203B41FA5}">
                      <a16:colId xmlns:a16="http://schemas.microsoft.com/office/drawing/2014/main" val="3390184041"/>
                    </a:ext>
                  </a:extLst>
                </a:gridCol>
                <a:gridCol w="633730">
                  <a:extLst>
                    <a:ext uri="{9D8B030D-6E8A-4147-A177-3AD203B41FA5}">
                      <a16:colId xmlns:a16="http://schemas.microsoft.com/office/drawing/2014/main" val="1939969230"/>
                    </a:ext>
                  </a:extLst>
                </a:gridCol>
              </a:tblGrid>
              <a:tr h="149567">
                <a:tc>
                  <a:txBody>
                    <a:bodyPr/>
                    <a:lstStyle/>
                    <a:p>
                      <a:r>
                        <a:rPr lang="pt-BR" sz="800"/>
                        <a:t>id</a:t>
                      </a:r>
                    </a:p>
                  </a:txBody>
                  <a:tcPr/>
                </a:tc>
                <a:tc>
                  <a:txBody>
                    <a:bodyPr/>
                    <a:lstStyle/>
                    <a:p>
                      <a:r>
                        <a:rPr lang="pt-BR" sz="800"/>
                        <a:t>name</a:t>
                      </a:r>
                    </a:p>
                  </a:txBody>
                  <a:tcPr/>
                </a:tc>
                <a:tc>
                  <a:txBody>
                    <a:bodyPr/>
                    <a:lstStyle/>
                    <a:p>
                      <a:r>
                        <a:rPr lang="pt-BR" sz="800"/>
                        <a:t>dept</a:t>
                      </a:r>
                    </a:p>
                  </a:txBody>
                  <a:tcPr/>
                </a:tc>
                <a:tc>
                  <a:txBody>
                    <a:bodyPr/>
                    <a:lstStyle/>
                    <a:p>
                      <a:r>
                        <a:rPr lang="pt-BR" sz="800"/>
                        <a:t>manager</a:t>
                      </a:r>
                    </a:p>
                  </a:txBody>
                  <a:tcPr/>
                </a:tc>
                <a:extLst>
                  <a:ext uri="{0D108BD9-81ED-4DB2-BD59-A6C34878D82A}">
                    <a16:rowId xmlns:a16="http://schemas.microsoft.com/office/drawing/2014/main" val="3463622756"/>
                  </a:ext>
                </a:extLst>
              </a:tr>
              <a:tr h="149567">
                <a:tc>
                  <a:txBody>
                    <a:bodyPr/>
                    <a:lstStyle/>
                    <a:p>
                      <a:r>
                        <a:rPr lang="pt-BR" sz="500"/>
                        <a:t>1</a:t>
                      </a:r>
                    </a:p>
                  </a:txBody>
                  <a:tcPr/>
                </a:tc>
                <a:tc>
                  <a:txBody>
                    <a:bodyPr/>
                    <a:lstStyle/>
                    <a:p>
                      <a:r>
                        <a:rPr lang="pt-BR" sz="500"/>
                        <a:t>Sue Smith</a:t>
                      </a:r>
                    </a:p>
                  </a:txBody>
                  <a:tcPr/>
                </a:tc>
                <a:tc>
                  <a:txBody>
                    <a:bodyPr/>
                    <a:lstStyle/>
                    <a:p>
                      <a:r>
                        <a:rPr lang="pt-BR" sz="500"/>
                        <a:t>Hardware</a:t>
                      </a:r>
                    </a:p>
                  </a:txBody>
                  <a:tcPr/>
                </a:tc>
                <a:tc>
                  <a:txBody>
                    <a:bodyPr/>
                    <a:lstStyle/>
                    <a:p>
                      <a:endParaRPr lang="en-US" sz="500" dirty="0"/>
                    </a:p>
                  </a:txBody>
                  <a:tcPr>
                    <a:noFill/>
                  </a:tcPr>
                </a:tc>
                <a:extLst>
                  <a:ext uri="{0D108BD9-81ED-4DB2-BD59-A6C34878D82A}">
                    <a16:rowId xmlns:a16="http://schemas.microsoft.com/office/drawing/2014/main" val="2807142733"/>
                  </a:ext>
                </a:extLst>
              </a:tr>
              <a:tr h="149567">
                <a:tc>
                  <a:txBody>
                    <a:bodyPr/>
                    <a:lstStyle/>
                    <a:p>
                      <a:r>
                        <a:rPr lang="pt-BR" sz="500"/>
                        <a:t>2</a:t>
                      </a:r>
                    </a:p>
                  </a:txBody>
                  <a:tcPr/>
                </a:tc>
                <a:tc>
                  <a:txBody>
                    <a:bodyPr/>
                    <a:lstStyle/>
                    <a:p>
                      <a:r>
                        <a:rPr lang="pt-BR" sz="500"/>
                        <a:t>Ben Chan</a:t>
                      </a:r>
                    </a:p>
                  </a:txBody>
                  <a:tcPr>
                    <a:solidFill>
                      <a:schemeClr val="accent6"/>
                    </a:solidFill>
                  </a:tcPr>
                </a:tc>
                <a:tc>
                  <a:txBody>
                    <a:bodyPr/>
                    <a:lstStyle/>
                    <a:p>
                      <a:r>
                        <a:rPr lang="pt-BR" sz="500"/>
                        <a:t>Hardware</a:t>
                      </a:r>
                    </a:p>
                  </a:txBody>
                  <a:tcPr>
                    <a:solidFill>
                      <a:schemeClr val="accent6"/>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pt-BR" sz="500"/>
                        <a:t>Sue Smith</a:t>
                      </a:r>
                    </a:p>
                  </a:txBody>
                  <a:tcPr/>
                </a:tc>
                <a:extLst>
                  <a:ext uri="{0D108BD9-81ED-4DB2-BD59-A6C34878D82A}">
                    <a16:rowId xmlns:a16="http://schemas.microsoft.com/office/drawing/2014/main" val="4190124406"/>
                  </a:ext>
                </a:extLst>
              </a:tr>
            </a:tbl>
          </a:graphicData>
        </a:graphic>
      </p:graphicFrame>
      <p:sp>
        <p:nvSpPr>
          <p:cNvPr id="26" name="TextBox 25">
            <a:extLst>
              <a:ext uri="{FF2B5EF4-FFF2-40B4-BE49-F238E27FC236}">
                <a16:creationId xmlns:a16="http://schemas.microsoft.com/office/drawing/2014/main" id="{775B576D-EC8A-4AE7-BE3A-89855B0A7194}"/>
              </a:ext>
            </a:extLst>
          </p:cNvPr>
          <p:cNvSpPr txBox="1"/>
          <p:nvPr/>
        </p:nvSpPr>
        <p:spPr>
          <a:xfrm>
            <a:off x="2431134" y="5606676"/>
            <a:ext cx="1484702" cy="558614"/>
          </a:xfrm>
          <a:prstGeom prst="rect">
            <a:avLst/>
          </a:prstGeom>
          <a:noFill/>
          <a:ln>
            <a:noFill/>
          </a:ln>
        </p:spPr>
        <p:txBody>
          <a:bodyPr wrap="none" lIns="91440" tIns="91440" rIns="91440" bIns="91440" rtlCol="0" anchor="ctr">
            <a:spAutoFit/>
          </a:bodyPr>
          <a:lstStyle/>
          <a:p>
            <a:pPr>
              <a:lnSpc>
                <a:spcPct val="90000"/>
              </a:lnSpc>
            </a:pPr>
            <a:r>
              <a:rPr lang="pt-BR" sz="900">
                <a:gradFill>
                  <a:gsLst>
                    <a:gs pos="2917">
                      <a:schemeClr val="tx1"/>
                    </a:gs>
                    <a:gs pos="30000">
                      <a:schemeClr val="tx1"/>
                    </a:gs>
                  </a:gsLst>
                  <a:lin ang="5400000" scaled="0"/>
                </a:gradFill>
              </a:rPr>
              <a:t>SELECT *</a:t>
            </a:r>
          </a:p>
          <a:p>
            <a:pPr>
              <a:lnSpc>
                <a:spcPct val="90000"/>
              </a:lnSpc>
            </a:pPr>
            <a:r>
              <a:rPr lang="pt-BR" sz="900">
                <a:gradFill>
                  <a:gsLst>
                    <a:gs pos="2917">
                      <a:schemeClr val="tx1"/>
                    </a:gs>
                    <a:gs pos="30000">
                      <a:schemeClr val="tx1"/>
                    </a:gs>
                  </a:gsLst>
                  <a:lin ang="5400000" scaled="0"/>
                </a:gradFill>
              </a:rPr>
              <a:t>FROM store,employee</a:t>
            </a:r>
          </a:p>
          <a:p>
            <a:pPr>
              <a:lnSpc>
                <a:spcPct val="90000"/>
              </a:lnSpc>
            </a:pPr>
            <a:r>
              <a:rPr lang="pt-BR" sz="900">
                <a:gradFill>
                  <a:gsLst>
                    <a:gs pos="2917">
                      <a:schemeClr val="tx1"/>
                    </a:gs>
                    <a:gs pos="30000">
                      <a:schemeClr val="tx1"/>
                    </a:gs>
                  </a:gsLst>
                  <a:lin ang="5400000" scaled="0"/>
                </a:gradFill>
              </a:rPr>
              <a:t>WHERE dept="Hardware"</a:t>
            </a:r>
          </a:p>
        </p:txBody>
      </p:sp>
      <p:sp>
        <p:nvSpPr>
          <p:cNvPr id="27" name="Rectangle 26">
            <a:extLst>
              <a:ext uri="{FF2B5EF4-FFF2-40B4-BE49-F238E27FC236}">
                <a16:creationId xmlns:a16="http://schemas.microsoft.com/office/drawing/2014/main" id="{07916A31-E083-4D90-B1D5-5FCC19E82D63}"/>
              </a:ext>
            </a:extLst>
          </p:cNvPr>
          <p:cNvSpPr/>
          <p:nvPr/>
        </p:nvSpPr>
        <p:spPr bwMode="auto">
          <a:xfrm>
            <a:off x="6729798" y="3907913"/>
            <a:ext cx="3348873" cy="43681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pt-BR" sz="1800" b="1">
                <a:gradFill>
                  <a:gsLst>
                    <a:gs pos="0">
                      <a:srgbClr val="FFFFFF"/>
                    </a:gs>
                    <a:gs pos="100000">
                      <a:srgbClr val="FFFFFF"/>
                    </a:gs>
                  </a:gsLst>
                  <a:lin ang="5400000" scaled="0"/>
                </a:gradFill>
                <a:ea typeface="Segoe UI" pitchFamily="34" charset="0"/>
                <a:cs typeface="Segoe UI" pitchFamily="34" charset="0"/>
              </a:rPr>
              <a:t>API do Gremlin</a:t>
            </a:r>
          </a:p>
        </p:txBody>
      </p:sp>
      <p:sp>
        <p:nvSpPr>
          <p:cNvPr id="28" name="TextBox 27">
            <a:extLst>
              <a:ext uri="{FF2B5EF4-FFF2-40B4-BE49-F238E27FC236}">
                <a16:creationId xmlns:a16="http://schemas.microsoft.com/office/drawing/2014/main" id="{1EEA3CF7-5DDE-4046-AE01-7ACB5D7A1768}"/>
              </a:ext>
            </a:extLst>
          </p:cNvPr>
          <p:cNvSpPr txBox="1"/>
          <p:nvPr/>
        </p:nvSpPr>
        <p:spPr>
          <a:xfrm>
            <a:off x="6643473" y="4299679"/>
            <a:ext cx="3348873" cy="1341906"/>
          </a:xfrm>
          <a:prstGeom prst="rect">
            <a:avLst/>
          </a:prstGeom>
          <a:noFill/>
        </p:spPr>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marL="342900" marR="0" lvl="0" indent="-342900" algn="l" defTabSz="914367" rtl="0" eaLnBrk="1" fontAlgn="auto" latinLnBrk="0" hangingPunct="1">
              <a:lnSpc>
                <a:spcPct val="90000"/>
              </a:lnSpc>
              <a:spcBef>
                <a:spcPts val="0"/>
              </a:spcBef>
              <a:spcAft>
                <a:spcPts val="600"/>
              </a:spcAft>
              <a:buClrTx/>
              <a:buSzTx/>
              <a:buFont typeface="Arial"/>
              <a:buChar char="•"/>
              <a:tabLst/>
              <a:defRPr/>
            </a:pPr>
            <a:r>
              <a:rPr lang="pt-BR" sz="1400" dirty="0">
                <a:gradFill>
                  <a:gsLst>
                    <a:gs pos="2917">
                      <a:srgbClr val="000000"/>
                    </a:gs>
                    <a:gs pos="30000">
                      <a:srgbClr val="000000"/>
                    </a:gs>
                  </a:gsLst>
                  <a:lin ang="5400000" scaled="0"/>
                </a:gradFill>
                <a:latin typeface="Segoe UI"/>
                <a:cs typeface="Segoe UI"/>
              </a:rPr>
              <a:t>Usado para trabalhar com dados de </a:t>
            </a:r>
            <a:r>
              <a:rPr lang="pt-BR" sz="1400" i="1" dirty="0">
                <a:gradFill>
                  <a:gsLst>
                    <a:gs pos="2917">
                      <a:srgbClr val="000000"/>
                    </a:gs>
                    <a:gs pos="30000">
                      <a:srgbClr val="000000"/>
                    </a:gs>
                  </a:gsLst>
                  <a:lin ang="5400000" scaled="0"/>
                </a:gradFill>
                <a:latin typeface="Segoe UI"/>
                <a:cs typeface="Segoe UI"/>
              </a:rPr>
              <a:t>gráfico</a:t>
            </a:r>
          </a:p>
          <a:p>
            <a:pPr marL="342900" marR="0" lvl="0" indent="-342900" algn="l" defTabSz="914367" rtl="0" eaLnBrk="1" fontAlgn="auto" latinLnBrk="0" hangingPunct="1">
              <a:lnSpc>
                <a:spcPct val="90000"/>
              </a:lnSpc>
              <a:spcBef>
                <a:spcPts val="0"/>
              </a:spcBef>
              <a:spcAft>
                <a:spcPts val="600"/>
              </a:spcAft>
              <a:buClrTx/>
              <a:buSzTx/>
              <a:buFont typeface="Arial"/>
              <a:buChar char="•"/>
              <a:tabLst/>
              <a:defRPr/>
            </a:pPr>
            <a:r>
              <a:rPr lang="pt-BR" sz="1400" dirty="0">
                <a:gradFill>
                  <a:gsLst>
                    <a:gs pos="2917">
                      <a:srgbClr val="000000"/>
                    </a:gs>
                    <a:gs pos="30000">
                      <a:srgbClr val="000000"/>
                    </a:gs>
                  </a:gsLst>
                  <a:lin ang="5400000" scaled="0"/>
                </a:gradFill>
                <a:latin typeface="Segoe UI"/>
                <a:cs typeface="Segoe UI"/>
              </a:rPr>
              <a:t>Nós de entidade (</a:t>
            </a:r>
            <a:r>
              <a:rPr lang="pt-BR" sz="1400" i="1" dirty="0">
                <a:gradFill>
                  <a:gsLst>
                    <a:gs pos="2917">
                      <a:srgbClr val="000000"/>
                    </a:gs>
                    <a:gs pos="30000">
                      <a:srgbClr val="000000"/>
                    </a:gs>
                  </a:gsLst>
                  <a:lin ang="5400000" scaled="0"/>
                </a:gradFill>
                <a:latin typeface="Segoe UI"/>
                <a:cs typeface="Segoe UI"/>
              </a:rPr>
              <a:t>vértices</a:t>
            </a:r>
            <a:r>
              <a:rPr lang="pt-BR" sz="1400" dirty="0">
                <a:gradFill>
                  <a:gsLst>
                    <a:gs pos="2917">
                      <a:srgbClr val="000000"/>
                    </a:gs>
                    <a:gs pos="30000">
                      <a:srgbClr val="000000"/>
                    </a:gs>
                  </a:gsLst>
                  <a:lin ang="5400000" scaled="0"/>
                </a:gradFill>
                <a:latin typeface="Segoe UI"/>
                <a:cs typeface="Segoe UI"/>
              </a:rPr>
              <a:t>) são conectados por meio de relacionamentos (</a:t>
            </a:r>
            <a:r>
              <a:rPr lang="pt-BR" sz="1400" i="1" dirty="0">
                <a:gradFill>
                  <a:gsLst>
                    <a:gs pos="2917">
                      <a:srgbClr val="000000"/>
                    </a:gs>
                    <a:gs pos="30000">
                      <a:srgbClr val="000000"/>
                    </a:gs>
                  </a:gsLst>
                  <a:lin ang="5400000" scaled="0"/>
                </a:gradFill>
                <a:latin typeface="Segoe UI"/>
                <a:cs typeface="Segoe UI"/>
              </a:rPr>
              <a:t>bordas</a:t>
            </a:r>
            <a:r>
              <a:rPr lang="pt-BR" sz="1400" dirty="0">
                <a:gradFill>
                  <a:gsLst>
                    <a:gs pos="2917">
                      <a:srgbClr val="000000"/>
                    </a:gs>
                    <a:gs pos="30000">
                      <a:srgbClr val="000000"/>
                    </a:gs>
                  </a:gsLst>
                  <a:lin ang="5400000" scaled="0"/>
                </a:gradFill>
                <a:latin typeface="Segoe UI"/>
                <a:cs typeface="Segoe UI"/>
              </a:rPr>
              <a:t>)</a:t>
            </a:r>
          </a:p>
        </p:txBody>
      </p:sp>
      <p:grpSp>
        <p:nvGrpSpPr>
          <p:cNvPr id="3" name="Group 2">
            <a:extLst>
              <a:ext uri="{FF2B5EF4-FFF2-40B4-BE49-F238E27FC236}">
                <a16:creationId xmlns:a16="http://schemas.microsoft.com/office/drawing/2014/main" id="{B31A9C51-B3FD-478D-9B93-4E546882F5DA}"/>
              </a:ext>
              <a:ext uri="{C183D7F6-B498-43B3-948B-1728B52AA6E4}">
                <adec:decorative xmlns:adec="http://schemas.microsoft.com/office/drawing/2017/decorative" val="1"/>
              </a:ext>
            </a:extLst>
          </p:cNvPr>
          <p:cNvGrpSpPr/>
          <p:nvPr/>
        </p:nvGrpSpPr>
        <p:grpSpPr>
          <a:xfrm>
            <a:off x="7948548" y="5534137"/>
            <a:ext cx="2043797" cy="1029613"/>
            <a:chOff x="7552057" y="5239223"/>
            <a:chExt cx="2754698" cy="1437075"/>
          </a:xfrm>
        </p:grpSpPr>
        <p:grpSp>
          <p:nvGrpSpPr>
            <p:cNvPr id="41" name="Group 40">
              <a:extLst>
                <a:ext uri="{FF2B5EF4-FFF2-40B4-BE49-F238E27FC236}">
                  <a16:creationId xmlns:a16="http://schemas.microsoft.com/office/drawing/2014/main" id="{F7C1B2DE-235E-49E4-945E-1D3D5728C118}"/>
                </a:ext>
              </a:extLst>
            </p:cNvPr>
            <p:cNvGrpSpPr/>
            <p:nvPr/>
          </p:nvGrpSpPr>
          <p:grpSpPr>
            <a:xfrm>
              <a:off x="8670427" y="5239223"/>
              <a:ext cx="410649" cy="410649"/>
              <a:chOff x="8727526" y="5244844"/>
              <a:chExt cx="410649" cy="410649"/>
            </a:xfrm>
          </p:grpSpPr>
          <p:sp>
            <p:nvSpPr>
              <p:cNvPr id="29" name="Oval 28">
                <a:extLst>
                  <a:ext uri="{FF2B5EF4-FFF2-40B4-BE49-F238E27FC236}">
                    <a16:creationId xmlns:a16="http://schemas.microsoft.com/office/drawing/2014/main" id="{EB4FC5D5-7C55-4E7F-9A7D-7F4AAB331D51}"/>
                  </a:ext>
                </a:extLst>
              </p:cNvPr>
              <p:cNvSpPr/>
              <p:nvPr/>
            </p:nvSpPr>
            <p:spPr bwMode="auto">
              <a:xfrm>
                <a:off x="8727526" y="5244844"/>
                <a:ext cx="410649" cy="410649"/>
              </a:xfrm>
              <a:prstGeom prst="ellipse">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900" b="1" dirty="0">
                  <a:gradFill>
                    <a:gsLst>
                      <a:gs pos="0">
                        <a:srgbClr val="FFFFFF"/>
                      </a:gs>
                      <a:gs pos="100000">
                        <a:srgbClr val="FFFFFF"/>
                      </a:gs>
                    </a:gsLst>
                    <a:lin ang="5400000" scaled="0"/>
                  </a:gradFill>
                  <a:ea typeface="Segoe UI" pitchFamily="34" charset="0"/>
                  <a:cs typeface="Segoe UI" pitchFamily="34" charset="0"/>
                </a:endParaRPr>
              </a:p>
            </p:txBody>
          </p:sp>
          <p:pic>
            <p:nvPicPr>
              <p:cNvPr id="34" name="Graphic 33" descr="Funcionária com preenchimento sólido">
                <a:extLst>
                  <a:ext uri="{FF2B5EF4-FFF2-40B4-BE49-F238E27FC236}">
                    <a16:creationId xmlns:a16="http://schemas.microsoft.com/office/drawing/2014/main" id="{B6D28873-D79B-417F-AA38-C8E7065EB5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56223" y="5253736"/>
                <a:ext cx="353253" cy="353253"/>
              </a:xfrm>
              <a:prstGeom prst="rect">
                <a:avLst/>
              </a:prstGeom>
            </p:spPr>
          </p:pic>
        </p:grpSp>
        <p:sp>
          <p:nvSpPr>
            <p:cNvPr id="42" name="TextBox 41">
              <a:extLst>
                <a:ext uri="{FF2B5EF4-FFF2-40B4-BE49-F238E27FC236}">
                  <a16:creationId xmlns:a16="http://schemas.microsoft.com/office/drawing/2014/main" id="{0CA2C9AD-74A5-4BC1-9217-420B6E12743C}"/>
                </a:ext>
              </a:extLst>
            </p:cNvPr>
            <p:cNvSpPr txBox="1"/>
            <p:nvPr/>
          </p:nvSpPr>
          <p:spPr>
            <a:xfrm>
              <a:off x="8499636" y="5532728"/>
              <a:ext cx="832600" cy="447815"/>
            </a:xfrm>
            <a:prstGeom prst="rect">
              <a:avLst/>
            </a:prstGeom>
            <a:noFill/>
          </p:spPr>
          <p:txBody>
            <a:bodyPr wrap="none" lIns="182880" tIns="146304" rIns="182880" bIns="146304" rtlCol="0">
              <a:spAutoFit/>
            </a:bodyPr>
            <a:lstStyle/>
            <a:p>
              <a:pPr>
                <a:lnSpc>
                  <a:spcPct val="90000"/>
                </a:lnSpc>
                <a:spcAft>
                  <a:spcPts val="600"/>
                </a:spcAft>
              </a:pPr>
              <a:r>
                <a:rPr lang="pt-BR" sz="1100" b="1" dirty="0">
                  <a:gradFill>
                    <a:gsLst>
                      <a:gs pos="2917">
                        <a:schemeClr val="tx1"/>
                      </a:gs>
                      <a:gs pos="30000">
                        <a:schemeClr val="tx1"/>
                      </a:gs>
                    </a:gsLst>
                    <a:lin ang="5400000" scaled="0"/>
                  </a:gradFill>
                </a:rPr>
                <a:t>(1) Sue</a:t>
              </a:r>
            </a:p>
          </p:txBody>
        </p:sp>
        <p:grpSp>
          <p:nvGrpSpPr>
            <p:cNvPr id="61" name="Group 60">
              <a:extLst>
                <a:ext uri="{FF2B5EF4-FFF2-40B4-BE49-F238E27FC236}">
                  <a16:creationId xmlns:a16="http://schemas.microsoft.com/office/drawing/2014/main" id="{F263273E-9BC7-4AE0-8A7F-BE202566382F}"/>
                </a:ext>
              </a:extLst>
            </p:cNvPr>
            <p:cNvGrpSpPr/>
            <p:nvPr/>
          </p:nvGrpSpPr>
          <p:grpSpPr>
            <a:xfrm>
              <a:off x="7552057" y="5959716"/>
              <a:ext cx="843821" cy="716582"/>
              <a:chOff x="8089199" y="5918886"/>
              <a:chExt cx="843821" cy="716582"/>
            </a:xfrm>
          </p:grpSpPr>
          <p:grpSp>
            <p:nvGrpSpPr>
              <p:cNvPr id="40" name="Group 39">
                <a:extLst>
                  <a:ext uri="{FF2B5EF4-FFF2-40B4-BE49-F238E27FC236}">
                    <a16:creationId xmlns:a16="http://schemas.microsoft.com/office/drawing/2014/main" id="{FF9B79A9-EDB0-4715-A5EF-0CF84AB18838}"/>
                  </a:ext>
                </a:extLst>
              </p:cNvPr>
              <p:cNvGrpSpPr/>
              <p:nvPr/>
            </p:nvGrpSpPr>
            <p:grpSpPr>
              <a:xfrm>
                <a:off x="8259778" y="5918886"/>
                <a:ext cx="410649" cy="412966"/>
                <a:chOff x="8493738" y="5903008"/>
                <a:chExt cx="410649" cy="412966"/>
              </a:xfrm>
            </p:grpSpPr>
            <p:sp>
              <p:nvSpPr>
                <p:cNvPr id="38" name="Oval 37">
                  <a:extLst>
                    <a:ext uri="{FF2B5EF4-FFF2-40B4-BE49-F238E27FC236}">
                      <a16:creationId xmlns:a16="http://schemas.microsoft.com/office/drawing/2014/main" id="{11E39D38-28AF-4693-8358-6F1F960AEE86}"/>
                    </a:ext>
                  </a:extLst>
                </p:cNvPr>
                <p:cNvSpPr/>
                <p:nvPr/>
              </p:nvSpPr>
              <p:spPr bwMode="auto">
                <a:xfrm>
                  <a:off x="8493738" y="5905325"/>
                  <a:ext cx="410649" cy="410649"/>
                </a:xfrm>
                <a:prstGeom prst="ellipse">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900" b="1" dirty="0">
                    <a:gradFill>
                      <a:gsLst>
                        <a:gs pos="0">
                          <a:srgbClr val="FFFFFF"/>
                        </a:gs>
                        <a:gs pos="100000">
                          <a:srgbClr val="FFFFFF"/>
                        </a:gs>
                      </a:gsLst>
                      <a:lin ang="5400000" scaled="0"/>
                    </a:gradFill>
                    <a:ea typeface="Segoe UI" pitchFamily="34" charset="0"/>
                    <a:cs typeface="Segoe UI" pitchFamily="34" charset="0"/>
                  </a:endParaRPr>
                </a:p>
              </p:txBody>
            </p:sp>
            <p:pic>
              <p:nvPicPr>
                <p:cNvPr id="32" name="Graphic 31" descr="Funcionário com preenchimento sólido">
                  <a:extLst>
                    <a:ext uri="{FF2B5EF4-FFF2-40B4-BE49-F238E27FC236}">
                      <a16:creationId xmlns:a16="http://schemas.microsoft.com/office/drawing/2014/main" id="{57CD380D-D1D8-42F3-BDDD-8E4F3BF997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17005" y="5903008"/>
                  <a:ext cx="363661" cy="363661"/>
                </a:xfrm>
                <a:prstGeom prst="rect">
                  <a:avLst/>
                </a:prstGeom>
              </p:spPr>
            </p:pic>
          </p:grpSp>
          <p:sp>
            <p:nvSpPr>
              <p:cNvPr id="43" name="TextBox 42">
                <a:extLst>
                  <a:ext uri="{FF2B5EF4-FFF2-40B4-BE49-F238E27FC236}">
                    <a16:creationId xmlns:a16="http://schemas.microsoft.com/office/drawing/2014/main" id="{791F736A-5E8C-4D76-8970-5A3C6CC44834}"/>
                  </a:ext>
                </a:extLst>
              </p:cNvPr>
              <p:cNvSpPr txBox="1"/>
              <p:nvPr/>
            </p:nvSpPr>
            <p:spPr>
              <a:xfrm>
                <a:off x="8089199" y="6187653"/>
                <a:ext cx="843821" cy="447815"/>
              </a:xfrm>
              <a:prstGeom prst="rect">
                <a:avLst/>
              </a:prstGeom>
              <a:noFill/>
            </p:spPr>
            <p:txBody>
              <a:bodyPr wrap="none" lIns="182880" tIns="146304" rIns="182880" bIns="146304" rtlCol="0">
                <a:spAutoFit/>
              </a:bodyPr>
              <a:lstStyle/>
              <a:p>
                <a:pPr>
                  <a:lnSpc>
                    <a:spcPct val="90000"/>
                  </a:lnSpc>
                  <a:spcAft>
                    <a:spcPts val="600"/>
                  </a:spcAft>
                </a:pPr>
                <a:r>
                  <a:rPr lang="pt-BR" sz="1100" b="1">
                    <a:gradFill>
                      <a:gsLst>
                        <a:gs pos="2917">
                          <a:schemeClr val="tx1"/>
                        </a:gs>
                        <a:gs pos="30000">
                          <a:schemeClr val="tx1"/>
                        </a:gs>
                      </a:gsLst>
                      <a:lin ang="5400000" scaled="0"/>
                    </a:gradFill>
                  </a:rPr>
                  <a:t>(2) Ben</a:t>
                </a:r>
              </a:p>
            </p:txBody>
          </p:sp>
        </p:grpSp>
        <p:grpSp>
          <p:nvGrpSpPr>
            <p:cNvPr id="63" name="Group 62">
              <a:extLst>
                <a:ext uri="{FF2B5EF4-FFF2-40B4-BE49-F238E27FC236}">
                  <a16:creationId xmlns:a16="http://schemas.microsoft.com/office/drawing/2014/main" id="{11EDF100-2348-4BBB-9501-4EAB261B6043}"/>
                </a:ext>
              </a:extLst>
            </p:cNvPr>
            <p:cNvGrpSpPr/>
            <p:nvPr/>
          </p:nvGrpSpPr>
          <p:grpSpPr>
            <a:xfrm>
              <a:off x="9065390" y="5773844"/>
              <a:ext cx="1241365" cy="742694"/>
              <a:chOff x="9063705" y="5592169"/>
              <a:chExt cx="1241365" cy="742694"/>
            </a:xfrm>
          </p:grpSpPr>
          <p:grpSp>
            <p:nvGrpSpPr>
              <p:cNvPr id="39" name="Group 38">
                <a:extLst>
                  <a:ext uri="{FF2B5EF4-FFF2-40B4-BE49-F238E27FC236}">
                    <a16:creationId xmlns:a16="http://schemas.microsoft.com/office/drawing/2014/main" id="{81709029-932C-4905-B3EF-A57A88B538CC}"/>
                  </a:ext>
                </a:extLst>
              </p:cNvPr>
              <p:cNvGrpSpPr/>
              <p:nvPr/>
            </p:nvGrpSpPr>
            <p:grpSpPr>
              <a:xfrm>
                <a:off x="9459140" y="5592169"/>
                <a:ext cx="410649" cy="410649"/>
                <a:chOff x="9364286" y="5646537"/>
                <a:chExt cx="410649" cy="410649"/>
              </a:xfrm>
            </p:grpSpPr>
            <p:sp>
              <p:nvSpPr>
                <p:cNvPr id="37" name="Oval 36">
                  <a:extLst>
                    <a:ext uri="{FF2B5EF4-FFF2-40B4-BE49-F238E27FC236}">
                      <a16:creationId xmlns:a16="http://schemas.microsoft.com/office/drawing/2014/main" id="{E7E0EC1F-B93A-4914-B81B-15FA5B61E8EE}"/>
                    </a:ext>
                  </a:extLst>
                </p:cNvPr>
                <p:cNvSpPr/>
                <p:nvPr/>
              </p:nvSpPr>
              <p:spPr bwMode="auto">
                <a:xfrm>
                  <a:off x="9364286" y="5646537"/>
                  <a:ext cx="410649" cy="410649"/>
                </a:xfrm>
                <a:prstGeom prst="ellipse">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900" b="1" dirty="0">
                    <a:gradFill>
                      <a:gsLst>
                        <a:gs pos="0">
                          <a:srgbClr val="FFFFFF"/>
                        </a:gs>
                        <a:gs pos="100000">
                          <a:srgbClr val="FFFFFF"/>
                        </a:gs>
                      </a:gsLst>
                      <a:lin ang="5400000" scaled="0"/>
                    </a:gradFill>
                    <a:ea typeface="Segoe UI" pitchFamily="34" charset="0"/>
                    <a:cs typeface="Segoe UI" pitchFamily="34" charset="0"/>
                  </a:endParaRPr>
                </a:p>
              </p:txBody>
            </p:sp>
            <p:pic>
              <p:nvPicPr>
                <p:cNvPr id="36" name="Graphic 35" descr="Ferramentas com preenchimento sólido">
                  <a:extLst>
                    <a:ext uri="{FF2B5EF4-FFF2-40B4-BE49-F238E27FC236}">
                      <a16:creationId xmlns:a16="http://schemas.microsoft.com/office/drawing/2014/main" id="{B64D56F5-93C0-4F23-97C0-F6FF1833F2D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47430" y="5714034"/>
                  <a:ext cx="244359" cy="244359"/>
                </a:xfrm>
                <a:prstGeom prst="rect">
                  <a:avLst/>
                </a:prstGeom>
              </p:spPr>
            </p:pic>
          </p:grpSp>
          <p:sp>
            <p:nvSpPr>
              <p:cNvPr id="44" name="TextBox 43">
                <a:extLst>
                  <a:ext uri="{FF2B5EF4-FFF2-40B4-BE49-F238E27FC236}">
                    <a16:creationId xmlns:a16="http://schemas.microsoft.com/office/drawing/2014/main" id="{BE481D32-B737-4C2A-AE56-E6C0440A0C58}"/>
                  </a:ext>
                </a:extLst>
              </p:cNvPr>
              <p:cNvSpPr txBox="1"/>
              <p:nvPr/>
            </p:nvSpPr>
            <p:spPr>
              <a:xfrm>
                <a:off x="9063705" y="5887048"/>
                <a:ext cx="1241365" cy="447815"/>
              </a:xfrm>
              <a:prstGeom prst="rect">
                <a:avLst/>
              </a:prstGeom>
              <a:noFill/>
            </p:spPr>
            <p:txBody>
              <a:bodyPr wrap="none" lIns="182880" tIns="146304" rIns="182880" bIns="146304" rtlCol="0">
                <a:spAutoFit/>
              </a:bodyPr>
              <a:lstStyle/>
              <a:p>
                <a:pPr>
                  <a:lnSpc>
                    <a:spcPct val="90000"/>
                  </a:lnSpc>
                  <a:spcAft>
                    <a:spcPts val="600"/>
                  </a:spcAft>
                </a:pPr>
                <a:r>
                  <a:rPr lang="pt-BR" sz="1100" b="1" dirty="0">
                    <a:gradFill>
                      <a:gsLst>
                        <a:gs pos="2917">
                          <a:schemeClr val="tx1"/>
                        </a:gs>
                        <a:gs pos="30000">
                          <a:schemeClr val="tx1"/>
                        </a:gs>
                      </a:gsLst>
                      <a:lin ang="5400000" scaled="0"/>
                    </a:gradFill>
                  </a:rPr>
                  <a:t>(h) Hardware</a:t>
                </a:r>
              </a:p>
            </p:txBody>
          </p:sp>
        </p:grpSp>
        <p:cxnSp>
          <p:nvCxnSpPr>
            <p:cNvPr id="46" name="Straight Arrow Connector 45">
              <a:extLst>
                <a:ext uri="{FF2B5EF4-FFF2-40B4-BE49-F238E27FC236}">
                  <a16:creationId xmlns:a16="http://schemas.microsoft.com/office/drawing/2014/main" id="{7B16A0C0-6BF5-406F-8106-1B71BD060BD2}"/>
                </a:ext>
              </a:extLst>
            </p:cNvPr>
            <p:cNvCxnSpPr>
              <a:cxnSpLocks/>
            </p:cNvCxnSpPr>
            <p:nvPr/>
          </p:nvCxnSpPr>
          <p:spPr>
            <a:xfrm flipV="1">
              <a:off x="8080598" y="5540004"/>
              <a:ext cx="636555" cy="50356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7D88AE0-CDD1-441E-980E-B5436EF3EB17}"/>
                </a:ext>
              </a:extLst>
            </p:cNvPr>
            <p:cNvCxnSpPr>
              <a:cxnSpLocks/>
              <a:stCxn id="29" idx="6"/>
              <a:endCxn id="37" idx="1"/>
            </p:cNvCxnSpPr>
            <p:nvPr/>
          </p:nvCxnSpPr>
          <p:spPr>
            <a:xfrm>
              <a:off x="9081076" y="5444548"/>
              <a:ext cx="439887" cy="389434"/>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6778C1F-EC73-4D42-A7B3-011E61D59FB0}"/>
                </a:ext>
              </a:extLst>
            </p:cNvPr>
            <p:cNvCxnSpPr>
              <a:cxnSpLocks/>
              <a:stCxn id="38" idx="6"/>
              <a:endCxn id="37" idx="2"/>
            </p:cNvCxnSpPr>
            <p:nvPr/>
          </p:nvCxnSpPr>
          <p:spPr>
            <a:xfrm flipV="1">
              <a:off x="8133285" y="5979169"/>
              <a:ext cx="1327540" cy="18818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4FC132E-7E36-43C6-8AEE-38BC62DB99F8}"/>
                </a:ext>
              </a:extLst>
            </p:cNvPr>
            <p:cNvSpPr txBox="1"/>
            <p:nvPr/>
          </p:nvSpPr>
          <p:spPr>
            <a:xfrm rot="19408945">
              <a:off x="7730781" y="5443465"/>
              <a:ext cx="1141651" cy="547710"/>
            </a:xfrm>
            <a:prstGeom prst="rect">
              <a:avLst/>
            </a:prstGeom>
            <a:noFill/>
          </p:spPr>
          <p:txBody>
            <a:bodyPr wrap="none" lIns="182880" tIns="146304" rIns="182880" bIns="146304" rtlCol="0">
              <a:spAutoFit/>
            </a:bodyPr>
            <a:lstStyle/>
            <a:p>
              <a:pPr>
                <a:lnSpc>
                  <a:spcPct val="90000"/>
                </a:lnSpc>
                <a:spcAft>
                  <a:spcPts val="600"/>
                </a:spcAft>
              </a:pPr>
              <a:r>
                <a:rPr lang="pt-BR" sz="700" dirty="0">
                  <a:gradFill>
                    <a:gsLst>
                      <a:gs pos="2917">
                        <a:schemeClr val="tx1"/>
                      </a:gs>
                      <a:gs pos="30000">
                        <a:schemeClr val="tx1"/>
                      </a:gs>
                    </a:gsLst>
                    <a:lin ang="5400000" scaled="0"/>
                  </a:gradFill>
                </a:rPr>
                <a:t>reporta-se a</a:t>
              </a:r>
            </a:p>
          </p:txBody>
        </p:sp>
        <p:sp>
          <p:nvSpPr>
            <p:cNvPr id="59" name="TextBox 58">
              <a:extLst>
                <a:ext uri="{FF2B5EF4-FFF2-40B4-BE49-F238E27FC236}">
                  <a16:creationId xmlns:a16="http://schemas.microsoft.com/office/drawing/2014/main" id="{19512AAE-2C1D-4B1E-A439-B48FBA3019C3}"/>
                </a:ext>
              </a:extLst>
            </p:cNvPr>
            <p:cNvSpPr txBox="1"/>
            <p:nvPr/>
          </p:nvSpPr>
          <p:spPr>
            <a:xfrm rot="2484037">
              <a:off x="8770962" y="5258872"/>
              <a:ext cx="1130848" cy="547710"/>
            </a:xfrm>
            <a:prstGeom prst="rect">
              <a:avLst/>
            </a:prstGeom>
            <a:noFill/>
          </p:spPr>
          <p:txBody>
            <a:bodyPr wrap="none" lIns="182880" tIns="146304" rIns="182880" bIns="146304" rtlCol="0">
              <a:spAutoFit/>
            </a:bodyPr>
            <a:lstStyle/>
            <a:p>
              <a:pPr>
                <a:lnSpc>
                  <a:spcPct val="90000"/>
                </a:lnSpc>
                <a:spcAft>
                  <a:spcPts val="600"/>
                </a:spcAft>
              </a:pPr>
              <a:r>
                <a:rPr lang="pt-BR" sz="700" dirty="0">
                  <a:gradFill>
                    <a:gsLst>
                      <a:gs pos="2917">
                        <a:schemeClr val="tx1"/>
                      </a:gs>
                      <a:gs pos="30000">
                        <a:schemeClr val="tx1"/>
                      </a:gs>
                    </a:gsLst>
                    <a:lin ang="5400000" scaled="0"/>
                  </a:gradFill>
                </a:rPr>
                <a:t>trabalha em</a:t>
              </a:r>
            </a:p>
          </p:txBody>
        </p:sp>
        <p:sp>
          <p:nvSpPr>
            <p:cNvPr id="60" name="TextBox 59">
              <a:extLst>
                <a:ext uri="{FF2B5EF4-FFF2-40B4-BE49-F238E27FC236}">
                  <a16:creationId xmlns:a16="http://schemas.microsoft.com/office/drawing/2014/main" id="{01908555-E698-427E-99E7-C700737EF998}"/>
                </a:ext>
              </a:extLst>
            </p:cNvPr>
            <p:cNvSpPr txBox="1"/>
            <p:nvPr/>
          </p:nvSpPr>
          <p:spPr>
            <a:xfrm rot="21217702">
              <a:off x="8292658" y="5883876"/>
              <a:ext cx="1130848" cy="547710"/>
            </a:xfrm>
            <a:prstGeom prst="rect">
              <a:avLst/>
            </a:prstGeom>
            <a:noFill/>
          </p:spPr>
          <p:txBody>
            <a:bodyPr wrap="none" lIns="182880" tIns="146304" rIns="182880" bIns="146304" rtlCol="0">
              <a:spAutoFit/>
            </a:bodyPr>
            <a:lstStyle/>
            <a:p>
              <a:pPr>
                <a:lnSpc>
                  <a:spcPct val="90000"/>
                </a:lnSpc>
                <a:spcAft>
                  <a:spcPts val="600"/>
                </a:spcAft>
              </a:pPr>
              <a:r>
                <a:rPr lang="pt-BR" sz="700" dirty="0">
                  <a:gradFill>
                    <a:gsLst>
                      <a:gs pos="2917">
                        <a:schemeClr val="tx1"/>
                      </a:gs>
                      <a:gs pos="30000">
                        <a:schemeClr val="tx1"/>
                      </a:gs>
                    </a:gsLst>
                    <a:lin ang="5400000" scaled="0"/>
                  </a:gradFill>
                </a:rPr>
                <a:t>trabalha em</a:t>
              </a:r>
            </a:p>
          </p:txBody>
        </p:sp>
      </p:grpSp>
    </p:spTree>
    <p:extLst>
      <p:ext uri="{BB962C8B-B14F-4D97-AF65-F5344CB8AC3E}">
        <p14:creationId xmlns:p14="http://schemas.microsoft.com/office/powerpoint/2010/main" val="208660488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0A9EB-DA52-48ED-85C7-02BD39A4845E}"/>
              </a:ext>
            </a:extLst>
          </p:cNvPr>
          <p:cNvSpPr>
            <a:spLocks noGrp="1"/>
          </p:cNvSpPr>
          <p:nvPr>
            <p:ph type="title"/>
          </p:nvPr>
        </p:nvSpPr>
        <p:spPr/>
        <p:txBody>
          <a:bodyPr/>
          <a:lstStyle/>
          <a:p>
            <a:pPr>
              <a:lnSpc>
                <a:spcPct val="100000"/>
              </a:lnSpc>
            </a:pPr>
            <a:r>
              <a:rPr lang="pt-BR" dirty="0"/>
              <a:t>Laboratório: Explorar o Azure Cosmos DB</a:t>
            </a:r>
          </a:p>
        </p:txBody>
      </p:sp>
      <p:sp>
        <p:nvSpPr>
          <p:cNvPr id="4" name="Text Placeholder 3">
            <a:extLst>
              <a:ext uri="{FF2B5EF4-FFF2-40B4-BE49-F238E27FC236}">
                <a16:creationId xmlns:a16="http://schemas.microsoft.com/office/drawing/2014/main" id="{AEACA6E0-4916-4A12-B9FF-F85D80BE9013}"/>
              </a:ext>
            </a:extLst>
          </p:cNvPr>
          <p:cNvSpPr txBox="1">
            <a:spLocks/>
          </p:cNvSpPr>
          <p:nvPr/>
        </p:nvSpPr>
        <p:spPr>
          <a:xfrm>
            <a:off x="1139687" y="3123727"/>
            <a:ext cx="10243929" cy="2170516"/>
          </a:xfrm>
          <a:prstGeom prst="rect">
            <a:avLst/>
          </a:prstGeom>
          <a:ln w="28575">
            <a:solidFill>
              <a:srgbClr val="0078D4"/>
            </a:solidFill>
          </a:ln>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pt-BR" sz="2400" dirty="0">
                <a:gradFill>
                  <a:gsLst>
                    <a:gs pos="2917">
                      <a:srgbClr val="1A1A1A"/>
                    </a:gs>
                    <a:gs pos="30000">
                      <a:srgbClr val="1A1A1A"/>
                    </a:gs>
                  </a:gsLst>
                  <a:lin ang="5400000" scaled="0"/>
                </a:gradFill>
                <a:latin typeface="Segoe UI"/>
              </a:rPr>
              <a:t>Inicie a máquina virtual para este laboratório</a:t>
            </a:r>
          </a:p>
          <a:p>
            <a:pPr marL="457200" lvl="2" defTabSz="914400">
              <a:spcBef>
                <a:spcPts val="0"/>
              </a:spcBef>
              <a:spcAft>
                <a:spcPts val="0"/>
              </a:spcAft>
              <a:buSzTx/>
              <a:defRPr/>
            </a:pPr>
            <a:r>
              <a:rPr kumimoji="0" lang="pt-BR" sz="1647" b="0" i="0" u="none" strike="noStrike" cap="none" normalizeH="0" baseline="0" noProof="0" dirty="0">
                <a:ln>
                  <a:noFill/>
                </a:ln>
                <a:gradFill>
                  <a:gsLst>
                    <a:gs pos="2917">
                      <a:srgbClr val="1A1A1A"/>
                    </a:gs>
                    <a:gs pos="30000">
                      <a:srgbClr val="1A1A1A"/>
                    </a:gs>
                  </a:gsLst>
                  <a:lin ang="5400000" scaled="0"/>
                </a:gradFill>
                <a:uLnTx/>
                <a:uFillTx/>
                <a:latin typeface="Segoe UI"/>
                <a:ea typeface="+mn-ea"/>
                <a:cs typeface="+mn-cs"/>
              </a:rPr>
              <a:t>ou acesse a página de exercícios em </a:t>
            </a:r>
            <a:r>
              <a:rPr kumimoji="0" lang="pt-BR" sz="1647" b="0" i="0" u="none" strike="noStrike" cap="none" normalizeH="0" baseline="0" noProof="0" dirty="0">
                <a:ln>
                  <a:noFill/>
                </a:ln>
                <a:gradFill>
                  <a:gsLst>
                    <a:gs pos="2917">
                      <a:srgbClr val="1A1A1A"/>
                    </a:gs>
                    <a:gs pos="30000">
                      <a:srgbClr val="1A1A1A"/>
                    </a:gs>
                  </a:gsLst>
                  <a:lin ang="5400000" scaled="0"/>
                </a:gradFill>
                <a:uLnTx/>
                <a:uFillTx/>
                <a:latin typeface="Segoe UI"/>
                <a:ea typeface="+mn-ea"/>
                <a:cs typeface="+mn-cs"/>
                <a:hlinkClick r:id="rId3"/>
              </a:rPr>
              <a:t>https://aka.ms/dp900-cosmos-lab</a:t>
            </a:r>
            <a:r>
              <a:rPr lang="pt-BR" sz="1647" dirty="0">
                <a:gradFill>
                  <a:gsLst>
                    <a:gs pos="2917">
                      <a:srgbClr val="1A1A1A"/>
                    </a:gs>
                    <a:gs pos="30000">
                      <a:srgbClr val="1A1A1A"/>
                    </a:gs>
                  </a:gsLst>
                  <a:lin ang="5400000" scaled="0"/>
                </a:gradFill>
                <a:latin typeface="Segoe UI"/>
                <a:ea typeface="+mn-ea"/>
                <a:cs typeface="+mn-cs"/>
              </a:rPr>
              <a:t>  </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pt-BR" sz="2400" b="0" i="0" u="none" strike="noStrike" cap="none" normalizeH="0" baseline="0" noProof="0" dirty="0">
                <a:ln>
                  <a:noFill/>
                </a:ln>
                <a:gradFill>
                  <a:gsLst>
                    <a:gs pos="2917">
                      <a:srgbClr val="1A1A1A"/>
                    </a:gs>
                    <a:gs pos="30000">
                      <a:srgbClr val="1A1A1A"/>
                    </a:gs>
                  </a:gsLst>
                  <a:lin ang="5400000" scaled="0"/>
                </a:gradFill>
                <a:uLnTx/>
                <a:uFillTx/>
                <a:latin typeface="Segoe UI"/>
                <a:ea typeface="+mn-ea"/>
                <a:cs typeface="+mn-cs"/>
              </a:rPr>
              <a:t>Siga as instruções para concluir o exercício no Microsoft Learn</a:t>
            </a:r>
          </a:p>
          <a:p>
            <a:pPr marL="457200" lvl="2" defTabSz="914400">
              <a:spcBef>
                <a:spcPts val="0"/>
              </a:spcBef>
              <a:spcAft>
                <a:spcPts val="0"/>
              </a:spcAft>
              <a:buSzTx/>
              <a:defRPr/>
            </a:pPr>
            <a:r>
              <a:rPr lang="pt-BR" sz="1647" dirty="0">
                <a:gradFill>
                  <a:gsLst>
                    <a:gs pos="2917">
                      <a:srgbClr val="1A1A1A"/>
                    </a:gs>
                    <a:gs pos="30000">
                      <a:srgbClr val="1A1A1A"/>
                    </a:gs>
                  </a:gsLst>
                  <a:lin ang="5400000" scaled="0"/>
                </a:gradFill>
                <a:latin typeface="Segoe UI"/>
                <a:ea typeface="+mn-ea"/>
                <a:cs typeface="+mn-cs"/>
              </a:rPr>
              <a:t>Use a assinatura do Azure fornecida para este laboratório</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0" cap="none" spc="-49"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p:txBody>
      </p:sp>
      <p:sp>
        <p:nvSpPr>
          <p:cNvPr id="6" name="Text Placeholder 1">
            <a:extLst>
              <a:ext uri="{FF2B5EF4-FFF2-40B4-BE49-F238E27FC236}">
                <a16:creationId xmlns:a16="http://schemas.microsoft.com/office/drawing/2014/main" id="{1554EA80-957F-422C-AA9C-941A4D96E10C}"/>
              </a:ext>
            </a:extLst>
          </p:cNvPr>
          <p:cNvSpPr txBox="1">
            <a:spLocks/>
          </p:cNvSpPr>
          <p:nvPr/>
        </p:nvSpPr>
        <p:spPr>
          <a:xfrm>
            <a:off x="586740" y="1759228"/>
            <a:ext cx="11018520"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392"/>
              </a:spcBef>
              <a:spcAft>
                <a:spcPts val="588"/>
              </a:spcAft>
              <a:buClrTx/>
              <a:buSzPct val="90000"/>
              <a:buFont typeface="Wingdings" panose="05000000000000000000" pitchFamily="2" charset="2"/>
              <a:buNone/>
              <a:tabLst/>
              <a:defRPr/>
            </a:pPr>
            <a:r>
              <a:rPr kumimoji="0" lang="pt-BR" sz="2400" b="0" i="0" u="none" strike="noStrike" cap="none" normalizeH="0" baseline="0" noProof="0">
                <a:ln>
                  <a:noFill/>
                </a:ln>
                <a:gradFill>
                  <a:gsLst>
                    <a:gs pos="1250">
                      <a:srgbClr val="1A1A1A"/>
                    </a:gs>
                    <a:gs pos="100000">
                      <a:srgbClr val="1A1A1A"/>
                    </a:gs>
                  </a:gsLst>
                  <a:lin ang="5400000" scaled="0"/>
                </a:gradFill>
                <a:uLnTx/>
                <a:uFillTx/>
                <a:latin typeface="Segoe UI Semilight" panose="020B0402040204020203" pitchFamily="34" charset="0"/>
                <a:ea typeface="+mn-ea"/>
                <a:cs typeface="Segoe UI Semilight" panose="020B0402040204020203" pitchFamily="34" charset="0"/>
              </a:rPr>
              <a:t>Neste laboratório, você provisionará e usará o Azure Cosmos DB</a:t>
            </a:r>
          </a:p>
        </p:txBody>
      </p:sp>
      <p:grpSp>
        <p:nvGrpSpPr>
          <p:cNvPr id="5" name="Group 4" descr="Ícone de três pontos e formas em V apontando para fora nos lados esquerdo e direito">
            <a:extLst>
              <a:ext uri="{FF2B5EF4-FFF2-40B4-BE49-F238E27FC236}">
                <a16:creationId xmlns:a16="http://schemas.microsoft.com/office/drawing/2014/main" id="{79E2ADF2-4C00-4E12-82F6-DD1B479C63D0}"/>
              </a:ext>
            </a:extLst>
          </p:cNvPr>
          <p:cNvGrpSpPr/>
          <p:nvPr/>
        </p:nvGrpSpPr>
        <p:grpSpPr>
          <a:xfrm>
            <a:off x="10616413" y="4592011"/>
            <a:ext cx="702132" cy="702232"/>
            <a:chOff x="3088645" y="5729498"/>
            <a:chExt cx="648328" cy="648420"/>
          </a:xfrm>
        </p:grpSpPr>
        <p:grpSp>
          <p:nvGrpSpPr>
            <p:cNvPr id="7" name="Group 6">
              <a:extLst>
                <a:ext uri="{FF2B5EF4-FFF2-40B4-BE49-F238E27FC236}">
                  <a16:creationId xmlns:a16="http://schemas.microsoft.com/office/drawing/2014/main" id="{794A9051-F33C-4FF7-879F-9FFFCFF0701C}"/>
                </a:ext>
                <a:ext uri="{C183D7F6-B498-43B3-948B-1728B52AA6E4}">
                  <adec:decorative xmlns:adec="http://schemas.microsoft.com/office/drawing/2017/decorative" val="1"/>
                </a:ext>
              </a:extLst>
            </p:cNvPr>
            <p:cNvGrpSpPr/>
            <p:nvPr/>
          </p:nvGrpSpPr>
          <p:grpSpPr>
            <a:xfrm>
              <a:off x="3088645" y="5729498"/>
              <a:ext cx="648328" cy="648420"/>
              <a:chOff x="7962901" y="3032919"/>
              <a:chExt cx="981074" cy="981076"/>
            </a:xfrm>
          </p:grpSpPr>
          <p:sp>
            <p:nvSpPr>
              <p:cNvPr id="9" name="Freeform 5">
                <a:extLst>
                  <a:ext uri="{FF2B5EF4-FFF2-40B4-BE49-F238E27FC236}">
                    <a16:creationId xmlns:a16="http://schemas.microsoft.com/office/drawing/2014/main" id="{11C7CFD4-FFAB-4667-8406-3D44CBE218E0}"/>
                  </a:ext>
                </a:extLst>
              </p:cNvPr>
              <p:cNvSpPr>
                <a:spLocks/>
              </p:cNvSpPr>
              <p:nvPr/>
            </p:nvSpPr>
            <p:spPr bwMode="auto">
              <a:xfrm>
                <a:off x="7962901" y="3032919"/>
                <a:ext cx="981074" cy="981076"/>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 name="Freeform 6">
                <a:extLst>
                  <a:ext uri="{FF2B5EF4-FFF2-40B4-BE49-F238E27FC236}">
                    <a16:creationId xmlns:a16="http://schemas.microsoft.com/office/drawing/2014/main" id="{336AB7AC-0C9B-419D-B2B1-13D55121ACC5}"/>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Ícone de três pontos e formas em V apontando para fora nos lados esquerdo e direito">
              <a:extLst>
                <a:ext uri="{FF2B5EF4-FFF2-40B4-BE49-F238E27FC236}">
                  <a16:creationId xmlns:a16="http://schemas.microsoft.com/office/drawing/2014/main" id="{95E61FB8-FD8E-4D63-BAE8-72D14CCE5921}"/>
                </a:ext>
              </a:extLst>
            </p:cNvPr>
            <p:cNvPicPr>
              <a:picLocks noChangeAspect="1"/>
            </p:cNvPicPr>
            <p:nvPr/>
          </p:nvPicPr>
          <p:blipFill>
            <a:blip r:embed="rId4"/>
            <a:stretch>
              <a:fillRect/>
            </a:stretch>
          </p:blipFill>
          <p:spPr>
            <a:xfrm>
              <a:off x="3184209" y="5952822"/>
              <a:ext cx="457200" cy="201773"/>
            </a:xfrm>
            <a:prstGeom prst="rect">
              <a:avLst/>
            </a:prstGeom>
          </p:spPr>
        </p:pic>
      </p:grpSp>
    </p:spTree>
    <p:extLst>
      <p:ext uri="{BB962C8B-B14F-4D97-AF65-F5344CB8AC3E}">
        <p14:creationId xmlns:p14="http://schemas.microsoft.com/office/powerpoint/2010/main" val="348475210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descr="Ícone de um documento"/>
          <p:cNvSpPr>
            <a:spLocks noGrp="1"/>
          </p:cNvSpPr>
          <p:nvPr>
            <p:ph type="title"/>
          </p:nvPr>
        </p:nvSpPr>
        <p:spPr/>
        <p:txBody>
          <a:bodyPr/>
          <a:lstStyle/>
          <a:p>
            <a:pPr>
              <a:lnSpc>
                <a:spcPct val="100000"/>
              </a:lnSpc>
            </a:pPr>
            <a:r>
              <a:rPr lang="pt-BR" dirty="0"/>
              <a:t>Lição 2: Verificação de conhecimento</a:t>
            </a:r>
          </a:p>
        </p:txBody>
      </p:sp>
      <p:sp>
        <p:nvSpPr>
          <p:cNvPr id="40" name="TextBox 39">
            <a:extLst>
              <a:ext uri="{FF2B5EF4-FFF2-40B4-BE49-F238E27FC236}">
                <a16:creationId xmlns:a16="http://schemas.microsoft.com/office/drawing/2014/main" id="{3BA1F15F-4D29-4062-98DD-AB6AFB989835}"/>
              </a:ext>
            </a:extLst>
          </p:cNvPr>
          <p:cNvSpPr txBox="1"/>
          <p:nvPr/>
        </p:nvSpPr>
        <p:spPr>
          <a:xfrm>
            <a:off x="1729344" y="1601321"/>
            <a:ext cx="10113905" cy="1007968"/>
          </a:xfrm>
          <a:prstGeom prst="rect">
            <a:avLst/>
          </a:prstGeom>
          <a:noFill/>
        </p:spPr>
        <p:txBody>
          <a:bodyPr wrap="square" lIns="0" tIns="0" rIns="0" bIns="0">
            <a:spAutoFit/>
          </a:bodyPr>
          <a:lstStyle/>
          <a:p>
            <a:pPr>
              <a:spcAft>
                <a:spcPts val="294"/>
              </a:spcAft>
              <a:defRPr/>
            </a:pPr>
            <a:r>
              <a:rPr lang="pt-BR" sz="1600" dirty="0">
                <a:latin typeface="+mj-lt"/>
              </a:rPr>
              <a:t>Qual API você deve usar para armazenar e consultar documentos JSON no Azure Cosmos DB?</a:t>
            </a:r>
          </a:p>
          <a:p>
            <a:pPr marL="336145" indent="-336145">
              <a:spcAft>
                <a:spcPts val="294"/>
              </a:spcAft>
              <a:buFont typeface="Wingdings" panose="05000000000000000000" pitchFamily="2" charset="2"/>
              <a:buChar char="q"/>
              <a:defRPr/>
            </a:pPr>
            <a:r>
              <a:rPr lang="pt-BR" sz="1400" dirty="0"/>
              <a:t>API do Core (SQL)</a:t>
            </a:r>
          </a:p>
          <a:p>
            <a:pPr marL="336145" indent="-336145">
              <a:spcAft>
                <a:spcPts val="294"/>
              </a:spcAft>
              <a:buFont typeface="Wingdings" panose="05000000000000000000" pitchFamily="2" charset="2"/>
              <a:buChar char="q"/>
              <a:defRPr/>
            </a:pPr>
            <a:r>
              <a:rPr lang="pt-BR" sz="1400" dirty="0"/>
              <a:t>API do Cassandra</a:t>
            </a:r>
          </a:p>
          <a:p>
            <a:pPr marL="336145" indent="-336145">
              <a:spcAft>
                <a:spcPts val="294"/>
              </a:spcAft>
              <a:buFont typeface="Wingdings" panose="05000000000000000000" pitchFamily="2" charset="2"/>
              <a:buChar char="q"/>
              <a:defRPr/>
            </a:pPr>
            <a:r>
              <a:rPr lang="pt-BR" sz="1400" dirty="0"/>
              <a:t>API de Tabela</a:t>
            </a:r>
          </a:p>
        </p:txBody>
      </p:sp>
      <p:sp>
        <p:nvSpPr>
          <p:cNvPr id="6" name="Graphic 26" descr="Marca de seleção em chave de partição e chave de linha">
            <a:extLst>
              <a:ext uri="{FF2B5EF4-FFF2-40B4-BE49-F238E27FC236}">
                <a16:creationId xmlns:a16="http://schemas.microsoft.com/office/drawing/2014/main" id="{7D05BC2A-9C6E-43B0-8D7F-ECDE30924359}"/>
              </a:ext>
            </a:extLst>
          </p:cNvPr>
          <p:cNvSpPr/>
          <p:nvPr/>
        </p:nvSpPr>
        <p:spPr>
          <a:xfrm>
            <a:off x="1729344" y="1879750"/>
            <a:ext cx="225870" cy="158646"/>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sz="1730" dirty="0"/>
          </a:p>
        </p:txBody>
      </p:sp>
      <p:cxnSp>
        <p:nvCxnSpPr>
          <p:cNvPr id="12" name="Straight Connector 11">
            <a:extLst>
              <a:ext uri="{FF2B5EF4-FFF2-40B4-BE49-F238E27FC236}">
                <a16:creationId xmlns:a16="http://schemas.microsoft.com/office/drawing/2014/main" id="{8638AAB1-0E91-4186-AED1-38EFA34D41C8}"/>
              </a:ext>
              <a:ext uri="{C183D7F6-B498-43B3-948B-1728B52AA6E4}">
                <adec:decorative xmlns:adec="http://schemas.microsoft.com/office/drawing/2017/decorative" val="1"/>
              </a:ext>
            </a:extLst>
          </p:cNvPr>
          <p:cNvCxnSpPr>
            <a:cxnSpLocks/>
          </p:cNvCxnSpPr>
          <p:nvPr/>
        </p:nvCxnSpPr>
        <p:spPr>
          <a:xfrm>
            <a:off x="1729344" y="2776315"/>
            <a:ext cx="101139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2624CD9-542E-49EF-9252-E02C03C282FB}"/>
              </a:ext>
            </a:extLst>
          </p:cNvPr>
          <p:cNvSpPr txBox="1"/>
          <p:nvPr/>
        </p:nvSpPr>
        <p:spPr>
          <a:xfrm>
            <a:off x="1729344" y="2943341"/>
            <a:ext cx="10113905" cy="1254189"/>
          </a:xfrm>
          <a:prstGeom prst="rect">
            <a:avLst/>
          </a:prstGeom>
          <a:noFill/>
        </p:spPr>
        <p:txBody>
          <a:bodyPr wrap="square" lIns="0" tIns="0" rIns="0" bIns="0">
            <a:spAutoFit/>
          </a:bodyPr>
          <a:lstStyle/>
          <a:p>
            <a:pPr>
              <a:spcAft>
                <a:spcPts val="294"/>
              </a:spcAft>
              <a:defRPr/>
            </a:pPr>
            <a:r>
              <a:rPr lang="pt-BR" sz="1600">
                <a:latin typeface="+mj-lt"/>
              </a:rPr>
              <a:t>Qual API do Azure Cosmos DB você deve usar para trabalhar com dados em que entidades e os relacionamentos deles entre si são representados em um gráfico usando vértices e bordas?</a:t>
            </a:r>
          </a:p>
          <a:p>
            <a:pPr marL="336145" indent="-336145">
              <a:spcAft>
                <a:spcPts val="294"/>
              </a:spcAft>
              <a:buFont typeface="Wingdings" panose="05000000000000000000" pitchFamily="2" charset="2"/>
              <a:buChar char="q"/>
              <a:defRPr/>
            </a:pPr>
            <a:r>
              <a:rPr lang="pt-BR" sz="1400"/>
              <a:t>API do MongoDB</a:t>
            </a:r>
          </a:p>
          <a:p>
            <a:pPr marL="336145" indent="-336145">
              <a:spcAft>
                <a:spcPts val="294"/>
              </a:spcAft>
              <a:buFont typeface="Wingdings" panose="05000000000000000000" pitchFamily="2" charset="2"/>
              <a:buChar char="q"/>
              <a:defRPr/>
            </a:pPr>
            <a:r>
              <a:rPr lang="pt-BR" sz="1400"/>
              <a:t>API do Core (SQL)</a:t>
            </a:r>
          </a:p>
          <a:p>
            <a:pPr marL="336145" indent="-336145">
              <a:spcAft>
                <a:spcPts val="294"/>
              </a:spcAft>
              <a:buFont typeface="Wingdings" panose="05000000000000000000" pitchFamily="2" charset="2"/>
              <a:buChar char="q"/>
              <a:defRPr/>
            </a:pPr>
            <a:r>
              <a:rPr lang="pt-BR" sz="1400"/>
              <a:t>API do Gremlin</a:t>
            </a:r>
          </a:p>
        </p:txBody>
      </p:sp>
      <p:sp>
        <p:nvSpPr>
          <p:cNvPr id="8" name="Graphic 27" descr="Marca de seleção para usar um bloco de páginas para blobs que exigem acesso aleatório de leitura e gravação. Usar um blob de blocos para objetos discretos que são alterados com pouca frequência">
            <a:extLst>
              <a:ext uri="{FF2B5EF4-FFF2-40B4-BE49-F238E27FC236}">
                <a16:creationId xmlns:a16="http://schemas.microsoft.com/office/drawing/2014/main" id="{1B814A20-05D2-467E-A2C3-BD207A2201D0}"/>
              </a:ext>
            </a:extLst>
          </p:cNvPr>
          <p:cNvSpPr/>
          <p:nvPr/>
        </p:nvSpPr>
        <p:spPr>
          <a:xfrm>
            <a:off x="1729343" y="3966429"/>
            <a:ext cx="225870" cy="158646"/>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sz="1730" dirty="0"/>
          </a:p>
        </p:txBody>
      </p:sp>
      <p:cxnSp>
        <p:nvCxnSpPr>
          <p:cNvPr id="14" name="Straight Connector 13">
            <a:extLst>
              <a:ext uri="{FF2B5EF4-FFF2-40B4-BE49-F238E27FC236}">
                <a16:creationId xmlns:a16="http://schemas.microsoft.com/office/drawing/2014/main" id="{81C52061-5571-4C82-8372-76A935F5688C}"/>
              </a:ext>
              <a:ext uri="{C183D7F6-B498-43B3-948B-1728B52AA6E4}">
                <adec:decorative xmlns:adec="http://schemas.microsoft.com/office/drawing/2017/decorative" val="1"/>
              </a:ext>
            </a:extLst>
          </p:cNvPr>
          <p:cNvCxnSpPr>
            <a:cxnSpLocks/>
          </p:cNvCxnSpPr>
          <p:nvPr/>
        </p:nvCxnSpPr>
        <p:spPr>
          <a:xfrm>
            <a:off x="1729343" y="4421038"/>
            <a:ext cx="101139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89798CE-D451-4A7C-A575-16C102C586CF}"/>
              </a:ext>
            </a:extLst>
          </p:cNvPr>
          <p:cNvSpPr txBox="1"/>
          <p:nvPr/>
        </p:nvSpPr>
        <p:spPr>
          <a:xfrm>
            <a:off x="1729343" y="4551625"/>
            <a:ext cx="10113905" cy="1007968"/>
          </a:xfrm>
          <a:prstGeom prst="rect">
            <a:avLst/>
          </a:prstGeom>
          <a:noFill/>
        </p:spPr>
        <p:txBody>
          <a:bodyPr wrap="square" lIns="0" tIns="0" rIns="0" bIns="0">
            <a:spAutoFit/>
          </a:bodyPr>
          <a:lstStyle/>
          <a:p>
            <a:pPr>
              <a:spcAft>
                <a:spcPts val="294"/>
              </a:spcAft>
              <a:defRPr/>
            </a:pPr>
            <a:r>
              <a:rPr lang="pt-BR" sz="1600" dirty="0">
                <a:latin typeface="+mj-lt"/>
              </a:rPr>
              <a:t>Como você pode permitir que usuários distribuídos globalmente trabalhem com a própria réplica local de um banco de dados Cosmos DB?</a:t>
            </a:r>
          </a:p>
          <a:p>
            <a:pPr marL="336145" indent="-336145">
              <a:spcAft>
                <a:spcPts val="294"/>
              </a:spcAft>
              <a:buFont typeface="Wingdings" panose="05000000000000000000" pitchFamily="2" charset="2"/>
              <a:buChar char="q"/>
              <a:defRPr/>
            </a:pPr>
            <a:r>
              <a:rPr lang="pt-BR" sz="1400" dirty="0"/>
              <a:t>Crie uma conta do Azure Cosmos DB em cada região onde você tem usuários </a:t>
            </a:r>
          </a:p>
          <a:p>
            <a:pPr marL="336145" indent="-336145">
              <a:spcAft>
                <a:spcPts val="294"/>
              </a:spcAft>
              <a:buFont typeface="Wingdings" panose="05000000000000000000" pitchFamily="2" charset="2"/>
              <a:buChar char="q"/>
              <a:defRPr/>
            </a:pPr>
            <a:r>
              <a:rPr lang="pt-BR" sz="1400" dirty="0"/>
              <a:t>Use a API de Tabela para copiar dados para o Armazenamento de Tabelas do Azure em cada região onde você tem usuários </a:t>
            </a:r>
          </a:p>
          <a:p>
            <a:pPr marL="336145" indent="-336145">
              <a:spcAft>
                <a:spcPts val="294"/>
              </a:spcAft>
              <a:buFont typeface="Wingdings" panose="05000000000000000000" pitchFamily="2" charset="2"/>
              <a:buChar char="q"/>
              <a:defRPr/>
            </a:pPr>
            <a:r>
              <a:rPr lang="pt-BR" sz="1400" dirty="0"/>
              <a:t>Habilite gravações de várias regiões e adicione as regiões onde você tem usuários</a:t>
            </a:r>
          </a:p>
        </p:txBody>
      </p:sp>
      <p:sp>
        <p:nvSpPr>
          <p:cNvPr id="13" name="Graphic 28" descr="Marca de seleção para permitir que usuários em sites diferentes compartilhem arquivos">
            <a:extLst>
              <a:ext uri="{FF2B5EF4-FFF2-40B4-BE49-F238E27FC236}">
                <a16:creationId xmlns:a16="http://schemas.microsoft.com/office/drawing/2014/main" id="{2CE6C891-3AA6-435F-887D-FE50B153C633}"/>
              </a:ext>
            </a:extLst>
          </p:cNvPr>
          <p:cNvSpPr/>
          <p:nvPr/>
        </p:nvSpPr>
        <p:spPr>
          <a:xfrm>
            <a:off x="1718833" y="5556574"/>
            <a:ext cx="225870" cy="158646"/>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sz="1730" dirty="0"/>
          </a:p>
        </p:txBody>
      </p:sp>
      <p:pic>
        <p:nvPicPr>
          <p:cNvPr id="9" name="Graphic 8">
            <a:extLst>
              <a:ext uri="{FF2B5EF4-FFF2-40B4-BE49-F238E27FC236}">
                <a16:creationId xmlns:a16="http://schemas.microsoft.com/office/drawing/2014/main" id="{FFD1D6A5-5A78-47CB-84C4-C5BD2C2D9CD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4495" y="1609747"/>
            <a:ext cx="933775" cy="933775"/>
          </a:xfrm>
          <a:prstGeom prst="rect">
            <a:avLst/>
          </a:prstGeom>
        </p:spPr>
      </p:pic>
      <p:pic>
        <p:nvPicPr>
          <p:cNvPr id="20" name="Graphic 19">
            <a:extLst>
              <a:ext uri="{FF2B5EF4-FFF2-40B4-BE49-F238E27FC236}">
                <a16:creationId xmlns:a16="http://schemas.microsoft.com/office/drawing/2014/main" id="{85FA0F14-4FF8-4A1D-9DDB-EA999E39AE0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4495" y="2912789"/>
            <a:ext cx="933775" cy="933775"/>
          </a:xfrm>
          <a:prstGeom prst="rect">
            <a:avLst/>
          </a:prstGeom>
        </p:spPr>
      </p:pic>
      <p:pic>
        <p:nvPicPr>
          <p:cNvPr id="21" name="Graphic 20">
            <a:extLst>
              <a:ext uri="{FF2B5EF4-FFF2-40B4-BE49-F238E27FC236}">
                <a16:creationId xmlns:a16="http://schemas.microsoft.com/office/drawing/2014/main" id="{EC2E7176-AE91-41DF-A181-1E504ED6BA3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4495" y="4421038"/>
            <a:ext cx="933775" cy="933775"/>
          </a:xfrm>
          <a:prstGeom prst="rect">
            <a:avLst/>
          </a:prstGeom>
        </p:spPr>
      </p:pic>
    </p:spTree>
    <p:extLst>
      <p:ext uri="{BB962C8B-B14F-4D97-AF65-F5344CB8AC3E}">
        <p14:creationId xmlns:p14="http://schemas.microsoft.com/office/powerpoint/2010/main" val="79760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C82212-6B6D-44D9-B0BC-778408D499E1}"/>
              </a:ext>
            </a:extLst>
          </p:cNvPr>
          <p:cNvSpPr txBox="1">
            <a:spLocks noGrp="1"/>
          </p:cNvSpPr>
          <p:nvPr>
            <p:ph type="title" idx="4294967295"/>
          </p:nvPr>
        </p:nvSpPr>
        <p:spPr>
          <a:xfrm>
            <a:off x="0" y="-461665"/>
            <a:ext cx="6572250"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pt-BR" sz="2400" b="0" i="0" u="none" strike="noStrike" cap="none" normalizeH="0" baseline="0" noProof="0">
                <a:ln>
                  <a:noFill/>
                </a:ln>
                <a:solidFill>
                  <a:schemeClr val="bg1"/>
                </a:solidFill>
                <a:uLnTx/>
                <a:uFillTx/>
                <a:latin typeface="+mj-lt"/>
                <a:ea typeface="+mn-ea"/>
                <a:cs typeface="+mn-cs"/>
              </a:rPr>
              <a:t>Slide de encerramento</a:t>
            </a:r>
          </a:p>
        </p:txBody>
      </p:sp>
    </p:spTree>
    <p:extLst>
      <p:ext uri="{BB962C8B-B14F-4D97-AF65-F5344CB8AC3E}">
        <p14:creationId xmlns:p14="http://schemas.microsoft.com/office/powerpoint/2010/main" val="4292661361"/>
      </p:ext>
    </p:extLst>
  </p:cSld>
  <p:clrMapOvr>
    <a:masterClrMapping/>
  </p:clrMapOvr>
  <p:transition>
    <p:fade/>
  </p:transition>
</p:sld>
</file>

<file path=ppt/theme/theme1.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3832</Words>
  <Application>Microsoft Office PowerPoint</Application>
  <PresentationFormat>Widescreen</PresentationFormat>
  <Paragraphs>289</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Consolas</vt:lpstr>
      <vt:lpstr>Segoe UI</vt:lpstr>
      <vt:lpstr>Segoe UI Light</vt:lpstr>
      <vt:lpstr>Segoe UI Semibold</vt:lpstr>
      <vt:lpstr>Segoe UI Semilight</vt:lpstr>
      <vt:lpstr>Wingdings</vt:lpstr>
      <vt:lpstr>Microsoft Azure Template</vt:lpstr>
      <vt:lpstr>Módulo 3: Explorar conceitos básicos dos dados não relacionais  no Azure</vt:lpstr>
      <vt:lpstr>Agenda</vt:lpstr>
      <vt:lpstr>Lição 1: Conceitos básicos do Armazenamento do Azure</vt:lpstr>
      <vt:lpstr>Armazenamento de Blobs do Azure</vt:lpstr>
      <vt:lpstr>Azure Data Lake Store Gen 2</vt:lpstr>
      <vt:lpstr>Arquivos do Azure</vt:lpstr>
      <vt:lpstr>Armazenamento de Tabelas do Azure</vt:lpstr>
      <vt:lpstr>Laboratório: Explorar o Armazenamento do Azure</vt:lpstr>
      <vt:lpstr>Lição 1: Verificação de conhecimento</vt:lpstr>
      <vt:lpstr>Lição 2: Conceitos básicos do Azure Cosmos DB</vt:lpstr>
      <vt:lpstr>O que é o Azure Cosmos DB?</vt:lpstr>
      <vt:lpstr>APIs do Azure Cosmos DB</vt:lpstr>
      <vt:lpstr>Laboratório: Explorar o Azure Cosmos DB</vt:lpstr>
      <vt:lpstr>Lição 2: Verificação de conhecimento</vt:lpstr>
      <vt:lpstr>Slide de encerramento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2020-11-23T20:51:46Z</dcterms:created>
  <dcterms:modified xsi:type="dcterms:W3CDTF">2022-05-05T07:45:05Z</dcterms:modified>
</cp:coreProperties>
</file>