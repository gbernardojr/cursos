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551" r:id="rId1"/>
    <p:sldMasterId id="2147484735" r:id="rId2"/>
  </p:sldMasterIdLst>
  <p:notesMasterIdLst>
    <p:notesMasterId r:id="rId20"/>
  </p:notesMasterIdLst>
  <p:handoutMasterIdLst>
    <p:handoutMasterId r:id="rId21"/>
  </p:handoutMasterIdLst>
  <p:sldIdLst>
    <p:sldId id="3481" r:id="rId3"/>
    <p:sldId id="1670" r:id="rId4"/>
    <p:sldId id="3125" r:id="rId5"/>
    <p:sldId id="2134805633" r:id="rId6"/>
    <p:sldId id="2134805623" r:id="rId7"/>
    <p:sldId id="2134805624" r:id="rId8"/>
    <p:sldId id="2134805630" r:id="rId9"/>
    <p:sldId id="2134805631" r:id="rId10"/>
    <p:sldId id="2134805632" r:id="rId11"/>
    <p:sldId id="2134805625" r:id="rId12"/>
    <p:sldId id="1801" r:id="rId13"/>
    <p:sldId id="2134805627" r:id="rId14"/>
    <p:sldId id="2134805628" r:id="rId15"/>
    <p:sldId id="2134805629" r:id="rId16"/>
    <p:sldId id="1875" r:id="rId17"/>
    <p:sldId id="10734" r:id="rId18"/>
    <p:sldId id="1884" r:id="rId1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 name="Aut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B4D9"/>
    <a:srgbClr val="F2F2F2"/>
    <a:srgbClr val="E6E6E6"/>
    <a:srgbClr val="3C3C41"/>
    <a:srgbClr val="4BCBEE"/>
    <a:srgbClr val="1392B4"/>
    <a:srgbClr val="0B556A"/>
    <a:srgbClr val="EBEBEB"/>
    <a:srgbClr val="FFFFFF"/>
    <a:srgbClr val="FFF100"/>
  </p:clrMru>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EB7744-031C-4701-A2EB-D8805D3BE9BF}" v="1" dt="2022-03-18T19:10:55.9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563" autoAdjust="0"/>
    <p:restoredTop sz="96357" autoAdjust="0"/>
  </p:normalViewPr>
  <p:slideViewPr>
    <p:cSldViewPr snapToGrid="0">
      <p:cViewPr varScale="1">
        <p:scale>
          <a:sx n="115" d="100"/>
          <a:sy n="115" d="100"/>
        </p:scale>
        <p:origin x="1098" y="11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10/4/2022 8:08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‹nº›</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10/4/2022 8:08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‹nº›</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fld id="{B9695972-8B8A-4CFF-B9FD-C375175DAA66}" type="datetime8">
              <a:rPr lang="en-US" smtClean="0"/>
              <a:t>10/4/2022 8:08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módulo demora aproximadamente 60 minutos, inclusive 20 a 25 minutos para o exercício de laboratório.</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fld id="{9427A7F7-BB1E-479D-AFAA-B52F4D0C99F2}" type="datetime8">
              <a:rPr lang="en-US" smtClean="0"/>
              <a:t>10/4/2022 8:08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10/4/2022 8:08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88958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14" name="Google Shape;2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5351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dirty="0"/>
              <a:t>Em um esquema de banco de dados relacional, os dados são armazenados em tabelas; que consistem em linhas e colunas. As tabelas relacionais são um formato para dados </a:t>
            </a:r>
            <a:r>
              <a:rPr lang="pt-BR" i="1" dirty="0"/>
              <a:t>estruturados</a:t>
            </a:r>
            <a:r>
              <a:rPr lang="pt-BR" dirty="0"/>
              <a:t>, e cada linha de uma tabela tem as mesmas colunas embora, em alguns casos, nem todas as colunas precisem ter um valor. Por exemplo, uma tabela de clientes pode incluir uma coluna </a:t>
            </a:r>
            <a:r>
              <a:rPr lang="pt-BR" b="1" dirty="0"/>
              <a:t>MiddleName</a:t>
            </a:r>
            <a:r>
              <a:rPr lang="pt-BR" dirty="0"/>
              <a:t>, que pode estar vazia (ou </a:t>
            </a:r>
            <a:r>
              <a:rPr lang="pt-BR" i="1" dirty="0"/>
              <a:t>NULL</a:t>
            </a:r>
            <a:r>
              <a:rPr lang="pt-BR" dirty="0"/>
              <a:t>) para as linhas que representam os clientes sem segundo nome ou cujo segundo nome é desconhecido).</a:t>
            </a:r>
          </a:p>
          <a:p>
            <a:pPr>
              <a:lnSpc>
                <a:spcPct val="100000"/>
              </a:lnSpc>
            </a:pPr>
            <a:endParaRPr lang="en-US" i="0" dirty="0"/>
          </a:p>
          <a:p>
            <a:pPr>
              <a:lnSpc>
                <a:spcPct val="100000"/>
              </a:lnSpc>
            </a:pPr>
            <a:r>
              <a:rPr lang="pt-BR" dirty="0"/>
              <a:t>Cada coluna armazena dados de um</a:t>
            </a:r>
            <a:r>
              <a:rPr lang="pt-BR" i="0" dirty="0"/>
              <a:t> </a:t>
            </a:r>
            <a:r>
              <a:rPr lang="pt-BR" i="1" dirty="0"/>
              <a:t>datatype</a:t>
            </a:r>
            <a:r>
              <a:rPr lang="pt-BR" dirty="0"/>
              <a:t> específico.</a:t>
            </a:r>
            <a:r>
              <a:rPr lang="pt-BR" i="0" dirty="0"/>
              <a:t> Por exemplo, uma coluna </a:t>
            </a:r>
            <a:r>
              <a:rPr lang="pt-BR" b="1" i="0" dirty="0"/>
              <a:t>Email</a:t>
            </a:r>
            <a:r>
              <a:rPr lang="pt-BR" i="0" dirty="0"/>
              <a:t> em uma tabela </a:t>
            </a:r>
            <a:r>
              <a:rPr lang="pt-BR" b="1" i="0" dirty="0"/>
              <a:t>Customer</a:t>
            </a:r>
            <a:r>
              <a:rPr lang="pt-BR" i="0" dirty="0"/>
              <a:t> provavelmente seria definida para armazenar dados baseados em caracteres (texto) (que podem ter comprimento fixo ou variável), uma coluna </a:t>
            </a:r>
            <a:r>
              <a:rPr lang="pt-BR" b="1" i="0" dirty="0"/>
              <a:t>Price</a:t>
            </a:r>
            <a:r>
              <a:rPr lang="pt-BR" i="0" dirty="0"/>
              <a:t> em uma tabela </a:t>
            </a:r>
            <a:r>
              <a:rPr lang="pt-BR" b="1" i="0" dirty="0"/>
              <a:t>Product</a:t>
            </a:r>
            <a:r>
              <a:rPr lang="pt-BR" i="0" dirty="0"/>
              <a:t> poderia ser definida para armazenar dados numéricos decimais, enquanto uma coluna </a:t>
            </a:r>
            <a:r>
              <a:rPr lang="pt-BR" b="1" i="0" dirty="0"/>
              <a:t>Quantity</a:t>
            </a:r>
            <a:r>
              <a:rPr lang="pt-BR" i="0" dirty="0"/>
              <a:t> em uma tabela </a:t>
            </a:r>
            <a:r>
              <a:rPr lang="pt-BR" b="1" i="0" dirty="0"/>
              <a:t>Order</a:t>
            </a:r>
            <a:r>
              <a:rPr lang="pt-BR" i="0" dirty="0"/>
              <a:t> poderia ser restrita a valores numéricos inteiros e uma coluna </a:t>
            </a:r>
            <a:r>
              <a:rPr lang="pt-BR" b="1" i="0" dirty="0"/>
              <a:t>OrderDate</a:t>
            </a:r>
            <a:r>
              <a:rPr lang="pt-BR" i="0" dirty="0"/>
              <a:t> na mesma tabela </a:t>
            </a:r>
            <a:r>
              <a:rPr lang="pt-BR" b="1" i="0" dirty="0"/>
              <a:t>Order</a:t>
            </a:r>
            <a:r>
              <a:rPr lang="pt-BR" i="0" dirty="0"/>
              <a:t> seria definida para armazenar valores de data/hora.</a:t>
            </a:r>
            <a:r>
              <a:rPr lang="pt-BR" b="0" i="0" dirty="0"/>
              <a:t> Os datatypes disponíveis que você pode usar ao definir uma tabela dependem do sistema de banco de dados usado embora existam datatypes padrão definidos pelo ANSI (American National Standards Institute) que são compatíveis com a maioria dos sistemas de banco de dados.</a:t>
            </a:r>
          </a:p>
          <a:p>
            <a:pPr>
              <a:lnSpc>
                <a:spcPct val="100000"/>
              </a:lnSpc>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1266087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i="1" dirty="0"/>
              <a:t>Não se prenda a muitos detalhes para este público-alvo. O ponto de aprendizado essencial é que a normalização é usada com frequência em bancos de dados relacionais para separar os dados de cada entidade em várias tabelas relacionadas, minimizando a duplicação de valores de dados e impondo a integridade dos dados por meio de tipos de dados específicos para cada parte dos dados e integridade referencial (por exemplo, para garantir que as ordens só façam referência a clientes válidos).</a:t>
            </a:r>
          </a:p>
          <a:p>
            <a:pPr>
              <a:lnSpc>
                <a:spcPct val="100000"/>
              </a:lnSpc>
            </a:pPr>
            <a:endParaRPr lang="en-US" i="0" dirty="0"/>
          </a:p>
          <a:p>
            <a:pPr>
              <a:lnSpc>
                <a:spcPct val="100000"/>
              </a:lnSpc>
            </a:pPr>
            <a:r>
              <a:rPr lang="pt-BR" i="0" dirty="0"/>
              <a:t>Normalização é um termo usado por profissionais de banco de dados para um processo de design de esquema que minimiza a duplicação de dados e impõe a integridade dos dados.</a:t>
            </a:r>
          </a:p>
          <a:p>
            <a:pPr>
              <a:lnSpc>
                <a:spcPct val="100000"/>
              </a:lnSpc>
            </a:pPr>
            <a:endParaRPr lang="en-US" i="0" dirty="0"/>
          </a:p>
          <a:p>
            <a:pPr>
              <a:lnSpc>
                <a:spcPct val="100000"/>
              </a:lnSpc>
            </a:pPr>
            <a:r>
              <a:rPr lang="pt-BR" i="0" dirty="0"/>
              <a:t>Para entender os princípios fundamentais da normalização, suponha que a tabela à esquerda do slide represente uma planilha usada por uma empresa para acompanhar as vendas. Observe que os detalhes de clientes e produtos são duplicados para cada item vendido e que o nome e o endereço postal do cliente e o nome e o preço do produto sejam combinados nas mesmas células da planilha.</a:t>
            </a:r>
          </a:p>
          <a:p>
            <a:pPr>
              <a:lnSpc>
                <a:spcPct val="100000"/>
              </a:lnSpc>
            </a:pPr>
            <a:endParaRPr lang="en-US" i="0" dirty="0"/>
          </a:p>
          <a:p>
            <a:pPr>
              <a:lnSpc>
                <a:spcPct val="100000"/>
              </a:lnSpc>
            </a:pPr>
            <a:r>
              <a:rPr lang="pt-BR" i="0" dirty="0"/>
              <a:t>Agora veja como a normalização alterou o modo de armazenamento dos dados. </a:t>
            </a:r>
            <a:r>
              <a:rPr lang="pt-BR" dirty="0"/>
              <a:t>Cada </a:t>
            </a:r>
            <a:r>
              <a:rPr lang="pt-BR" i="1" dirty="0"/>
              <a:t>entidade</a:t>
            </a:r>
            <a:r>
              <a:rPr lang="pt-BR" dirty="0"/>
              <a:t> representada nos dados (cliente, produto, ordem de venda e item de linha) é armazenada na própria tabela e cada atributo discreto dessas entidades está na própria coluna.</a:t>
            </a:r>
            <a:r>
              <a:rPr lang="pt-BR" i="0" dirty="0"/>
              <a:t> As instâncias de cada entidade são identificadas exclusivamente por um ID ou outro valor de chave e, quando uma entidade faz referência a outra (por exemplo, uma ordem tem um cliente associado), a chave primária da entidade relacionada é armazenada como uma chave estrangeira, para que possamos procurar o endereço do cliente (que é armazenado apenas uma vez) para cada registro na tabela </a:t>
            </a:r>
            <a:r>
              <a:rPr lang="pt-BR" b="1" i="0" dirty="0"/>
              <a:t>Order</a:t>
            </a:r>
            <a:r>
              <a:rPr lang="pt-BR" i="0" dirty="0"/>
              <a:t>, fazendo referência ao registro correspondente na tabela </a:t>
            </a:r>
            <a:r>
              <a:rPr lang="pt-BR" b="1" i="0" dirty="0"/>
              <a:t>Customer</a:t>
            </a:r>
            <a:r>
              <a:rPr lang="pt-BR" i="0" dirty="0"/>
              <a:t>. </a:t>
            </a:r>
            <a:r>
              <a:rPr lang="pt-BR" dirty="0"/>
              <a:t>Normalmente, um RDBMS pode impor </a:t>
            </a:r>
            <a:r>
              <a:rPr lang="pt-BR" i="1" dirty="0"/>
              <a:t>integridade referencial</a:t>
            </a:r>
            <a:r>
              <a:rPr lang="pt-BR" dirty="0"/>
              <a:t> para garantir que um valor inserido em um campo de chave estrangeira tenha uma chave primária correspondente na tabela relacionada, por exemplo, evitando ordens para clientes inexistentes.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05835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i="1" dirty="0"/>
              <a:t>O objetivo deste tópico não é ensinar os alunos a gravar consultas SQL, mas ajudá-los a entender que SQL é uma linguagem padrão usada para definir e trabalhar com estruturas de dados relacionais em um banco de dados e a diferenciar os três tipos comuns de instruções SQL para gerenciar definições de objetos de banco de dados, controlar o acesso e manipular dados.</a:t>
            </a:r>
          </a:p>
          <a:p>
            <a:pPr>
              <a:lnSpc>
                <a:spcPct val="100000"/>
              </a:lnSpc>
            </a:pPr>
            <a:endParaRPr lang="en-US" i="1" u="none" dirty="0"/>
          </a:p>
          <a:p>
            <a:pPr>
              <a:lnSpc>
                <a:spcPct val="100000"/>
              </a:lnSpc>
            </a:pPr>
            <a:r>
              <a:rPr lang="pt-BR" i="0" u="none" dirty="0"/>
              <a:t>SQL é uma linguagem padrão para trabalhar com bancos de dados relacionais, com padrões de sintaxe mantidos pelo ANSI (American National Standards Institute) e pela ISO (International Standards Organization). A maioria dos fornecedores de RDBMS estende a linguagem padrão com alguma sintaxe proprietária, por exemplo, Transact-SQL/T-SQL (sistemas baseados no Microsoft SQL Server), PL/SQL (Oracle) e pgSQL (PostgreSQL).</a:t>
            </a:r>
          </a:p>
          <a:p>
            <a:pPr>
              <a:lnSpc>
                <a:spcPct val="100000"/>
              </a:lnSpc>
            </a:pPr>
            <a:endParaRPr lang="en-US" i="0" u="none" dirty="0"/>
          </a:p>
          <a:p>
            <a:pPr>
              <a:lnSpc>
                <a:spcPct val="100000"/>
              </a:lnSpc>
            </a:pPr>
            <a:r>
              <a:rPr lang="pt-BR" i="0" u="none" dirty="0"/>
              <a:t>Existem três tipos amplos de instruções SQL que podem ser usados em um sistema de banco de dados:</a:t>
            </a:r>
          </a:p>
          <a:p>
            <a:pPr marL="171450" indent="-171450">
              <a:lnSpc>
                <a:spcPct val="100000"/>
              </a:lnSpc>
              <a:buFont typeface="Arial" panose="020B0604020202020204" pitchFamily="34" charset="0"/>
              <a:buChar char="•"/>
            </a:pPr>
            <a:r>
              <a:rPr lang="pt-BR" i="0" u="none" dirty="0"/>
              <a:t>A DDL (Linguagem de Definição de Dados) é usada para gerenciar objetos como tabelas no banco de dados. Por exemplo, você pode usar CREATE para criar novos objetos e ALTER ou DROP para alterar ou soltar objetos. O exemplo do slide mostra uma instrução CREATE TABLE usada para criar uma nova tabela vazia chamada </a:t>
            </a:r>
            <a:r>
              <a:rPr lang="pt-BR" b="1" i="0" u="none" dirty="0"/>
              <a:t>Product</a:t>
            </a:r>
            <a:r>
              <a:rPr lang="pt-BR" i="0" u="none" dirty="0"/>
              <a:t>.</a:t>
            </a:r>
          </a:p>
          <a:p>
            <a:pPr marL="171450" indent="-171450">
              <a:lnSpc>
                <a:spcPct val="100000"/>
              </a:lnSpc>
              <a:buFont typeface="Arial" panose="020B0604020202020204" pitchFamily="34" charset="0"/>
              <a:buChar char="•"/>
            </a:pPr>
            <a:r>
              <a:rPr lang="pt-BR" i="0" u="none" dirty="0"/>
              <a:t>A DCL (Linguagem de Controle de Dados) é usada para gerenciar o acesso aos objetos em um banco de dados. Você pode usar as permissões GRANT, DENY ou REVOKE para usuários específicos (e grupos de usuários). O exemplo do slide concede permissão a </a:t>
            </a:r>
            <a:r>
              <a:rPr lang="pt-BR" b="1" i="0" u="none" dirty="0"/>
              <a:t>user1</a:t>
            </a:r>
            <a:r>
              <a:rPr lang="pt-BR" i="0" u="none" dirty="0"/>
              <a:t> para usar as instruções SELECT, INSERT e UPDATE na tabela </a:t>
            </a:r>
            <a:r>
              <a:rPr lang="pt-BR" b="1" i="0" u="none" dirty="0"/>
              <a:t>Product</a:t>
            </a:r>
            <a:r>
              <a:rPr lang="pt-BR" i="0" u="none" dirty="0"/>
              <a:t>.</a:t>
            </a:r>
          </a:p>
          <a:p>
            <a:pPr marL="171450" indent="-171450">
              <a:lnSpc>
                <a:spcPct val="100000"/>
              </a:lnSpc>
              <a:buFont typeface="Arial" panose="020B0604020202020204" pitchFamily="34" charset="0"/>
              <a:buChar char="•"/>
            </a:pPr>
            <a:r>
              <a:rPr lang="pt-BR" b="0" i="0" u="none" dirty="0"/>
              <a:t>A DML (Linguagem de Manipulação de Dados) é o tipo de SQL mais usado e geralmente para inserir (INSERT), atualizar (UPDATE), excluir (DELETE) ou selecionar (SELECT) dados em tabelas. </a:t>
            </a:r>
            <a:r>
              <a:rPr lang="pt-BR" i="0" u="none" dirty="0"/>
              <a:t>O exemplo do slide pressupõe que alguns dados foram inseridos anteriormente na tabela </a:t>
            </a:r>
            <a:r>
              <a:rPr lang="pt-BR" b="1" i="0" u="none" dirty="0"/>
              <a:t>Product</a:t>
            </a:r>
            <a:r>
              <a:rPr lang="pt-BR" i="0" u="none" dirty="0"/>
              <a:t> e mostra os resultados retornados por uma consulta SELECT que recupera o nome e o preço de todos os produtos com preço superior a 2.50, classificados por ordem de preço.</a:t>
            </a:r>
          </a:p>
          <a:p>
            <a:pPr marL="171450" indent="-171450">
              <a:lnSpc>
                <a:spcPct val="100000"/>
              </a:lnSpc>
              <a:buFont typeface="Arial" panose="020B0604020202020204" pitchFamily="34" charset="0"/>
              <a:buChar char="•"/>
            </a:pPr>
            <a:endParaRPr lang="en-US" b="0" i="0" u="none" dirty="0"/>
          </a:p>
          <a:p>
            <a:pPr marL="0" indent="0">
              <a:lnSpc>
                <a:spcPct val="100000"/>
              </a:lnSpc>
              <a:buFont typeface="Arial" panose="020B0604020202020204" pitchFamily="34" charset="0"/>
              <a:buNone/>
            </a:pPr>
            <a:r>
              <a:rPr lang="pt-BR" b="0" i="0" u="none" dirty="0"/>
              <a:t>Este slide mostra um conjunto principal de exemplos e instruções SQL. A linguagem SQL é extensiva. Há outras instruções não mostradas aqui. Além disso, a sintaxe das instruções que aparecem aqui pode ser muito mais complexa do que esses exemplos simples.</a:t>
            </a:r>
          </a:p>
          <a:p>
            <a:pPr marL="0" indent="0">
              <a:lnSpc>
                <a:spcPct val="100000"/>
              </a:lnSpc>
              <a:buFont typeface="Arial" panose="020B0604020202020204" pitchFamily="34" charset="0"/>
              <a:buNone/>
            </a:pPr>
            <a:endParaRPr lang="en-US" b="0" i="0" u="none" dirty="0"/>
          </a:p>
          <a:p>
            <a:pPr marL="0" indent="0">
              <a:lnSpc>
                <a:spcPct val="100000"/>
              </a:lnSpc>
              <a:buFont typeface="Arial" panose="020B0604020202020204" pitchFamily="34" charset="0"/>
              <a:buNone/>
            </a:pPr>
            <a:r>
              <a:rPr lang="pt-BR" b="0" i="1" u="none" dirty="0"/>
              <a:t>Se os alunos estiverem interessados em saber mais sobre SQL fora deste curso de conceitos básicos de dados, recomendo que eles participem do curso DP-080: </a:t>
            </a:r>
            <a:r>
              <a:rPr lang="pt-BR" i="1" dirty="0"/>
              <a:t>Consultar dados com o Microsoft Transact-SQL</a:t>
            </a:r>
            <a:r>
              <a:rPr lang="pt-BR" b="0" i="1" u="none" dirty="0"/>
              <a:t> (detalhes em https://docs.microsoft.com/pt-br/learn/certifications/courses/dp-080t00) ou revise o roteiro de aprendizagem </a:t>
            </a:r>
            <a:r>
              <a:rPr lang="pt-BR" b="1" i="1" dirty="0">
                <a:solidFill>
                  <a:srgbClr val="171717"/>
                </a:solidFill>
                <a:latin typeface="Segoe UI" panose="020B0502040204020203" pitchFamily="34" charset="0"/>
              </a:rPr>
              <a:t>Get Started Querying with Transact-SQL</a:t>
            </a:r>
            <a:r>
              <a:rPr lang="pt-BR" b="0" i="1" dirty="0">
                <a:solidFill>
                  <a:srgbClr val="171717"/>
                </a:solidFill>
                <a:latin typeface="Segoe UI" panose="020B0502040204020203" pitchFamily="34" charset="0"/>
              </a:rPr>
              <a:t> </a:t>
            </a:r>
            <a:r>
              <a:rPr lang="pt-BR" b="0" i="1" u="none" dirty="0"/>
              <a:t>no Microsoft Learn em </a:t>
            </a:r>
            <a:r>
              <a:rPr lang="pt-BR" b="0" i="1" dirty="0"/>
              <a:t>https://docs.microsoft.com/pt-br/learn/paths/get-started-querying-with-transact-sql/</a:t>
            </a:r>
            <a:r>
              <a:rPr lang="pt-BR" b="0" i="1" dirty="0">
                <a:solidFill>
                  <a:srgbClr val="171717"/>
                </a:solidFill>
                <a:latin typeface="Segoe UI" panose="020B0502040204020203" pitchFamily="34" charset="0"/>
              </a:rPr>
              <a:t>.</a:t>
            </a:r>
          </a:p>
          <a:p>
            <a:pPr marL="0" indent="0">
              <a:lnSpc>
                <a:spcPct val="100000"/>
              </a:lnSpc>
              <a:buFont typeface="Arial" panose="020B0604020202020204" pitchFamily="34" charset="0"/>
              <a:buNone/>
            </a:pPr>
            <a:endParaRPr lang="en-US" b="0" i="0" u="none" dirty="0"/>
          </a:p>
          <a:p>
            <a:pPr marL="0" indent="0">
              <a:lnSpc>
                <a:spcPct val="100000"/>
              </a:lnSpc>
              <a:buFont typeface="Arial" panose="020B0604020202020204" pitchFamily="34" charset="0"/>
              <a:buNone/>
            </a:pPr>
            <a:endParaRPr lang="en-US" b="0" i="0" u="none"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935950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33"/>
              </a:spcAft>
              <a:buClrTx/>
              <a:buSzTx/>
              <a:buFontTx/>
              <a:buNone/>
              <a:tabLst/>
              <a:defRPr/>
            </a:pPr>
            <a:r>
              <a:rPr lang="pt-BR" i="1" dirty="0"/>
              <a:t>Reserve alguns minutos para os alunos pensarem sobre as perguntas e, em seguida, use o slide animado para exibir as respostas corretas.</a:t>
            </a:r>
          </a:p>
          <a:p>
            <a:pPr>
              <a:lnSpc>
                <a:spcPct val="100000"/>
              </a:lnSpc>
            </a:pPr>
            <a:endParaRPr lang="en-US" dirty="0"/>
          </a:p>
          <a:p>
            <a:pPr>
              <a:lnSpc>
                <a:spcPct val="100000"/>
              </a:lnSpc>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198969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10/4/2022 8:08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17249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b="0" i="1" dirty="0">
                <a:solidFill>
                  <a:srgbClr val="171717"/>
                </a:solidFill>
                <a:latin typeface="Segoe UI" panose="020B0502040204020203" pitchFamily="34" charset="0"/>
              </a:rPr>
              <a:t>Observe que este slide não abrange o SQL do Azure no Edge, que é um serviço baseado em SQL Server para computação de borda – predominantemente para cenários de IoT (Internet das Coisas).</a:t>
            </a:r>
          </a:p>
          <a:p>
            <a:pPr>
              <a:lnSpc>
                <a:spcPct val="100000"/>
              </a:lnSpc>
            </a:pPr>
            <a:endParaRPr lang="en-US" b="0" i="0" dirty="0">
              <a:solidFill>
                <a:srgbClr val="171717"/>
              </a:solidFill>
              <a:effectLst/>
              <a:latin typeface="Segoe UI" panose="020B0502040204020203" pitchFamily="34" charset="0"/>
            </a:endParaRPr>
          </a:p>
          <a:p>
            <a:pPr>
              <a:lnSpc>
                <a:spcPct val="100000"/>
              </a:lnSpc>
            </a:pPr>
            <a:r>
              <a:rPr lang="pt-BR" b="0" i="0" dirty="0">
                <a:solidFill>
                  <a:srgbClr val="171717"/>
                </a:solidFill>
                <a:latin typeface="Segoe UI" panose="020B0502040204020203" pitchFamily="34" charset="0"/>
              </a:rPr>
              <a:t>SQL do Azure é o termo genérico usado para descrever uma família de serviços de banco de dados relacional do Azure baseados no Microsoft SQL Server. O SQL Server é um sistema de gerenciamento de banco de dados relacional (RDBMS) líder do setor usado em soluções locais por algumas das maiores organizações do mundo. Os serviços do SQL do Azure são baseados no mesmo mecanismo de banco de dados e considerados uma ótima solução para as organizações que querem migrar bancos de dados locais para a nuvem, bem como os novos aplicativos criados com base em nuvem desde a concepção.</a:t>
            </a:r>
          </a:p>
          <a:p>
            <a:pPr>
              <a:lnSpc>
                <a:spcPct val="100000"/>
              </a:lnSpc>
            </a:pPr>
            <a:endParaRPr lang="en-US" b="0" i="0" dirty="0">
              <a:solidFill>
                <a:srgbClr val="171717"/>
              </a:solidFill>
              <a:effectLst/>
              <a:latin typeface="Segoe UI" panose="020B0502040204020203" pitchFamily="34" charset="0"/>
            </a:endParaRPr>
          </a:p>
          <a:p>
            <a:pPr marL="171450" indent="-171450">
              <a:lnSpc>
                <a:spcPct val="100000"/>
              </a:lnSpc>
              <a:buFont typeface="Arial" panose="020B0604020202020204" pitchFamily="34" charset="0"/>
              <a:buChar char="•"/>
            </a:pPr>
            <a:r>
              <a:rPr lang="pt-BR" i="0" dirty="0">
                <a:solidFill>
                  <a:srgbClr val="171717"/>
                </a:solidFill>
                <a:latin typeface="Segoe UI" panose="020B0502040204020203" pitchFamily="34" charset="0"/>
              </a:rPr>
              <a:t>O </a:t>
            </a:r>
            <a:r>
              <a:rPr lang="pt-BR" b="1" i="0" dirty="0">
                <a:solidFill>
                  <a:srgbClr val="171717"/>
                </a:solidFill>
                <a:latin typeface="Segoe UI" panose="020B0502040204020203" pitchFamily="34" charset="0"/>
              </a:rPr>
              <a:t>SQL Server em Máquinas Virtuais do Azure</a:t>
            </a:r>
            <a:r>
              <a:rPr lang="pt-BR" i="0" dirty="0">
                <a:solidFill>
                  <a:srgbClr val="171717"/>
                </a:solidFill>
                <a:latin typeface="Segoe UI" panose="020B0502040204020203" pitchFamily="34" charset="0"/>
              </a:rPr>
              <a:t> é uma solução de infraestrutura como serviço (IaaS) na qual uma instância completa do SQL Server é instalada em uma máquina virtual hospedada no Azure.</a:t>
            </a:r>
            <a:r>
              <a:rPr lang="pt-BR" b="0" i="0" dirty="0">
                <a:solidFill>
                  <a:srgbClr val="171717"/>
                </a:solidFill>
                <a:latin typeface="Segoe UI" panose="020B0502040204020203" pitchFamily="34" charset="0"/>
              </a:rPr>
              <a:t> Isso o torna adequado para projetos de migração em que é necessária uma compatibilidade individual com uma instância local do SQL Server ou para cenários híbridos com uma combinação de bancos de dados locais e baseados em nuvem que devem manter a compatibilidade. Por ser uma solução IaaS, você tem controle total da configuração do banco de dados, o que também significa que é responsável por gerenciar tarefas administrativas, assim como faria para uma instância do SQL Server em seu data center. Os custos do serviço são baseados no licenciamento do SQL Server e no custo de execução da VM no Azure.</a:t>
            </a:r>
          </a:p>
          <a:p>
            <a:pPr marL="171450" indent="-171450">
              <a:lnSpc>
                <a:spcPct val="100000"/>
              </a:lnSpc>
              <a:buFont typeface="Arial" panose="020B0604020202020204" pitchFamily="34" charset="0"/>
              <a:buChar char="•"/>
            </a:pPr>
            <a:r>
              <a:rPr lang="pt-BR" i="0" dirty="0">
                <a:solidFill>
                  <a:srgbClr val="171717"/>
                </a:solidFill>
                <a:latin typeface="Segoe UI" panose="020B0502040204020203" pitchFamily="34" charset="0"/>
              </a:rPr>
              <a:t>A </a:t>
            </a:r>
            <a:r>
              <a:rPr lang="pt-BR" b="1" i="0" dirty="0">
                <a:solidFill>
                  <a:srgbClr val="171717"/>
                </a:solidFill>
                <a:latin typeface="Segoe UI" panose="020B0502040204020203" pitchFamily="34" charset="0"/>
              </a:rPr>
              <a:t>Instância Gerenciada de SQL do Azure</a:t>
            </a:r>
            <a:r>
              <a:rPr lang="pt-BR" b="0" i="0" dirty="0">
                <a:solidFill>
                  <a:srgbClr val="171717"/>
                </a:solidFill>
                <a:latin typeface="Segoe UI" panose="020B0502040204020203" pitchFamily="34" charset="0"/>
              </a:rPr>
              <a:t> é um serviço de plataforma como serviço (PaaS) e permite pré-provisionar recursos de computação e implantar várias instâncias gerenciadas individuais do SQL Server </a:t>
            </a:r>
            <a:r>
              <a:rPr lang="pt-BR" sz="900" b="0" i="0" dirty="0">
                <a:solidFill>
                  <a:srgbClr val="171717"/>
                </a:solidFill>
                <a:latin typeface="Segoe UI" panose="020B0502040204020203" pitchFamily="34" charset="0"/>
              </a:rPr>
              <a:t>até seu nível de computação pré-provisionado</a:t>
            </a:r>
            <a:r>
              <a:rPr lang="pt-BR" b="0" i="0" dirty="0">
                <a:solidFill>
                  <a:srgbClr val="171717"/>
                </a:solidFill>
                <a:latin typeface="Segoe UI" panose="020B0502040204020203" pitchFamily="34" charset="0"/>
              </a:rPr>
              <a:t>.</a:t>
            </a:r>
            <a:r>
              <a:rPr lang="pt-BR" sz="900" dirty="0">
                <a:latin typeface="+mn-lt"/>
              </a:rPr>
              <a:t> As principais tarefas administrativas são automatizadas, proporcionando um alto grau de compatibilidade com o SQL Server local. Você pode optar por implantar uma única instância gerenciada que dê suporte a vários bancos de dados ou criar um pool de instâncias que compartilhem recursos de infraestrutura subjacentes para reduzir custos. Uma Instância Gerenciada de SQL é uma ótima opção para a maioria dos cenários de migração em que é preciso mover um banco de dados SQL Server local para a nuvem com o mínimo de alterações.</a:t>
            </a:r>
          </a:p>
          <a:p>
            <a:pPr marL="171450" indent="-171450">
              <a:lnSpc>
                <a:spcPct val="100000"/>
              </a:lnSpc>
              <a:buFont typeface="Arial" panose="020B0604020202020204" pitchFamily="34" charset="0"/>
              <a:buChar char="•"/>
            </a:pPr>
            <a:r>
              <a:rPr lang="pt-BR" i="0" dirty="0">
                <a:solidFill>
                  <a:srgbClr val="171717"/>
                </a:solidFill>
                <a:latin typeface="Segoe UI" panose="020B0502040204020203" pitchFamily="34" charset="0"/>
              </a:rPr>
              <a:t>O </a:t>
            </a:r>
            <a:r>
              <a:rPr lang="pt-BR" b="1" i="0" dirty="0">
                <a:solidFill>
                  <a:srgbClr val="171717"/>
                </a:solidFill>
                <a:latin typeface="Segoe UI" panose="020B0502040204020203" pitchFamily="34" charset="0"/>
              </a:rPr>
              <a:t>Banco de Dados SQL do Azure</a:t>
            </a:r>
            <a:r>
              <a:rPr lang="pt-BR" i="0" dirty="0">
                <a:solidFill>
                  <a:srgbClr val="171717"/>
                </a:solidFill>
                <a:latin typeface="Segoe UI" panose="020B0502040204020203" pitchFamily="34" charset="0"/>
              </a:rPr>
              <a:t> é outra solução PaaS que oferece a opção SQL do Azure de menor custo.</a:t>
            </a:r>
            <a:r>
              <a:rPr lang="pt-BR" b="0" i="0" dirty="0">
                <a:solidFill>
                  <a:srgbClr val="171717"/>
                </a:solidFill>
                <a:latin typeface="Segoe UI" panose="020B0502040204020203" pitchFamily="34" charset="0"/>
              </a:rPr>
              <a:t> Você tem controle administrativo mínimo sobre o serviço, além de criar o esquema de banco de dados, importar e exportar dados e configurar controles de acesso. </a:t>
            </a:r>
            <a:r>
              <a:rPr lang="pt-BR" i="0" dirty="0">
                <a:solidFill>
                  <a:srgbClr val="171717"/>
                </a:solidFill>
                <a:latin typeface="Segoe UI" panose="020B0502040204020203" pitchFamily="34" charset="0"/>
              </a:rPr>
              <a:t>O Banco de Dados SQL do Azure permite que você implante um único banco de dados ou um </a:t>
            </a:r>
            <a:r>
              <a:rPr lang="pt-BR" i="1" dirty="0">
                <a:solidFill>
                  <a:srgbClr val="171717"/>
                </a:solidFill>
                <a:latin typeface="Segoe UI" panose="020B0502040204020203" pitchFamily="34" charset="0"/>
              </a:rPr>
              <a:t>pool elástico</a:t>
            </a:r>
            <a:r>
              <a:rPr lang="pt-BR" i="0" dirty="0">
                <a:solidFill>
                  <a:srgbClr val="171717"/>
                </a:solidFill>
                <a:latin typeface="Segoe UI" panose="020B0502040204020203" pitchFamily="34" charset="0"/>
              </a:rPr>
              <a:t> que compartilhe recursos em vários bancos de dados.</a:t>
            </a:r>
            <a:r>
              <a:rPr lang="pt-BR" b="0" i="0" dirty="0">
                <a:solidFill>
                  <a:srgbClr val="171717"/>
                </a:solidFill>
                <a:latin typeface="Segoe UI" panose="020B0502040204020203" pitchFamily="34" charset="0"/>
              </a:rPr>
              <a:t> O Banco de Dados SQL do Azure é uma ótima opção para novos aplicativos que exigem um armazenamento de dados relacional de baixo custo com sobrecarga administrativa mínima.</a:t>
            </a:r>
          </a:p>
          <a:p>
            <a:pPr marL="171450" indent="-171450">
              <a:lnSpc>
                <a:spcPct val="100000"/>
              </a:lnSpc>
              <a:buFont typeface="Arial" panose="020B0604020202020204" pitchFamily="34" charset="0"/>
              <a:buChar char="•"/>
            </a:pPr>
            <a:endParaRPr lang="en-US" b="0" i="0" dirty="0">
              <a:solidFill>
                <a:srgbClr val="171717"/>
              </a:solidFill>
              <a:effectLst/>
              <a:latin typeface="Segoe UI" panose="020B0502040204020203" pitchFamily="34" charset="0"/>
            </a:endParaRPr>
          </a:p>
          <a:p>
            <a:pPr marL="0" marR="0" lvl="0" indent="0" algn="l" defTabSz="914367" rtl="0" eaLnBrk="1" fontAlgn="auto" latinLnBrk="0" hangingPunct="1">
              <a:lnSpc>
                <a:spcPct val="100000"/>
              </a:lnSpc>
              <a:spcBef>
                <a:spcPts val="0"/>
              </a:spcBef>
              <a:spcAft>
                <a:spcPts val="333"/>
              </a:spcAft>
              <a:buClrTx/>
              <a:buSzTx/>
              <a:buFont typeface="Arial" panose="020B0604020202020204" pitchFamily="34" charset="0"/>
              <a:buNone/>
              <a:tabLst/>
              <a:defRPr/>
            </a:pPr>
            <a:r>
              <a:rPr lang="pt-BR" b="0" i="0" dirty="0">
                <a:solidFill>
                  <a:srgbClr val="171717"/>
                </a:solidFill>
                <a:latin typeface="Segoe UI" panose="020B0502040204020203" pitchFamily="34" charset="0"/>
              </a:rPr>
              <a:t>A lista está em ordem decrescente de controle administrativo/responsabilidade e custo. O SQL Server em uma VM é a opção mais cara, mas permite maior controle sobre a configuração do servidor e do banco de dados. No entanto, você também tem total responsabilidade pela manutenção e pelo gerenciamento do servidor. O Banco de Dados SQL do Azure é a opção de custo mais baixo, mas dá suporte a menos opções de configuração. A maior parte da manutenção do banco de dados, exceto os controles de acesso, é automatizada. A Instância Gerenciada de SQL equilibra custo, controle administrativo e automação da manutenção.</a:t>
            </a:r>
          </a:p>
          <a:p>
            <a:pPr marL="0" indent="0">
              <a:lnSpc>
                <a:spcPct val="100000"/>
              </a:lnSpc>
              <a:buFont typeface="Arial" panose="020B0604020202020204" pitchFamily="34" charset="0"/>
              <a:buNone/>
            </a:pPr>
            <a:endParaRPr lang="en-US" b="0" i="0" dirty="0">
              <a:solidFill>
                <a:srgbClr val="171717"/>
              </a:solidFill>
              <a:effectLst/>
              <a:latin typeface="Segoe UI" panose="020B0502040204020203"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68071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33"/>
              </a:spcAft>
              <a:buClrTx/>
              <a:buSzTx/>
              <a:buFontTx/>
              <a:buNone/>
              <a:tabLst/>
              <a:defRPr/>
            </a:pPr>
            <a:r>
              <a:rPr lang="pt-BR" sz="882" b="0" dirty="0">
                <a:solidFill>
                  <a:schemeClr val="tx1"/>
                </a:solidFill>
                <a:latin typeface="Segoe UI Light" pitchFamily="34" charset="0"/>
                <a:ea typeface="+mn-ea"/>
                <a:cs typeface="+mn-cs"/>
              </a:rPr>
              <a:t>MySQL começou como um sistema de gerenciamento de banco de dados simples de usar de código aberto. Ele é usado com frequência em apps de pilhas </a:t>
            </a:r>
            <a:r>
              <a:rPr lang="pt-BR" sz="882" b="0" i="1" dirty="0">
                <a:solidFill>
                  <a:schemeClr val="tx1"/>
                </a:solidFill>
                <a:latin typeface="Segoe UI Light" pitchFamily="34" charset="0"/>
                <a:ea typeface="+mn-ea"/>
                <a:cs typeface="+mn-cs"/>
              </a:rPr>
              <a:t>Linux, Apache, MySQL e PHP</a:t>
            </a:r>
            <a:r>
              <a:rPr lang="pt-BR" sz="882" b="0" dirty="0">
                <a:solidFill>
                  <a:schemeClr val="tx1"/>
                </a:solidFill>
                <a:latin typeface="Segoe UI Light" pitchFamily="34" charset="0"/>
                <a:ea typeface="+mn-ea"/>
                <a:cs typeface="+mn-cs"/>
              </a:rPr>
              <a:t> (LAMP).</a:t>
            </a:r>
          </a:p>
          <a:p>
            <a:pPr marL="0" marR="0" lvl="0" indent="0" algn="l" defTabSz="914367" rtl="0" eaLnBrk="1" fontAlgn="auto" latinLnBrk="0" hangingPunct="1">
              <a:lnSpc>
                <a:spcPct val="100000"/>
              </a:lnSpc>
              <a:spcBef>
                <a:spcPts val="0"/>
              </a:spcBef>
              <a:spcAft>
                <a:spcPts val="333"/>
              </a:spcAft>
              <a:buClrTx/>
              <a:buSzTx/>
              <a:buFontTx/>
              <a:buNone/>
              <a:tabLst/>
              <a:defRPr/>
            </a:pPr>
            <a:endParaRPr lang="en-US" b="0" dirty="0"/>
          </a:p>
          <a:p>
            <a:pPr marL="0" marR="0" lvl="0" indent="0" algn="l" defTabSz="914367" rtl="0" eaLnBrk="1" fontAlgn="auto" latinLnBrk="0" hangingPunct="1">
              <a:lnSpc>
                <a:spcPct val="100000"/>
              </a:lnSpc>
              <a:spcBef>
                <a:spcPts val="0"/>
              </a:spcBef>
              <a:spcAft>
                <a:spcPts val="333"/>
              </a:spcAft>
              <a:buClrTx/>
              <a:buSzTx/>
              <a:buFontTx/>
              <a:buNone/>
              <a:tabLst/>
              <a:defRPr/>
            </a:pPr>
            <a:r>
              <a:rPr lang="pt-BR" sz="882" b="0" dirty="0">
                <a:solidFill>
                  <a:schemeClr val="tx1"/>
                </a:solidFill>
                <a:latin typeface="Segoe UI Light" pitchFamily="34" charset="0"/>
                <a:ea typeface="+mn-ea"/>
                <a:cs typeface="+mn-cs"/>
              </a:rPr>
              <a:t>MariaDB é um sistema de gerenciamento de banco de dados mais recente, criado pelos desenvolvedores originais do MySQL. Desde então, o mecanismo de banco de dados foi reescrito e otimizado para aprimorar o desempenho. MariaDB tem compatibilidade com o Oracle Database (outro sistema de gerenciamento de banco de dados comercial conhecido).</a:t>
            </a:r>
          </a:p>
          <a:p>
            <a:pPr marL="0" marR="0" lvl="0" indent="0" algn="l" defTabSz="914367" rtl="0" eaLnBrk="1" fontAlgn="auto" latinLnBrk="0" hangingPunct="1">
              <a:lnSpc>
                <a:spcPct val="100000"/>
              </a:lnSpc>
              <a:spcBef>
                <a:spcPts val="0"/>
              </a:spcBef>
              <a:spcAft>
                <a:spcPts val="333"/>
              </a:spcAft>
              <a:buClrTx/>
              <a:buSzTx/>
              <a:buFontTx/>
              <a:buNone/>
              <a:tabLst/>
              <a:defRPr/>
            </a:pPr>
            <a:endParaRPr lang="en-US" sz="882" b="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100000"/>
              </a:lnSpc>
              <a:spcBef>
                <a:spcPts val="0"/>
              </a:spcBef>
              <a:spcAft>
                <a:spcPts val="333"/>
              </a:spcAft>
              <a:buClrTx/>
              <a:buSzTx/>
              <a:buFontTx/>
              <a:buNone/>
              <a:tabLst/>
              <a:defRPr/>
            </a:pPr>
            <a:r>
              <a:rPr lang="pt-BR" sz="882" b="0" dirty="0">
                <a:solidFill>
                  <a:schemeClr val="tx1"/>
                </a:solidFill>
                <a:latin typeface="Segoe UI Light" pitchFamily="34" charset="0"/>
                <a:ea typeface="+mn-ea"/>
                <a:cs typeface="+mn-cs"/>
              </a:rPr>
              <a:t>PostgreSQL é um banco de dados de objetos híbrido e relacional. É possível armazenar dados em tabelas relacionais, mas um banco de dados PostgreSQL também permite que você armazene tipos de dados personalizados, com propriedades não relacionais próprias.</a:t>
            </a:r>
          </a:p>
          <a:p>
            <a:pPr marL="0" marR="0" lvl="0" indent="0" algn="l" defTabSz="914367" rtl="0" eaLnBrk="1" fontAlgn="auto" latinLnBrk="0" hangingPunct="1">
              <a:lnSpc>
                <a:spcPct val="100000"/>
              </a:lnSpc>
              <a:spcBef>
                <a:spcPts val="0"/>
              </a:spcBef>
              <a:spcAft>
                <a:spcPts val="333"/>
              </a:spcAft>
              <a:buClrTx/>
              <a:buSzTx/>
              <a:buFontTx/>
              <a:buNone/>
              <a:tabLst/>
              <a:defRPr/>
            </a:pPr>
            <a:endParaRPr lang="en-US" sz="882" b="0" kern="1200" dirty="0">
              <a:solidFill>
                <a:schemeClr val="tx1"/>
              </a:solidFill>
              <a:effectLst/>
              <a:latin typeface="Segoe UI Light" pitchFamily="34" charset="0"/>
              <a:ea typeface="+mn-ea"/>
              <a:cs typeface="+mn-cs"/>
            </a:endParaRPr>
          </a:p>
          <a:p>
            <a:pPr>
              <a:lnSpc>
                <a:spcPct val="100000"/>
              </a:lnSpc>
            </a:pPr>
            <a:endParaRPr lang="en-US" dirty="0"/>
          </a:p>
          <a:p>
            <a:pPr>
              <a:lnSpc>
                <a:spcPct val="100000"/>
              </a:lnSpc>
            </a:pPr>
            <a:endParaRPr lang="en-US" b="0" i="0" dirty="0">
              <a:solidFill>
                <a:srgbClr val="171717"/>
              </a:solidFill>
              <a:effectLst/>
              <a:latin typeface="Segoe UI" panose="020B0502040204020203"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52548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endParaRPr lang="en-US" dirty="0"/>
          </a:p>
          <a:p>
            <a:pPr>
              <a:lnSpc>
                <a:spcPct val="100000"/>
              </a:lnSpc>
            </a:pPr>
            <a:r>
              <a:rPr lang="pt-BR" dirty="0"/>
              <a:t>Se necessário, demonstre como entrar na máquina virtual do laboratório e siga as instruções. Se você não estiver usando uma VM de laboratório, os alunos poderão seguir as instruções na página do GitHub deste laboratório. As instruções fornecem contexto e instruções iniciais e, em seguida, direcionam os alunos para o exercício no Microsoft Learn.</a:t>
            </a:r>
          </a:p>
          <a:p>
            <a:pPr>
              <a:lnSpc>
                <a:spcPct val="100000"/>
              </a:lnSpc>
            </a:pPr>
            <a:endParaRPr lang="en-US" dirty="0"/>
          </a:p>
          <a:p>
            <a:pPr>
              <a:lnSpc>
                <a:spcPct val="100000"/>
              </a:lnSpc>
            </a:pPr>
            <a:r>
              <a:rPr lang="pt-BR" dirty="0"/>
              <a:t>Os alunos geralmente devem usar as credenciais de assinatura do Azure que receberam, </a:t>
            </a:r>
            <a:r>
              <a:rPr lang="pt-BR" u="sng" dirty="0"/>
              <a:t>não</a:t>
            </a:r>
            <a:r>
              <a:rPr lang="pt-BR" dirty="0"/>
              <a:t> a área restrita.</a:t>
            </a:r>
            <a:r>
              <a:rPr lang="pt-BR" u="none" dirty="0"/>
              <a:t> O link para a página do Learn leva diretamente para o exercício a ser realizado e ignora as instruções para provisionar uma área restrita. Se nenhuma credencial de assinatura for fornecida para sua apresentação, você poderá usar a área restrita como uma opção de fallback. Nesse caso, os alunos talvez precisem rolar para cima na página do Learn para ativá-la.</a:t>
            </a:r>
          </a:p>
          <a:p>
            <a:pPr>
              <a:lnSpc>
                <a:spcPct val="100000"/>
              </a:lnSpc>
            </a:pPr>
            <a:endParaRPr lang="en-US" u="none" dirty="0"/>
          </a:p>
          <a:p>
            <a:pPr>
              <a:lnSpc>
                <a:spcPct val="100000"/>
              </a:lnSpc>
            </a:pPr>
            <a:r>
              <a:rPr lang="pt-BR" dirty="0"/>
              <a:t>Observe que o exercício no Microsoft Learn inclui opções para provisionar bancos de dados MySQL e PostgreSQL. Incentive os alunos a voltar a este módulo e experimentar essas opções mais tarde, mas todos os alunos devem provisionar e consultar o Banco de Dados SQL do Azure neste laboratório.</a:t>
            </a:r>
          </a:p>
          <a:p>
            <a:pPr>
              <a:lnSpc>
                <a:spcPct val="100000"/>
              </a:lnSpc>
            </a:pPr>
            <a:endParaRPr lang="en-US" sz="850" dirty="0">
              <a:cs typeface="Segoe UI Light"/>
            </a:endParaRPr>
          </a:p>
          <a:p>
            <a:pPr>
              <a:lnSpc>
                <a:spcPct val="100000"/>
              </a:lnSpc>
            </a:pPr>
            <a:r>
              <a:rPr lang="pt-BR" sz="850" b="1" dirty="0">
                <a:latin typeface="Segoe UI Light"/>
                <a:cs typeface="Segoe UI Light"/>
              </a:rPr>
              <a:t>Observação: </a:t>
            </a:r>
            <a:r>
              <a:rPr lang="pt-BR" sz="850" dirty="0">
                <a:latin typeface="Segoe UI Light"/>
                <a:cs typeface="Segoe UI Light"/>
              </a:rPr>
              <a:t>use a localização Sul do Reino Unido.</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10/4/2022 8:08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5456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33"/>
              </a:spcAft>
              <a:buClrTx/>
              <a:buSzTx/>
              <a:buFontTx/>
              <a:buNone/>
              <a:tabLst/>
              <a:defRPr/>
            </a:pPr>
            <a:r>
              <a:rPr lang="pt-BR" i="1" dirty="0"/>
              <a:t>Reserve alguns minutos para os alunos pensarem sobre as perguntas e, em seguida, use o slide animado para exibir as respostas corretas.</a:t>
            </a:r>
          </a:p>
          <a:p>
            <a:pPr>
              <a:lnSpc>
                <a:spcPct val="100000"/>
              </a:lnSpc>
            </a:pPr>
            <a:endParaRPr lang="en-US" dirty="0"/>
          </a:p>
          <a:p>
            <a:pPr>
              <a:lnSpc>
                <a:spcPct val="100000"/>
              </a:lnSpc>
            </a:pPr>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pt-BR" sz="400" b="0" i="0" u="none" strike="noStrike" cap="none" normalizeH="0" baseline="0" noProof="0">
                <a:ln>
                  <a:noFill/>
                </a:ln>
                <a:gradFill>
                  <a:gsLst>
                    <a:gs pos="0">
                      <a:prstClr val="black"/>
                    </a:gs>
                    <a:gs pos="100000">
                      <a:prstClr val="black"/>
                    </a:gs>
                  </a:gsLst>
                  <a:lin ang="5400000" scaled="0"/>
                </a:gradFill>
                <a:uLnTx/>
                <a:uFillTx/>
                <a:latin typeface="Segoe UI" pitchFamily="34" charset="0"/>
                <a:ea typeface="Segoe UI" pitchFamily="34" charset="0"/>
                <a:cs typeface="Segoe UI" pitchFamily="34" charset="0"/>
              </a:rPr>
              <a:t>© Microsoft Corporation. Todos os direitos reservados. A MICROSOFT NÃO OFERECE GARANTIAS EXPRESSAS, IMPLÍCITAS OU LEGAIS QUANTO ÀS INFORMAÇÕES DESTA APRESENTAÇÃO.</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10/4/2022 8:08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85460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4855101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903760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29362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xmlns=""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365010784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1253173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spc="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37376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9421248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xmlns=""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505700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xmlns=""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9701809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8190879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948243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5242"/>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2329271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328010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7379516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78702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xmlns=""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xmlns=""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xmlns=""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874128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xmlns=""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xmlns=""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xmlns=""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xmlns=""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063226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xmlns=""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xmlns=""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xmlns=""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7634191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xmlns=""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xmlns=""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xmlns=""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xmlns=""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702806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xmlns=""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572870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xmlns=""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885924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xmlns=""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188239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xmlns=""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99427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232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94364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531664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64159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895182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4694891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078865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5311690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592120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5697331"/>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xmlns=""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xmlns=""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xmlns=""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xmlns=""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xmlns=""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xmlns=""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xmlns=""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xmlns=""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xmlns=""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xmlns=""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xmlns=""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xmlns=""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xmlns=""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xmlns=""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xmlns=""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xmlns=""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xmlns=""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9731049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xmlns=""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xmlns=""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xmlns=""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xmlns=""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xmlns=""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xmlns=""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xmlns=""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xmlns=""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4167398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xmlns=""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9457986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xmlns=""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xmlns=""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868840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xmlns=""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xmlns=""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xmlns=""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16485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xmlns=""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xmlns=""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xmlns=""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xmlns=""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16430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xmlns=""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xmlns=""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xmlns=""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xmlns=""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xmlns=""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6843873"/>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xmlns=""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xmlns=""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xmlns=""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xmlns=""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xmlns=""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xmlns=""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27451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xmlns=""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xmlns=""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xmlns=""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xmlns=""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xmlns=""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xmlns=""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xmlns=""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xmlns=""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xmlns=""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xmlns=""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xmlns=""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xmlns=""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xmlns=""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xmlns=""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xmlns=""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xmlns=""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081147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xmlns=""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xmlns=""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xmlns=""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xmlns=""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490633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xmlns=""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xmlns=""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xmlns=""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xmlns=""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xmlns=""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xmlns=""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13916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56078719"/>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7982749"/>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910312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2988049"/>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8952400"/>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1821782"/>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975334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427113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050874"/>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58173702"/>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304659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xmlns=""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0012147"/>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xmlns=""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53153291"/>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 name="Footer Placeholder 1">
            <a:extLst>
              <a:ext uri="{FF2B5EF4-FFF2-40B4-BE49-F238E27FC236}">
                <a16:creationId xmlns:a16="http://schemas.microsoft.com/office/drawing/2014/main" id="{37821097-B77C-4991-B924-D762ADC8782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6299133"/>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921033"/>
      </p:ext>
    </p:extLst>
  </p:cSld>
  <p:clrMapOvr>
    <a:masterClrMapping/>
  </p:clrMapOvr>
  <p:transition spd="slow">
    <p:push/>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5_Custom Layout">
  <p:cSld name="15_Custom Layout">
    <p:spTree>
      <p:nvGrpSpPr>
        <p:cNvPr id="1" name="Shape 15"/>
        <p:cNvGrpSpPr/>
        <p:nvPr/>
      </p:nvGrpSpPr>
      <p:grpSpPr>
        <a:xfrm>
          <a:off x="0" y="0"/>
          <a:ext cx="0" cy="0"/>
          <a:chOff x="0" y="0"/>
          <a:chExt cx="0" cy="0"/>
        </a:xfrm>
      </p:grpSpPr>
      <p:sp>
        <p:nvSpPr>
          <p:cNvPr id="16" name="Google Shape;16;p3"/>
          <p:cNvSpPr>
            <a:spLocks noGrp="1"/>
          </p:cNvSpPr>
          <p:nvPr>
            <p:ph type="pic" idx="2"/>
          </p:nvPr>
        </p:nvSpPr>
        <p:spPr>
          <a:xfrm>
            <a:off x="0" y="0"/>
            <a:ext cx="12192000" cy="6858000"/>
          </a:xfrm>
          <a:prstGeom prst="rect">
            <a:avLst/>
          </a:prstGeom>
          <a:solidFill>
            <a:srgbClr val="BFBFBF">
              <a:alpha val="27450"/>
            </a:srgbClr>
          </a:solidFill>
          <a:ln>
            <a:noFill/>
          </a:ln>
        </p:spPr>
      </p:sp>
    </p:spTree>
    <p:extLst>
      <p:ext uri="{BB962C8B-B14F-4D97-AF65-F5344CB8AC3E}">
        <p14:creationId xmlns:p14="http://schemas.microsoft.com/office/powerpoint/2010/main" val="288299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1490594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8262683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spTree>
    <p:extLst>
      <p:ext uri="{BB962C8B-B14F-4D97-AF65-F5344CB8AC3E}">
        <p14:creationId xmlns:p14="http://schemas.microsoft.com/office/powerpoint/2010/main" val="3745993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2116259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141749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2123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82399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820474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111364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43383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10335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83799277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48594464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205074388"/>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2552629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181297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C381C0FB-0396-463F-9527-BACCE968684E}"/>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25698966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Vide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95277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322406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72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447079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2442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42734129"/>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0083985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712099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1000664"/>
          </a:xfrm>
          <a:solidFill>
            <a:srgbClr val="0070C0"/>
          </a:solidFill>
        </p:spPr>
        <p:txBody>
          <a:bodyPr anchor="b"/>
          <a:lstStyle>
            <a:lvl1pPr algn="l">
              <a:defRPr sz="6000">
                <a:solidFill>
                  <a:schemeClr val="bg1"/>
                </a:solidFill>
              </a:defRPr>
            </a:lvl1pPr>
          </a:lstStyle>
          <a:p>
            <a:r>
              <a:rPr lang="en-US" dirty="0"/>
              <a:t> Click to edit Master title style</a:t>
            </a:r>
          </a:p>
        </p:txBody>
      </p:sp>
    </p:spTree>
    <p:extLst>
      <p:ext uri="{BB962C8B-B14F-4D97-AF65-F5344CB8AC3E}">
        <p14:creationId xmlns:p14="http://schemas.microsoft.com/office/powerpoint/2010/main" val="353328278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3899663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theme" Target="../theme/theme2.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52" r:id="rId1"/>
    <p:sldLayoutId id="2147484553" r:id="rId2"/>
    <p:sldLayoutId id="2147484583" r:id="rId3"/>
    <p:sldLayoutId id="2147484669" r:id="rId4"/>
    <p:sldLayoutId id="2147484734" r:id="rId5"/>
    <p:sldLayoutId id="2147484562" r:id="rId6"/>
    <p:sldLayoutId id="2147484728" r:id="rId7"/>
    <p:sldLayoutId id="2147484680" r:id="rId8"/>
    <p:sldLayoutId id="2147484610" r:id="rId9"/>
    <p:sldLayoutId id="2147484684" r:id="rId10"/>
    <p:sldLayoutId id="2147484670" r:id="rId11"/>
    <p:sldLayoutId id="2147484671" r:id="rId12"/>
    <p:sldLayoutId id="2147484682" r:id="rId13"/>
    <p:sldLayoutId id="2147484677" r:id="rId14"/>
    <p:sldLayoutId id="2147484727" r:id="rId15"/>
    <p:sldLayoutId id="2147484691" r:id="rId16"/>
    <p:sldLayoutId id="2147484692" r:id="rId17"/>
    <p:sldLayoutId id="2147484693" r:id="rId18"/>
    <p:sldLayoutId id="2147484694" r:id="rId19"/>
    <p:sldLayoutId id="2147484695" r:id="rId20"/>
    <p:sldLayoutId id="2147484560" r:id="rId21"/>
    <p:sldLayoutId id="2147484580" r:id="rId22"/>
    <p:sldLayoutId id="2147484566" r:id="rId23"/>
    <p:sldLayoutId id="2147484696" r:id="rId24"/>
    <p:sldLayoutId id="2147484697" r:id="rId25"/>
    <p:sldLayoutId id="2147484675" r:id="rId26"/>
    <p:sldLayoutId id="2147484676" r:id="rId27"/>
    <p:sldLayoutId id="2147484711" r:id="rId28"/>
    <p:sldLayoutId id="2147484721" r:id="rId29"/>
    <p:sldLayoutId id="2147484720" r:id="rId30"/>
    <p:sldLayoutId id="2147484726" r:id="rId31"/>
    <p:sldLayoutId id="2147484570" r:id="rId32"/>
    <p:sldLayoutId id="2147484571" r:id="rId33"/>
    <p:sldLayoutId id="2147484572" r:id="rId34"/>
    <p:sldLayoutId id="2147484688" r:id="rId35"/>
    <p:sldLayoutId id="2147484689" r:id="rId36"/>
    <p:sldLayoutId id="2147484690" r:id="rId37"/>
    <p:sldLayoutId id="2147484724" r:id="rId38"/>
    <p:sldLayoutId id="2147484725" r:id="rId39"/>
    <p:sldLayoutId id="2147484722" r:id="rId40"/>
    <p:sldLayoutId id="2147484683" r:id="rId41"/>
    <p:sldLayoutId id="2147484685" r:id="rId42"/>
    <p:sldLayoutId id="2147484673" r:id="rId43"/>
    <p:sldLayoutId id="2147484678" r:id="rId44"/>
    <p:sldLayoutId id="2147484679" r:id="rId45"/>
    <p:sldLayoutId id="2147484717" r:id="rId46"/>
    <p:sldLayoutId id="2147484718" r:id="rId47"/>
    <p:sldLayoutId id="2147484712" r:id="rId48"/>
    <p:sldLayoutId id="2147484713" r:id="rId49"/>
    <p:sldLayoutId id="2147484714" r:id="rId50"/>
    <p:sldLayoutId id="2147484715" r:id="rId51"/>
    <p:sldLayoutId id="2147484716" r:id="rId52"/>
    <p:sldLayoutId id="2147484723" r:id="rId53"/>
    <p:sldLayoutId id="2147484686" r:id="rId54"/>
    <p:sldLayoutId id="2147484674" r:id="rId55"/>
    <p:sldLayoutId id="2147484702" r:id="rId56"/>
    <p:sldLayoutId id="2147484719" r:id="rId57"/>
    <p:sldLayoutId id="2147484701" r:id="rId58"/>
    <p:sldLayoutId id="2147484699" r:id="rId59"/>
    <p:sldLayoutId id="2147484700" r:id="rId60"/>
    <p:sldLayoutId id="2147484703" r:id="rId61"/>
    <p:sldLayoutId id="2147484704" r:id="rId62"/>
    <p:sldLayoutId id="2147484705" r:id="rId63"/>
    <p:sldLayoutId id="2147484706" r:id="rId64"/>
    <p:sldLayoutId id="2147484707" r:id="rId65"/>
    <p:sldLayoutId id="2147484730" r:id="rId66"/>
    <p:sldLayoutId id="2147484710" r:id="rId67"/>
    <p:sldLayoutId id="2147484729" r:id="rId68"/>
    <p:sldLayoutId id="2147484731" r:id="rId69"/>
    <p:sldLayoutId id="2147484732" r:id="rId70"/>
    <p:sldLayoutId id="2147484733" r:id="rId71"/>
    <p:sldLayoutId id="2147484698" r:id="rId72"/>
    <p:sldLayoutId id="2147484763" r:id="rId73"/>
    <p:sldLayoutId id="2147484764" r:id="rId74"/>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4" orient="horz" pos="3690" userDrawn="1">
          <p15:clr>
            <a:srgbClr val="5ACBF0"/>
          </p15:clr>
        </p15:guide>
        <p15:guide id="55" orient="horz" pos="918" userDrawn="1">
          <p15:clr>
            <a:srgbClr val="F26B43"/>
          </p15:clr>
        </p15:guide>
        <p15:guide id="56" orient="horz" pos="3480" userDrawn="1">
          <p15:clr>
            <a:srgbClr val="F26B43"/>
          </p15:clr>
        </p15:guide>
        <p15:guide id="57" orient="horz" pos="357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55506025"/>
      </p:ext>
    </p:extLst>
  </p:cSld>
  <p:clrMap bg1="lt1" tx1="dk1" bg2="lt2" tx2="dk2" accent1="accent1" accent2="accent2" accent3="accent3" accent4="accent4" accent5="accent5" accent6="accent6" hlink="hlink" folHlink="folHlink"/>
  <p:sldLayoutIdLst>
    <p:sldLayoutId id="2147484736" r:id="rId1"/>
    <p:sldLayoutId id="2147484737" r:id="rId2"/>
    <p:sldLayoutId id="2147484738" r:id="rId3"/>
    <p:sldLayoutId id="2147484739" r:id="rId4"/>
    <p:sldLayoutId id="2147484740" r:id="rId5"/>
    <p:sldLayoutId id="2147484741" r:id="rId6"/>
    <p:sldLayoutId id="2147484742" r:id="rId7"/>
    <p:sldLayoutId id="2147484743" r:id="rId8"/>
    <p:sldLayoutId id="2147484744" r:id="rId9"/>
    <p:sldLayoutId id="2147484745" r:id="rId10"/>
    <p:sldLayoutId id="2147484746" r:id="rId11"/>
    <p:sldLayoutId id="2147484747" r:id="rId12"/>
    <p:sldLayoutId id="2147484748" r:id="rId13"/>
    <p:sldLayoutId id="2147484749" r:id="rId14"/>
    <p:sldLayoutId id="2147484750" r:id="rId15"/>
    <p:sldLayoutId id="2147484751" r:id="rId16"/>
    <p:sldLayoutId id="2147484752" r:id="rId17"/>
    <p:sldLayoutId id="2147484753" r:id="rId18"/>
    <p:sldLayoutId id="2147484754" r:id="rId19"/>
    <p:sldLayoutId id="2147484755" r:id="rId20"/>
    <p:sldLayoutId id="2147484756" r:id="rId21"/>
    <p:sldLayoutId id="2147484757" r:id="rId22"/>
    <p:sldLayoutId id="2147484758" r:id="rId23"/>
    <p:sldLayoutId id="2147484759" r:id="rId24"/>
    <p:sldLayoutId id="2147484760" r:id="rId25"/>
    <p:sldLayoutId id="2147484761" r:id="rId26"/>
    <p:sldLayoutId id="2147484762" r:id="rId2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20.svg"/><Relationship Id="rId5" Type="http://schemas.openxmlformats.org/officeDocument/2006/relationships/image" Target="../media/image18.png"/><Relationship Id="rId4"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4.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3.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3.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42.xml"/><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2.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emf"/><Relationship Id="rId4" Type="http://schemas.openxmlformats.org/officeDocument/2006/relationships/image" Target="../media/image26.svg"/><Relationship Id="rId9" Type="http://schemas.openxmlformats.org/officeDocument/2006/relationships/image" Target="../media/image31.svg"/></Relationships>
</file>

<file path=ppt/slides/_rels/slide14.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35.svg"/><Relationship Id="rId5" Type="http://schemas.openxmlformats.org/officeDocument/2006/relationships/image" Target="../media/image39.png"/><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hyperlink" Target="https://aka.ms/dp900-sql-lab" TargetMode="External"/><Relationship Id="rId2" Type="http://schemas.openxmlformats.org/officeDocument/2006/relationships/notesSlide" Target="../notesSlides/notesSlide12.xml"/><Relationship Id="rId1" Type="http://schemas.openxmlformats.org/officeDocument/2006/relationships/slideLayout" Target="../slideLayouts/slideLayout101.xml"/><Relationship Id="rId4" Type="http://schemas.openxmlformats.org/officeDocument/2006/relationships/image" Target="../media/image41.emf"/></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4.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nSpc>
                <a:spcPct val="100000"/>
              </a:lnSpc>
            </a:pPr>
            <a:r>
              <a:rPr lang="pt-BR" dirty="0"/>
              <a:t>Módulo 2: Explorar conceitos básicos dos dados relacionais no Azure</a:t>
            </a:r>
          </a:p>
        </p:txBody>
      </p:sp>
    </p:spTree>
    <p:extLst>
      <p:ext uri="{BB962C8B-B14F-4D97-AF65-F5344CB8AC3E}">
        <p14:creationId xmlns:p14="http://schemas.microsoft.com/office/powerpoint/2010/main" val="2324796566"/>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pt-BR" dirty="0"/>
              <a:t>Agenda</a:t>
            </a:r>
          </a:p>
        </p:txBody>
      </p:sp>
      <p:sp>
        <p:nvSpPr>
          <p:cNvPr id="2" name="Text Placeholder 1">
            <a:extLst>
              <a:ext uri="{FF2B5EF4-FFF2-40B4-BE49-F238E27FC236}">
                <a16:creationId xmlns:a16="http://schemas.microsoft.com/office/drawing/2014/main" id="{4174722F-7C4B-4FA1-BD20-BB5EE755DECD}"/>
              </a:ext>
            </a:extLst>
          </p:cNvPr>
          <p:cNvSpPr>
            <a:spLocks noGrp="1"/>
          </p:cNvSpPr>
          <p:nvPr>
            <p:ph type="body" sz="quarter" idx="21"/>
          </p:nvPr>
        </p:nvSpPr>
        <p:spPr>
          <a:xfrm>
            <a:off x="4078286" y="1925480"/>
            <a:ext cx="7695069" cy="1224436"/>
          </a:xfrm>
        </p:spPr>
        <p:txBody>
          <a:bodyPr/>
          <a:lstStyle/>
          <a:p>
            <a:r>
              <a:rPr lang="pt-BR" sz="2400" dirty="0"/>
              <a:t>Explorar conceitos de dados relacionais</a:t>
            </a:r>
          </a:p>
        </p:txBody>
      </p:sp>
      <p:sp>
        <p:nvSpPr>
          <p:cNvPr id="3" name="Text Placeholder 2">
            <a:extLst>
              <a:ext uri="{FF2B5EF4-FFF2-40B4-BE49-F238E27FC236}">
                <a16:creationId xmlns:a16="http://schemas.microsoft.com/office/drawing/2014/main" id="{01B445F9-6AF4-46EC-8581-CA3BC588510F}"/>
              </a:ext>
            </a:extLst>
          </p:cNvPr>
          <p:cNvSpPr>
            <a:spLocks noGrp="1"/>
          </p:cNvSpPr>
          <p:nvPr>
            <p:ph type="body" sz="quarter" idx="22"/>
          </p:nvPr>
        </p:nvSpPr>
        <p:spPr>
          <a:xfrm>
            <a:off x="4078285" y="3234013"/>
            <a:ext cx="7967941" cy="1224436"/>
          </a:xfrm>
        </p:spPr>
        <p:txBody>
          <a:bodyPr/>
          <a:lstStyle/>
          <a:p>
            <a:r>
              <a:rPr lang="pt-BR" sz="2400"/>
              <a:t>Explorar serviços do Azure de dados relacionais</a:t>
            </a:r>
          </a:p>
        </p:txBody>
      </p:sp>
      <p:grpSp>
        <p:nvGrpSpPr>
          <p:cNvPr id="11" name="Group 10">
            <a:extLst>
              <a:ext uri="{FF2B5EF4-FFF2-40B4-BE49-F238E27FC236}">
                <a16:creationId xmlns:a16="http://schemas.microsoft.com/office/drawing/2014/main" id="{26B9A331-7AA5-4BFA-9E87-4C229266260E}"/>
              </a:ext>
              <a:ext uri="{C183D7F6-B498-43B3-948B-1728B52AA6E4}">
                <adec:decorative xmlns:adec="http://schemas.microsoft.com/office/drawing/2017/decorative" xmlns="" val="1"/>
              </a:ext>
            </a:extLst>
          </p:cNvPr>
          <p:cNvGrpSpPr/>
          <p:nvPr/>
        </p:nvGrpSpPr>
        <p:grpSpPr>
          <a:xfrm>
            <a:off x="3176653" y="2233986"/>
            <a:ext cx="629904" cy="629904"/>
            <a:chOff x="7982575" y="847117"/>
            <a:chExt cx="779710" cy="779710"/>
          </a:xfrm>
        </p:grpSpPr>
        <p:sp>
          <p:nvSpPr>
            <p:cNvPr id="4" name="Oval 3">
              <a:extLst>
                <a:ext uri="{FF2B5EF4-FFF2-40B4-BE49-F238E27FC236}">
                  <a16:creationId xmlns:a16="http://schemas.microsoft.com/office/drawing/2014/main" id="{9F4695AF-D4C3-46CE-91BD-480BC7F93200}"/>
                </a:ext>
              </a:extLst>
            </p:cNvPr>
            <p:cNvSpPr/>
            <p:nvPr/>
          </p:nvSpPr>
          <p:spPr bwMode="auto">
            <a:xfrm>
              <a:off x="7982575" y="847117"/>
              <a:ext cx="779710" cy="779710"/>
            </a:xfrm>
            <a:prstGeom prst="ellipse">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t="100000" r="100000"/>
              </a:path>
              <a:tileRect l="-100000" b="-100000"/>
            </a:gradFill>
            <a:ln w="38100">
              <a:solidFill>
                <a:srgbClr val="59B4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9" name="Group 8">
              <a:extLst>
                <a:ext uri="{FF2B5EF4-FFF2-40B4-BE49-F238E27FC236}">
                  <a16:creationId xmlns:a16="http://schemas.microsoft.com/office/drawing/2014/main" id="{1475DDF1-2D72-4415-B570-EAF2874B2964}"/>
                </a:ext>
              </a:extLst>
            </p:cNvPr>
            <p:cNvGrpSpPr/>
            <p:nvPr/>
          </p:nvGrpSpPr>
          <p:grpSpPr>
            <a:xfrm>
              <a:off x="8081876" y="978121"/>
              <a:ext cx="581108" cy="517701"/>
              <a:chOff x="10161104" y="2136603"/>
              <a:chExt cx="798173" cy="711081"/>
            </a:xfrm>
          </p:grpSpPr>
          <p:pic>
            <p:nvPicPr>
              <p:cNvPr id="8" name="Graphic 7" descr="Tabela com preenchimento sólido">
                <a:extLst>
                  <a:ext uri="{FF2B5EF4-FFF2-40B4-BE49-F238E27FC236}">
                    <a16:creationId xmlns:a16="http://schemas.microsoft.com/office/drawing/2014/main" id="{BD56D747-E115-4551-ACE0-A2B9D3D05A5F}"/>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161104" y="2136603"/>
                <a:ext cx="526774" cy="526774"/>
              </a:xfrm>
              <a:prstGeom prst="rect">
                <a:avLst/>
              </a:prstGeom>
            </p:spPr>
          </p:pic>
          <p:pic>
            <p:nvPicPr>
              <p:cNvPr id="10" name="Graphic 9" descr="Tabela com preenchimento sólido">
                <a:extLst>
                  <a:ext uri="{FF2B5EF4-FFF2-40B4-BE49-F238E27FC236}">
                    <a16:creationId xmlns:a16="http://schemas.microsoft.com/office/drawing/2014/main" id="{DDE8FCCB-D944-4B2E-A8C5-639A1665E4A3}"/>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432503" y="2320910"/>
                <a:ext cx="526774" cy="526774"/>
              </a:xfrm>
              <a:prstGeom prst="rect">
                <a:avLst/>
              </a:prstGeom>
            </p:spPr>
          </p:pic>
        </p:grpSp>
      </p:grpSp>
      <p:grpSp>
        <p:nvGrpSpPr>
          <p:cNvPr id="22" name="Group 21">
            <a:extLst>
              <a:ext uri="{FF2B5EF4-FFF2-40B4-BE49-F238E27FC236}">
                <a16:creationId xmlns:a16="http://schemas.microsoft.com/office/drawing/2014/main" id="{980784D4-BC49-457F-BDEA-7A61E36C75DD}"/>
              </a:ext>
              <a:ext uri="{C183D7F6-B498-43B3-948B-1728B52AA6E4}">
                <adec:decorative xmlns:adec="http://schemas.microsoft.com/office/drawing/2017/decorative" xmlns="" val="1"/>
              </a:ext>
            </a:extLst>
          </p:cNvPr>
          <p:cNvGrpSpPr/>
          <p:nvPr/>
        </p:nvGrpSpPr>
        <p:grpSpPr>
          <a:xfrm>
            <a:off x="3199140" y="3531279"/>
            <a:ext cx="629904" cy="629904"/>
            <a:chOff x="7621433" y="5129745"/>
            <a:chExt cx="779710" cy="779710"/>
          </a:xfrm>
        </p:grpSpPr>
        <p:sp>
          <p:nvSpPr>
            <p:cNvPr id="14" name="Oval 13">
              <a:extLst>
                <a:ext uri="{FF2B5EF4-FFF2-40B4-BE49-F238E27FC236}">
                  <a16:creationId xmlns:a16="http://schemas.microsoft.com/office/drawing/2014/main" id="{30B4D586-91D9-4B50-B900-9353456AF472}"/>
                </a:ext>
              </a:extLst>
            </p:cNvPr>
            <p:cNvSpPr/>
            <p:nvPr/>
          </p:nvSpPr>
          <p:spPr bwMode="auto">
            <a:xfrm>
              <a:off x="7621433" y="5129745"/>
              <a:ext cx="779710" cy="779710"/>
            </a:xfrm>
            <a:prstGeom prst="ellipse">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t="100000" r="100000"/>
              </a:path>
              <a:tileRect l="-100000" b="-100000"/>
            </a:gradFill>
            <a:ln w="38100">
              <a:solidFill>
                <a:srgbClr val="59B4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1" name="Group 20">
              <a:extLst>
                <a:ext uri="{FF2B5EF4-FFF2-40B4-BE49-F238E27FC236}">
                  <a16:creationId xmlns:a16="http://schemas.microsoft.com/office/drawing/2014/main" id="{5C27B55B-E2CB-4778-82EF-F4AC4F24BCCF}"/>
                </a:ext>
              </a:extLst>
            </p:cNvPr>
            <p:cNvGrpSpPr/>
            <p:nvPr/>
          </p:nvGrpSpPr>
          <p:grpSpPr>
            <a:xfrm>
              <a:off x="7804682" y="5319189"/>
              <a:ext cx="575989" cy="576618"/>
              <a:chOff x="9642143" y="3149916"/>
              <a:chExt cx="694583" cy="695341"/>
            </a:xfrm>
          </p:grpSpPr>
          <p:sp>
            <p:nvSpPr>
              <p:cNvPr id="12" name="Cylinder 11">
                <a:extLst>
                  <a:ext uri="{FF2B5EF4-FFF2-40B4-BE49-F238E27FC236}">
                    <a16:creationId xmlns:a16="http://schemas.microsoft.com/office/drawing/2014/main" id="{9471E950-8220-4925-BE3E-B1E14F0C47BD}"/>
                  </a:ext>
                </a:extLst>
              </p:cNvPr>
              <p:cNvSpPr/>
              <p:nvPr/>
            </p:nvSpPr>
            <p:spPr bwMode="auto">
              <a:xfrm>
                <a:off x="9642143" y="3149916"/>
                <a:ext cx="368490" cy="439445"/>
              </a:xfrm>
              <a:prstGeom prst="can">
                <a:avLst/>
              </a:prstGeom>
              <a:solidFill>
                <a:schemeClr val="accent4">
                  <a:lumMod val="60000"/>
                  <a:lumOff val="40000"/>
                </a:schemeClr>
              </a:solidFill>
              <a:ln w="28575">
                <a:solidFill>
                  <a:schemeClr val="accent5">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0" name="Graphic 19" descr="Nuvem com preenchimento sólido">
                <a:extLst>
                  <a:ext uri="{FF2B5EF4-FFF2-40B4-BE49-F238E27FC236}">
                    <a16:creationId xmlns:a16="http://schemas.microsoft.com/office/drawing/2014/main" id="{848C0E0E-D369-480C-9C5C-54D7D94D4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9684539" y="3193070"/>
                <a:ext cx="652187" cy="652187"/>
              </a:xfrm>
              <a:prstGeom prst="rect">
                <a:avLst/>
              </a:prstGeom>
            </p:spPr>
          </p:pic>
        </p:grpSp>
      </p:grpSp>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1BE858-0F27-47E5-AFEC-0727DEBA30F6}"/>
              </a:ext>
            </a:extLst>
          </p:cNvPr>
          <p:cNvSpPr>
            <a:spLocks noGrp="1"/>
          </p:cNvSpPr>
          <p:nvPr>
            <p:ph type="title"/>
          </p:nvPr>
        </p:nvSpPr>
        <p:spPr/>
        <p:txBody>
          <a:bodyPr/>
          <a:lstStyle/>
          <a:p>
            <a:pPr>
              <a:lnSpc>
                <a:spcPct val="100000"/>
              </a:lnSpc>
            </a:pPr>
            <a:r>
              <a:rPr lang="pt-BR" sz="2000" dirty="0"/>
              <a:t>Lição 1: Explorar conceitos de dados relacionais</a:t>
            </a:r>
          </a:p>
        </p:txBody>
      </p:sp>
      <p:grpSp>
        <p:nvGrpSpPr>
          <p:cNvPr id="6" name="Group 5">
            <a:extLst>
              <a:ext uri="{FF2B5EF4-FFF2-40B4-BE49-F238E27FC236}">
                <a16:creationId xmlns:a16="http://schemas.microsoft.com/office/drawing/2014/main" id="{5A550021-BF3F-4A47-B02F-D0A3FD18FB8A}"/>
              </a:ext>
              <a:ext uri="{C183D7F6-B498-43B3-948B-1728B52AA6E4}">
                <adec:decorative xmlns:adec="http://schemas.microsoft.com/office/drawing/2017/decorative" xmlns="" val="1"/>
              </a:ext>
            </a:extLst>
          </p:cNvPr>
          <p:cNvGrpSpPr/>
          <p:nvPr/>
        </p:nvGrpSpPr>
        <p:grpSpPr>
          <a:xfrm>
            <a:off x="10280472" y="2961070"/>
            <a:ext cx="935860" cy="935860"/>
            <a:chOff x="7982575" y="847117"/>
            <a:chExt cx="779710" cy="779710"/>
          </a:xfrm>
        </p:grpSpPr>
        <p:sp>
          <p:nvSpPr>
            <p:cNvPr id="7" name="Oval 6">
              <a:extLst>
                <a:ext uri="{FF2B5EF4-FFF2-40B4-BE49-F238E27FC236}">
                  <a16:creationId xmlns:a16="http://schemas.microsoft.com/office/drawing/2014/main" id="{AACD179A-29AF-448C-A089-BB33911F299A}"/>
                </a:ext>
              </a:extLst>
            </p:cNvPr>
            <p:cNvSpPr/>
            <p:nvPr/>
          </p:nvSpPr>
          <p:spPr bwMode="auto">
            <a:xfrm>
              <a:off x="7982575" y="847117"/>
              <a:ext cx="779710" cy="779710"/>
            </a:xfrm>
            <a:prstGeom prst="ellipse">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t="100000" r="100000"/>
              </a:path>
              <a:tileRect l="-100000" b="-100000"/>
            </a:gradFill>
            <a:ln w="38100">
              <a:solidFill>
                <a:srgbClr val="59B4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62C62AD2-285A-41B5-B3BD-E925EC59278A}"/>
                </a:ext>
              </a:extLst>
            </p:cNvPr>
            <p:cNvGrpSpPr/>
            <p:nvPr/>
          </p:nvGrpSpPr>
          <p:grpSpPr>
            <a:xfrm>
              <a:off x="8081876" y="978121"/>
              <a:ext cx="581108" cy="517701"/>
              <a:chOff x="10161104" y="2136603"/>
              <a:chExt cx="798173" cy="711081"/>
            </a:xfrm>
          </p:grpSpPr>
          <p:pic>
            <p:nvPicPr>
              <p:cNvPr id="9" name="Graphic 8" descr="Tabela com preenchimento sólido">
                <a:extLst>
                  <a:ext uri="{FF2B5EF4-FFF2-40B4-BE49-F238E27FC236}">
                    <a16:creationId xmlns:a16="http://schemas.microsoft.com/office/drawing/2014/main" id="{474EBFDE-4AD4-4679-A9DA-45C50C9B26DF}"/>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161104" y="2136603"/>
                <a:ext cx="526774" cy="526774"/>
              </a:xfrm>
              <a:prstGeom prst="rect">
                <a:avLst/>
              </a:prstGeom>
            </p:spPr>
          </p:pic>
          <p:pic>
            <p:nvPicPr>
              <p:cNvPr id="10" name="Graphic 9" descr="Tabela com preenchimento sólido">
                <a:extLst>
                  <a:ext uri="{FF2B5EF4-FFF2-40B4-BE49-F238E27FC236}">
                    <a16:creationId xmlns:a16="http://schemas.microsoft.com/office/drawing/2014/main" id="{53730962-CA53-41F7-9BCE-A40516AD6BAD}"/>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432503" y="2320910"/>
                <a:ext cx="526774" cy="526774"/>
              </a:xfrm>
              <a:prstGeom prst="rect">
                <a:avLst/>
              </a:prstGeom>
            </p:spPr>
          </p:pic>
        </p:grpSp>
      </p:grpSp>
    </p:spTree>
    <p:extLst>
      <p:ext uri="{BB962C8B-B14F-4D97-AF65-F5344CB8AC3E}">
        <p14:creationId xmlns:p14="http://schemas.microsoft.com/office/powerpoint/2010/main" val="234776163"/>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45"/>
          <p:cNvSpPr txBox="1"/>
          <p:nvPr/>
        </p:nvSpPr>
        <p:spPr>
          <a:xfrm>
            <a:off x="2056844" y="598851"/>
            <a:ext cx="8472791"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pt-BR" sz="3600" b="1" i="0" u="none" strike="noStrike" cap="none" dirty="0" smtClean="0">
                <a:solidFill>
                  <a:schemeClr val="accent1"/>
                </a:solidFill>
                <a:latin typeface="Montserrat"/>
                <a:ea typeface="Montserrat"/>
                <a:cs typeface="Montserrat"/>
                <a:sym typeface="Montserrat"/>
              </a:rPr>
              <a:t>ACID</a:t>
            </a:r>
            <a:endParaRPr sz="4400" b="0" i="0" u="none" strike="noStrike" cap="none" dirty="0">
              <a:solidFill>
                <a:schemeClr val="lt1"/>
              </a:solidFill>
              <a:latin typeface="Montserrat"/>
              <a:ea typeface="Montserrat"/>
              <a:cs typeface="Montserrat"/>
              <a:sym typeface="Montserrat"/>
            </a:endParaRPr>
          </a:p>
        </p:txBody>
      </p:sp>
      <p:sp>
        <p:nvSpPr>
          <p:cNvPr id="2" name="CaixaDeTexto 1">
            <a:extLst>
              <a:ext uri="{FF2B5EF4-FFF2-40B4-BE49-F238E27FC236}">
                <a16:creationId xmlns:a16="http://schemas.microsoft.com/office/drawing/2014/main" id="{26DDB3A5-4A38-011E-8711-F3955E2A89C3}"/>
              </a:ext>
            </a:extLst>
          </p:cNvPr>
          <p:cNvSpPr txBox="1"/>
          <p:nvPr/>
        </p:nvSpPr>
        <p:spPr>
          <a:xfrm>
            <a:off x="428017" y="1546698"/>
            <a:ext cx="11040894" cy="707886"/>
          </a:xfrm>
          <a:prstGeom prst="rect">
            <a:avLst/>
          </a:prstGeom>
          <a:noFill/>
        </p:spPr>
        <p:txBody>
          <a:bodyPr wrap="square" rtlCol="0">
            <a:spAutoFit/>
          </a:bodyPr>
          <a:lstStyle/>
          <a:p>
            <a:r>
              <a:rPr lang="pt-BR" sz="2000" dirty="0"/>
              <a:t>Os dados transacionais são informações que rastreiam as interações relacionadas às atividades de uma organização. Abaixo estão suas características:</a:t>
            </a:r>
          </a:p>
        </p:txBody>
      </p:sp>
      <p:sp>
        <p:nvSpPr>
          <p:cNvPr id="5" name="CaixaDeTexto 4">
            <a:extLst>
              <a:ext uri="{FF2B5EF4-FFF2-40B4-BE49-F238E27FC236}">
                <a16:creationId xmlns:a16="http://schemas.microsoft.com/office/drawing/2014/main" id="{DB44414F-A390-FD0F-19B1-CCE0A189C8F5}"/>
              </a:ext>
            </a:extLst>
          </p:cNvPr>
          <p:cNvSpPr txBox="1"/>
          <p:nvPr/>
        </p:nvSpPr>
        <p:spPr>
          <a:xfrm>
            <a:off x="428017" y="2398755"/>
            <a:ext cx="7704307" cy="3785652"/>
          </a:xfrm>
          <a:prstGeom prst="rect">
            <a:avLst/>
          </a:prstGeom>
          <a:noFill/>
        </p:spPr>
        <p:txBody>
          <a:bodyPr wrap="square" rtlCol="0">
            <a:spAutoFit/>
          </a:bodyPr>
          <a:lstStyle/>
          <a:p>
            <a:r>
              <a:rPr lang="pt-BR" sz="2000" dirty="0">
                <a:solidFill>
                  <a:schemeClr val="accent3"/>
                </a:solidFill>
              </a:rPr>
              <a:t>-► </a:t>
            </a:r>
            <a:r>
              <a:rPr lang="pt-BR" sz="2000" b="1" dirty="0">
                <a:solidFill>
                  <a:schemeClr val="accent3"/>
                </a:solidFill>
              </a:rPr>
              <a:t>Atomicidade</a:t>
            </a:r>
            <a:r>
              <a:rPr lang="pt-BR" sz="2000" dirty="0">
                <a:solidFill>
                  <a:schemeClr val="accent3"/>
                </a:solidFill>
              </a:rPr>
              <a:t> </a:t>
            </a:r>
            <a:r>
              <a:rPr lang="pt-BR" sz="2000" dirty="0"/>
              <a:t>– cada transação é tratada como uma unidade independente que resulta em sucesso completo ou falha completa.</a:t>
            </a:r>
          </a:p>
          <a:p>
            <a:endParaRPr lang="pt-BR" sz="2000" dirty="0"/>
          </a:p>
          <a:p>
            <a:r>
              <a:rPr lang="pt-BR" sz="2000" dirty="0">
                <a:solidFill>
                  <a:schemeClr val="accent3"/>
                </a:solidFill>
              </a:rPr>
              <a:t>-► </a:t>
            </a:r>
            <a:r>
              <a:rPr lang="pt-BR" sz="2000" b="1" dirty="0">
                <a:solidFill>
                  <a:schemeClr val="accent3"/>
                </a:solidFill>
              </a:rPr>
              <a:t>Consistência</a:t>
            </a:r>
            <a:r>
              <a:rPr lang="pt-BR" sz="2000" dirty="0">
                <a:solidFill>
                  <a:schemeClr val="accent3"/>
                </a:solidFill>
              </a:rPr>
              <a:t> </a:t>
            </a:r>
            <a:r>
              <a:rPr lang="pt-BR" sz="2000" dirty="0"/>
              <a:t>– as transações só podem conduzir os dados do banco de dados de um estado válido para outro estado válido.</a:t>
            </a:r>
          </a:p>
          <a:p>
            <a:endParaRPr lang="pt-BR" sz="2000" dirty="0"/>
          </a:p>
          <a:p>
            <a:r>
              <a:rPr lang="pt-BR" sz="2000" dirty="0">
                <a:solidFill>
                  <a:schemeClr val="accent3"/>
                </a:solidFill>
              </a:rPr>
              <a:t>-► </a:t>
            </a:r>
            <a:r>
              <a:rPr lang="pt-BR" sz="2000" b="1" dirty="0">
                <a:solidFill>
                  <a:schemeClr val="accent3"/>
                </a:solidFill>
              </a:rPr>
              <a:t>Isolamento</a:t>
            </a:r>
            <a:r>
              <a:rPr lang="pt-BR" sz="2000" dirty="0">
                <a:solidFill>
                  <a:schemeClr val="accent3"/>
                </a:solidFill>
              </a:rPr>
              <a:t> </a:t>
            </a:r>
            <a:r>
              <a:rPr lang="pt-BR" sz="2000" dirty="0"/>
              <a:t>– a execução concorrente de transações deixa o banco de dados no mesmo estado.</a:t>
            </a:r>
          </a:p>
          <a:p>
            <a:endParaRPr lang="pt-BR" sz="2000" dirty="0"/>
          </a:p>
          <a:p>
            <a:r>
              <a:rPr lang="pt-BR" sz="2000" dirty="0">
                <a:solidFill>
                  <a:schemeClr val="accent3"/>
                </a:solidFill>
              </a:rPr>
              <a:t>-► </a:t>
            </a:r>
            <a:r>
              <a:rPr lang="pt-BR" sz="2000" b="1" dirty="0">
                <a:solidFill>
                  <a:schemeClr val="accent3"/>
                </a:solidFill>
              </a:rPr>
              <a:t>Durabilidade</a:t>
            </a:r>
            <a:r>
              <a:rPr lang="pt-BR" sz="2000" dirty="0">
                <a:solidFill>
                  <a:schemeClr val="accent3"/>
                </a:solidFill>
              </a:rPr>
              <a:t> </a:t>
            </a:r>
            <a:r>
              <a:rPr lang="pt-BR" sz="2000" dirty="0"/>
              <a:t>– assim que uma transação tiver sido confirmada, permanecerá assim.</a:t>
            </a:r>
          </a:p>
        </p:txBody>
      </p:sp>
      <p:pic>
        <p:nvPicPr>
          <p:cNvPr id="4098" name="Picture 2">
            <a:extLst>
              <a:ext uri="{FF2B5EF4-FFF2-40B4-BE49-F238E27FC236}">
                <a16:creationId xmlns:a16="http://schemas.microsoft.com/office/drawing/2014/main" id="{4EC1A1C5-FA5C-DBD9-7A03-3E4D5D88AE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952689" y="2149813"/>
            <a:ext cx="3239311" cy="38608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6FB3B22-60DC-EDBE-B4CC-684B26C9C2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7993" y="2128947"/>
            <a:ext cx="2601642" cy="2254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723325"/>
      </p:ext>
    </p:extLst>
  </p:cSld>
  <p:clrMapOvr>
    <a:masterClrMapping/>
  </p:clrMapOvr>
  <p:transition spd="slow">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D870A18-B364-4F62-93CF-C9A4F3BE7A20}"/>
              </a:ext>
              <a:ext uri="{C183D7F6-B498-43B3-948B-1728B52AA6E4}">
                <adec:decorative xmlns:adec="http://schemas.microsoft.com/office/drawing/2017/decorative" xmlns="" val="1"/>
              </a:ext>
            </a:extLst>
          </p:cNvPr>
          <p:cNvSpPr/>
          <p:nvPr/>
        </p:nvSpPr>
        <p:spPr bwMode="auto">
          <a:xfrm>
            <a:off x="4432853" y="1205948"/>
            <a:ext cx="7759148" cy="521155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591D3CC6-B7EE-4CF2-A5AE-DA84A75E2330}"/>
              </a:ext>
            </a:extLst>
          </p:cNvPr>
          <p:cNvSpPr>
            <a:spLocks noGrp="1"/>
          </p:cNvSpPr>
          <p:nvPr>
            <p:ph type="title"/>
          </p:nvPr>
        </p:nvSpPr>
        <p:spPr/>
        <p:txBody>
          <a:bodyPr/>
          <a:lstStyle/>
          <a:p>
            <a:pPr>
              <a:lnSpc>
                <a:spcPct val="100000"/>
              </a:lnSpc>
            </a:pPr>
            <a:r>
              <a:rPr lang="pt-BR" dirty="0"/>
              <a:t>Tabelas relacionais</a:t>
            </a:r>
          </a:p>
        </p:txBody>
      </p:sp>
      <p:sp>
        <p:nvSpPr>
          <p:cNvPr id="33" name="Rectangle 32">
            <a:extLst>
              <a:ext uri="{FF2B5EF4-FFF2-40B4-BE49-F238E27FC236}">
                <a16:creationId xmlns:a16="http://schemas.microsoft.com/office/drawing/2014/main" id="{37D2FA60-EDA4-4AE1-ABBA-6F264ECD199D}"/>
              </a:ext>
            </a:extLst>
          </p:cNvPr>
          <p:cNvSpPr/>
          <p:nvPr/>
        </p:nvSpPr>
        <p:spPr>
          <a:xfrm>
            <a:off x="186319" y="1710510"/>
            <a:ext cx="4504949" cy="894273"/>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lvl="0" indent="0" algn="l" defTabSz="1111250">
              <a:spcBef>
                <a:spcPct val="0"/>
              </a:spcBef>
              <a:spcAft>
                <a:spcPct val="35000"/>
              </a:spcAft>
              <a:buNone/>
            </a:pPr>
            <a:r>
              <a:rPr lang="pt-BR" sz="2000" dirty="0">
                <a:solidFill>
                  <a:schemeClr val="tx1"/>
                </a:solidFill>
              </a:rPr>
              <a:t>Os dados são armazenados em tabelas</a:t>
            </a:r>
          </a:p>
        </p:txBody>
      </p:sp>
      <p:sp>
        <p:nvSpPr>
          <p:cNvPr id="34" name="Rectangle 33">
            <a:extLst>
              <a:ext uri="{FF2B5EF4-FFF2-40B4-BE49-F238E27FC236}">
                <a16:creationId xmlns:a16="http://schemas.microsoft.com/office/drawing/2014/main" id="{6F8D2441-B7AC-4AF8-A2DE-20951312EB74}"/>
              </a:ext>
            </a:extLst>
          </p:cNvPr>
          <p:cNvSpPr/>
          <p:nvPr/>
        </p:nvSpPr>
        <p:spPr>
          <a:xfrm>
            <a:off x="186320" y="2746296"/>
            <a:ext cx="4504950" cy="894273"/>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lvl="0" indent="0" algn="l" defTabSz="1111250">
              <a:spcBef>
                <a:spcPct val="0"/>
              </a:spcBef>
              <a:spcAft>
                <a:spcPct val="35000"/>
              </a:spcAft>
              <a:buNone/>
            </a:pPr>
            <a:r>
              <a:rPr lang="pt-BR" sz="2000">
                <a:solidFill>
                  <a:schemeClr val="tx1"/>
                </a:solidFill>
              </a:rPr>
              <a:t>A tabela consiste em linhas e colunas</a:t>
            </a:r>
          </a:p>
        </p:txBody>
      </p:sp>
      <p:sp>
        <p:nvSpPr>
          <p:cNvPr id="35" name="Rectangle 34">
            <a:extLst>
              <a:ext uri="{FF2B5EF4-FFF2-40B4-BE49-F238E27FC236}">
                <a16:creationId xmlns:a16="http://schemas.microsoft.com/office/drawing/2014/main" id="{C712F2C3-7649-427E-A3A2-03FADCE4510A}"/>
              </a:ext>
            </a:extLst>
          </p:cNvPr>
          <p:cNvSpPr/>
          <p:nvPr/>
        </p:nvSpPr>
        <p:spPr>
          <a:xfrm>
            <a:off x="186319" y="3782082"/>
            <a:ext cx="4504951" cy="894273"/>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lvl="0" indent="0" algn="l" defTabSz="1111250">
              <a:spcBef>
                <a:spcPct val="0"/>
              </a:spcBef>
              <a:spcAft>
                <a:spcPct val="35000"/>
              </a:spcAft>
              <a:buNone/>
            </a:pPr>
            <a:r>
              <a:rPr lang="pt-BR" sz="2000">
                <a:solidFill>
                  <a:schemeClr val="tx1"/>
                </a:solidFill>
              </a:rPr>
              <a:t>Todas as linhas têm as mesmas colunas</a:t>
            </a:r>
          </a:p>
        </p:txBody>
      </p:sp>
      <p:sp>
        <p:nvSpPr>
          <p:cNvPr id="36" name="Rectangle 35">
            <a:extLst>
              <a:ext uri="{FF2B5EF4-FFF2-40B4-BE49-F238E27FC236}">
                <a16:creationId xmlns:a16="http://schemas.microsoft.com/office/drawing/2014/main" id="{5EE50CD9-8837-4016-9210-37BD7D834FCC}"/>
              </a:ext>
            </a:extLst>
          </p:cNvPr>
          <p:cNvSpPr/>
          <p:nvPr/>
        </p:nvSpPr>
        <p:spPr>
          <a:xfrm>
            <a:off x="186320" y="4817868"/>
            <a:ext cx="4504948" cy="894273"/>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lvl="0" indent="0" algn="l" defTabSz="1111250">
              <a:spcBef>
                <a:spcPct val="0"/>
              </a:spcBef>
              <a:spcAft>
                <a:spcPct val="35000"/>
              </a:spcAft>
              <a:buNone/>
            </a:pPr>
            <a:r>
              <a:rPr lang="pt-BR" sz="2000">
                <a:solidFill>
                  <a:schemeClr val="tx1"/>
                </a:solidFill>
              </a:rPr>
              <a:t>Cada coluna recebe um datatype</a:t>
            </a:r>
          </a:p>
        </p:txBody>
      </p:sp>
      <p:graphicFrame>
        <p:nvGraphicFramePr>
          <p:cNvPr id="25" name="Table 24">
            <a:extLst>
              <a:ext uri="{FF2B5EF4-FFF2-40B4-BE49-F238E27FC236}">
                <a16:creationId xmlns:a16="http://schemas.microsoft.com/office/drawing/2014/main" id="{21E04BE3-427C-4FA1-AA5B-1705DFCB20B6}"/>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873130290"/>
              </p:ext>
            </p:extLst>
          </p:nvPr>
        </p:nvGraphicFramePr>
        <p:xfrm>
          <a:off x="5012276" y="1548213"/>
          <a:ext cx="6511838" cy="1028788"/>
        </p:xfrm>
        <a:graphic>
          <a:graphicData uri="http://schemas.openxmlformats.org/drawingml/2006/table">
            <a:tbl>
              <a:tblPr firstRow="1" bandRow="1">
                <a:tableStyleId>{5C22544A-7EE6-4342-B048-85BDC9FD1C3A}</a:tableStyleId>
              </a:tblPr>
              <a:tblGrid>
                <a:gridCol w="323564">
                  <a:extLst>
                    <a:ext uri="{9D8B030D-6E8A-4147-A177-3AD203B41FA5}">
                      <a16:colId xmlns:a16="http://schemas.microsoft.com/office/drawing/2014/main" val="1727388637"/>
                    </a:ext>
                  </a:extLst>
                </a:gridCol>
                <a:gridCol w="1094214">
                  <a:extLst>
                    <a:ext uri="{9D8B030D-6E8A-4147-A177-3AD203B41FA5}">
                      <a16:colId xmlns:a16="http://schemas.microsoft.com/office/drawing/2014/main" val="203941302"/>
                    </a:ext>
                  </a:extLst>
                </a:gridCol>
                <a:gridCol w="1094214">
                  <a:extLst>
                    <a:ext uri="{9D8B030D-6E8A-4147-A177-3AD203B41FA5}">
                      <a16:colId xmlns:a16="http://schemas.microsoft.com/office/drawing/2014/main" val="1778540709"/>
                    </a:ext>
                  </a:extLst>
                </a:gridCol>
                <a:gridCol w="1094214">
                  <a:extLst>
                    <a:ext uri="{9D8B030D-6E8A-4147-A177-3AD203B41FA5}">
                      <a16:colId xmlns:a16="http://schemas.microsoft.com/office/drawing/2014/main" val="2978997344"/>
                    </a:ext>
                  </a:extLst>
                </a:gridCol>
                <a:gridCol w="1437376">
                  <a:extLst>
                    <a:ext uri="{9D8B030D-6E8A-4147-A177-3AD203B41FA5}">
                      <a16:colId xmlns:a16="http://schemas.microsoft.com/office/drawing/2014/main" val="299907239"/>
                    </a:ext>
                  </a:extLst>
                </a:gridCol>
                <a:gridCol w="776976">
                  <a:extLst>
                    <a:ext uri="{9D8B030D-6E8A-4147-A177-3AD203B41FA5}">
                      <a16:colId xmlns:a16="http://schemas.microsoft.com/office/drawing/2014/main" val="2578400319"/>
                    </a:ext>
                  </a:extLst>
                </a:gridCol>
                <a:gridCol w="691280">
                  <a:extLst>
                    <a:ext uri="{9D8B030D-6E8A-4147-A177-3AD203B41FA5}">
                      <a16:colId xmlns:a16="http://schemas.microsoft.com/office/drawing/2014/main" val="526912778"/>
                    </a:ext>
                  </a:extLst>
                </a:gridCol>
              </a:tblGrid>
              <a:tr h="307417">
                <a:tc gridSpan="6">
                  <a:txBody>
                    <a:bodyPr/>
                    <a:lstStyle/>
                    <a:p>
                      <a:r>
                        <a:rPr lang="pt-BR" sz="1500"/>
                        <a:t>Customer</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500" dirty="0"/>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FirstName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MiddleName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LastName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Email</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Address</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City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Joe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David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Jones</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joe@litware.com</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 Main St.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Seattle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Samir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000" dirty="0"/>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Nadoy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samir@northwind.com</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123 Elm Pl.</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New York</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20542152"/>
                  </a:ext>
                </a:extLst>
              </a:tr>
            </a:tbl>
          </a:graphicData>
        </a:graphic>
      </p:graphicFrame>
      <p:graphicFrame>
        <p:nvGraphicFramePr>
          <p:cNvPr id="5" name="Table 4">
            <a:extLst>
              <a:ext uri="{FF2B5EF4-FFF2-40B4-BE49-F238E27FC236}">
                <a16:creationId xmlns:a16="http://schemas.microsoft.com/office/drawing/2014/main" id="{6D766C83-34FC-4B9C-A817-550B3A4ACC23}"/>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1430716483"/>
              </p:ext>
            </p:extLst>
          </p:nvPr>
        </p:nvGraphicFramePr>
        <p:xfrm>
          <a:off x="6880386" y="2897880"/>
          <a:ext cx="2992483" cy="1268392"/>
        </p:xfrm>
        <a:graphic>
          <a:graphicData uri="http://schemas.openxmlformats.org/drawingml/2006/table">
            <a:tbl>
              <a:tblPr firstRow="1" bandRow="1">
                <a:tableStyleId>{5C22544A-7EE6-4342-B048-85BDC9FD1C3A}</a:tableStyleId>
              </a:tblPr>
              <a:tblGrid>
                <a:gridCol w="674118">
                  <a:extLst>
                    <a:ext uri="{9D8B030D-6E8A-4147-A177-3AD203B41FA5}">
                      <a16:colId xmlns:a16="http://schemas.microsoft.com/office/drawing/2014/main" val="1727388637"/>
                    </a:ext>
                  </a:extLst>
                </a:gridCol>
                <a:gridCol w="1482559">
                  <a:extLst>
                    <a:ext uri="{9D8B030D-6E8A-4147-A177-3AD203B41FA5}">
                      <a16:colId xmlns:a16="http://schemas.microsoft.com/office/drawing/2014/main" val="299907239"/>
                    </a:ext>
                  </a:extLst>
                </a:gridCol>
                <a:gridCol w="835806">
                  <a:extLst>
                    <a:ext uri="{9D8B030D-6E8A-4147-A177-3AD203B41FA5}">
                      <a16:colId xmlns:a16="http://schemas.microsoft.com/office/drawing/2014/main" val="2578400319"/>
                    </a:ext>
                  </a:extLst>
                </a:gridCol>
              </a:tblGrid>
              <a:tr h="307417">
                <a:tc gridSpan="3">
                  <a:txBody>
                    <a:bodyPr/>
                    <a:lstStyle/>
                    <a:p>
                      <a:r>
                        <a:rPr lang="pt-BR" sz="1500"/>
                        <a:t>Product</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Price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Hammer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2.99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162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Screwdriver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3.49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239604">
                <a:tc>
                  <a:txBody>
                    <a:bodyPr/>
                    <a:lstStyle/>
                    <a:p>
                      <a:r>
                        <a:rPr lang="pt-BR" sz="1000"/>
                        <a:t>201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Wrench</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4.25</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bl>
          </a:graphicData>
        </a:graphic>
      </p:graphicFrame>
      <p:graphicFrame>
        <p:nvGraphicFramePr>
          <p:cNvPr id="7" name="Table 6">
            <a:extLst>
              <a:ext uri="{FF2B5EF4-FFF2-40B4-BE49-F238E27FC236}">
                <a16:creationId xmlns:a16="http://schemas.microsoft.com/office/drawing/2014/main" id="{40F464BE-90CE-4BDC-B26C-A1EE7BC14486}"/>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1891967533"/>
              </p:ext>
            </p:extLst>
          </p:nvPr>
        </p:nvGraphicFramePr>
        <p:xfrm>
          <a:off x="5369519" y="4843097"/>
          <a:ext cx="2292912" cy="1060204"/>
        </p:xfrm>
        <a:graphic>
          <a:graphicData uri="http://schemas.openxmlformats.org/drawingml/2006/table">
            <a:tbl>
              <a:tblPr firstRow="1" bandRow="1">
                <a:tableStyleId>{5C22544A-7EE6-4342-B048-85BDC9FD1C3A}</a:tableStyleId>
              </a:tblPr>
              <a:tblGrid>
                <a:gridCol w="710148">
                  <a:extLst>
                    <a:ext uri="{9D8B030D-6E8A-4147-A177-3AD203B41FA5}">
                      <a16:colId xmlns:a16="http://schemas.microsoft.com/office/drawing/2014/main" val="1727388637"/>
                    </a:ext>
                  </a:extLst>
                </a:gridCol>
                <a:gridCol w="816106">
                  <a:extLst>
                    <a:ext uri="{9D8B030D-6E8A-4147-A177-3AD203B41FA5}">
                      <a16:colId xmlns:a16="http://schemas.microsoft.com/office/drawing/2014/main" val="2933502934"/>
                    </a:ext>
                  </a:extLst>
                </a:gridCol>
                <a:gridCol w="766658">
                  <a:extLst>
                    <a:ext uri="{9D8B030D-6E8A-4147-A177-3AD203B41FA5}">
                      <a16:colId xmlns:a16="http://schemas.microsoft.com/office/drawing/2014/main" val="3275465788"/>
                    </a:ext>
                  </a:extLst>
                </a:gridCol>
              </a:tblGrid>
              <a:tr h="307417">
                <a:tc gridSpan="3">
                  <a:txBody>
                    <a:bodyPr/>
                    <a:lstStyle/>
                    <a:p>
                      <a:r>
                        <a:rPr lang="pt-BR" sz="1500"/>
                        <a:t>Order</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50076">
                <a:tc>
                  <a:txBody>
                    <a:bodyPr/>
                    <a:lstStyle/>
                    <a:p>
                      <a:r>
                        <a:rPr lang="pt-BR" sz="1000" b="1"/>
                        <a:t>OrderNo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OrderDate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Customer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50076">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50076">
                <a:tc>
                  <a:txBody>
                    <a:bodyPr/>
                    <a:lstStyle/>
                    <a:p>
                      <a:r>
                        <a:rPr lang="pt-BR" sz="1000"/>
                        <a:t>1001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bl>
          </a:graphicData>
        </a:graphic>
      </p:graphicFrame>
      <p:graphicFrame>
        <p:nvGraphicFramePr>
          <p:cNvPr id="9" name="Table 8">
            <a:extLst>
              <a:ext uri="{FF2B5EF4-FFF2-40B4-BE49-F238E27FC236}">
                <a16:creationId xmlns:a16="http://schemas.microsoft.com/office/drawing/2014/main" id="{9E99644B-60AC-466F-AAC0-81EA92831A15}"/>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318574362"/>
              </p:ext>
            </p:extLst>
          </p:nvPr>
        </p:nvGraphicFramePr>
        <p:xfrm>
          <a:off x="8485765" y="4811945"/>
          <a:ext cx="2882901" cy="1310280"/>
        </p:xfrm>
        <a:graphic>
          <a:graphicData uri="http://schemas.openxmlformats.org/drawingml/2006/table">
            <a:tbl>
              <a:tblPr firstRow="1" bandRow="1">
                <a:tableStyleId>{5C22544A-7EE6-4342-B048-85BDC9FD1C3A}</a:tableStyleId>
              </a:tblPr>
              <a:tblGrid>
                <a:gridCol w="765444">
                  <a:extLst>
                    <a:ext uri="{9D8B030D-6E8A-4147-A177-3AD203B41FA5}">
                      <a16:colId xmlns:a16="http://schemas.microsoft.com/office/drawing/2014/main" val="1727388637"/>
                    </a:ext>
                  </a:extLst>
                </a:gridCol>
                <a:gridCol w="639510">
                  <a:extLst>
                    <a:ext uri="{9D8B030D-6E8A-4147-A177-3AD203B41FA5}">
                      <a16:colId xmlns:a16="http://schemas.microsoft.com/office/drawing/2014/main" val="2933502934"/>
                    </a:ext>
                  </a:extLst>
                </a:gridCol>
                <a:gridCol w="765444">
                  <a:extLst>
                    <a:ext uri="{9D8B030D-6E8A-4147-A177-3AD203B41FA5}">
                      <a16:colId xmlns:a16="http://schemas.microsoft.com/office/drawing/2014/main" val="3275465788"/>
                    </a:ext>
                  </a:extLst>
                </a:gridCol>
                <a:gridCol w="712503">
                  <a:extLst>
                    <a:ext uri="{9D8B030D-6E8A-4147-A177-3AD203B41FA5}">
                      <a16:colId xmlns:a16="http://schemas.microsoft.com/office/drawing/2014/main" val="3098346811"/>
                    </a:ext>
                  </a:extLst>
                </a:gridCol>
              </a:tblGrid>
              <a:tr h="307417">
                <a:tc gridSpan="4">
                  <a:txBody>
                    <a:bodyPr/>
                    <a:lstStyle/>
                    <a:p>
                      <a:r>
                        <a:rPr lang="pt-BR" sz="1500"/>
                        <a:t>LineItem</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10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50076">
                <a:tc>
                  <a:txBody>
                    <a:bodyPr/>
                    <a:lstStyle/>
                    <a:p>
                      <a:r>
                        <a:rPr lang="pt-BR" sz="1000" b="1"/>
                        <a:t>OrderNo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ItemNo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ProductID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Quantity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50076">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50076">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250076">
                <a:tc>
                  <a:txBody>
                    <a:bodyPr/>
                    <a:lstStyle/>
                    <a:p>
                      <a:r>
                        <a:rPr lang="pt-BR" sz="1000"/>
                        <a:t>1001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22198971"/>
                  </a:ext>
                </a:extLst>
              </a:tr>
            </a:tbl>
          </a:graphicData>
        </a:graphic>
      </p:graphicFrame>
    </p:spTree>
    <p:extLst>
      <p:ext uri="{BB962C8B-B14F-4D97-AF65-F5344CB8AC3E}">
        <p14:creationId xmlns:p14="http://schemas.microsoft.com/office/powerpoint/2010/main" val="2132108561"/>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9C38B12-8E89-4203-884E-B0DA66E964B2}"/>
              </a:ext>
              <a:ext uri="{C183D7F6-B498-43B3-948B-1728B52AA6E4}">
                <adec:decorative xmlns:adec="http://schemas.microsoft.com/office/drawing/2017/decorative" xmlns="" val="1"/>
              </a:ext>
            </a:extLst>
          </p:cNvPr>
          <p:cNvSpPr/>
          <p:nvPr/>
        </p:nvSpPr>
        <p:spPr bwMode="auto">
          <a:xfrm>
            <a:off x="6395054" y="643230"/>
            <a:ext cx="5996609" cy="517447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Rectangle 26">
            <a:extLst>
              <a:ext uri="{FF2B5EF4-FFF2-40B4-BE49-F238E27FC236}">
                <a16:creationId xmlns:a16="http://schemas.microsoft.com/office/drawing/2014/main" id="{FBF502D9-1035-4AA2-9EFC-21C8EFE2700D}"/>
              </a:ext>
              <a:ext uri="{C183D7F6-B498-43B3-948B-1728B52AA6E4}">
                <adec:decorative xmlns:adec="http://schemas.microsoft.com/office/drawing/2017/decorative" xmlns="" val="1"/>
              </a:ext>
            </a:extLst>
          </p:cNvPr>
          <p:cNvSpPr/>
          <p:nvPr/>
        </p:nvSpPr>
        <p:spPr bwMode="auto">
          <a:xfrm>
            <a:off x="99390" y="1166858"/>
            <a:ext cx="5996609" cy="199791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9CC74DE8-CA1C-4668-8EED-49E08F82FF37}"/>
              </a:ext>
            </a:extLst>
          </p:cNvPr>
          <p:cNvSpPr>
            <a:spLocks noGrp="1"/>
          </p:cNvSpPr>
          <p:nvPr>
            <p:ph type="title"/>
          </p:nvPr>
        </p:nvSpPr>
        <p:spPr/>
        <p:txBody>
          <a:bodyPr/>
          <a:lstStyle/>
          <a:p>
            <a:pPr>
              <a:lnSpc>
                <a:spcPct val="100000"/>
              </a:lnSpc>
            </a:pPr>
            <a:r>
              <a:rPr lang="pt-BR" dirty="0"/>
              <a:t>Normalização</a:t>
            </a:r>
          </a:p>
        </p:txBody>
      </p:sp>
      <p:sp>
        <p:nvSpPr>
          <p:cNvPr id="25" name="Rectangle 24">
            <a:extLst>
              <a:ext uri="{FF2B5EF4-FFF2-40B4-BE49-F238E27FC236}">
                <a16:creationId xmlns:a16="http://schemas.microsoft.com/office/drawing/2014/main" id="{F525323F-064F-4567-A060-A44C02239D0D}"/>
              </a:ext>
            </a:extLst>
          </p:cNvPr>
          <p:cNvSpPr/>
          <p:nvPr/>
        </p:nvSpPr>
        <p:spPr>
          <a:xfrm>
            <a:off x="203218" y="3428999"/>
            <a:ext cx="6321299" cy="2905541"/>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t" anchorCtr="0">
            <a:noAutofit/>
          </a:bodyPr>
          <a:lstStyle/>
          <a:p>
            <a:pPr marL="342900" lvl="0" indent="-342900" algn="l" defTabSz="1111250">
              <a:spcBef>
                <a:spcPct val="0"/>
              </a:spcBef>
              <a:spcAft>
                <a:spcPct val="35000"/>
              </a:spcAft>
              <a:buFont typeface="Arial" panose="020B0604020202020204" pitchFamily="34" charset="0"/>
              <a:buChar char="•"/>
            </a:pPr>
            <a:r>
              <a:rPr lang="pt-BR" sz="2200" dirty="0">
                <a:solidFill>
                  <a:schemeClr val="tx1"/>
                </a:solidFill>
              </a:rPr>
              <a:t>Separe cada </a:t>
            </a:r>
            <a:r>
              <a:rPr lang="pt-BR" sz="2200" i="1" dirty="0">
                <a:solidFill>
                  <a:schemeClr val="tx1"/>
                </a:solidFill>
              </a:rPr>
              <a:t>entidade</a:t>
            </a:r>
            <a:r>
              <a:rPr lang="pt-BR" sz="2200" dirty="0">
                <a:solidFill>
                  <a:schemeClr val="tx1"/>
                </a:solidFill>
              </a:rPr>
              <a:t> na própria tabela</a:t>
            </a:r>
          </a:p>
          <a:p>
            <a:pPr marL="342900" lvl="0" indent="-342900" algn="l" defTabSz="1111250">
              <a:spcBef>
                <a:spcPct val="0"/>
              </a:spcBef>
              <a:spcAft>
                <a:spcPct val="35000"/>
              </a:spcAft>
              <a:buFont typeface="Arial" panose="020B0604020202020204" pitchFamily="34" charset="0"/>
              <a:buChar char="•"/>
            </a:pPr>
            <a:r>
              <a:rPr lang="pt-BR" sz="2200" dirty="0">
                <a:solidFill>
                  <a:schemeClr val="tx1"/>
                </a:solidFill>
              </a:rPr>
              <a:t>Separe cada </a:t>
            </a:r>
            <a:r>
              <a:rPr lang="pt-BR" sz="2200" i="1" dirty="0">
                <a:solidFill>
                  <a:schemeClr val="tx1"/>
                </a:solidFill>
              </a:rPr>
              <a:t>atributo</a:t>
            </a:r>
            <a:r>
              <a:rPr lang="pt-BR" sz="2200" dirty="0">
                <a:solidFill>
                  <a:schemeClr val="tx1"/>
                </a:solidFill>
              </a:rPr>
              <a:t> discreto na própria coluna</a:t>
            </a:r>
          </a:p>
          <a:p>
            <a:pPr marL="342900" lvl="0" indent="-342900" algn="l" defTabSz="1111250">
              <a:spcBef>
                <a:spcPct val="0"/>
              </a:spcBef>
              <a:spcAft>
                <a:spcPct val="35000"/>
              </a:spcAft>
              <a:buFont typeface="Arial" panose="020B0604020202020204" pitchFamily="34" charset="0"/>
              <a:buChar char="•"/>
            </a:pPr>
            <a:r>
              <a:rPr lang="pt-BR" sz="2200" dirty="0">
                <a:solidFill>
                  <a:schemeClr val="tx1"/>
                </a:solidFill>
              </a:rPr>
              <a:t>Identifique exclusivamente cada instância de entidade (linha) usando uma </a:t>
            </a:r>
            <a:r>
              <a:rPr lang="pt-BR" sz="2200" i="1" dirty="0">
                <a:solidFill>
                  <a:schemeClr val="tx1"/>
                </a:solidFill>
              </a:rPr>
              <a:t>chave primária</a:t>
            </a:r>
          </a:p>
          <a:p>
            <a:pPr marL="342900" lvl="0" indent="-342900" algn="l" defTabSz="1111250">
              <a:spcBef>
                <a:spcPct val="0"/>
              </a:spcBef>
              <a:spcAft>
                <a:spcPct val="35000"/>
              </a:spcAft>
              <a:buFont typeface="Arial" panose="020B0604020202020204" pitchFamily="34" charset="0"/>
              <a:buChar char="•"/>
            </a:pPr>
            <a:r>
              <a:rPr lang="pt-BR" sz="2200" dirty="0">
                <a:solidFill>
                  <a:schemeClr val="tx1"/>
                </a:solidFill>
              </a:rPr>
              <a:t>Use colunas de </a:t>
            </a:r>
            <a:r>
              <a:rPr lang="pt-BR" sz="2200" i="1" dirty="0">
                <a:solidFill>
                  <a:schemeClr val="tx1"/>
                </a:solidFill>
              </a:rPr>
              <a:t>chave estrangeira</a:t>
            </a:r>
            <a:r>
              <a:rPr lang="pt-BR" sz="2200" dirty="0">
                <a:solidFill>
                  <a:schemeClr val="tx1"/>
                </a:solidFill>
              </a:rPr>
              <a:t> para vincular entidades relacionadas</a:t>
            </a:r>
          </a:p>
        </p:txBody>
      </p:sp>
      <p:graphicFrame>
        <p:nvGraphicFramePr>
          <p:cNvPr id="17" name="Table 16">
            <a:extLst>
              <a:ext uri="{FF2B5EF4-FFF2-40B4-BE49-F238E27FC236}">
                <a16:creationId xmlns:a16="http://schemas.microsoft.com/office/drawing/2014/main" id="{2FE2B112-ADBD-4B92-B612-584BFA33A32D}"/>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2879632959"/>
              </p:ext>
            </p:extLst>
          </p:nvPr>
        </p:nvGraphicFramePr>
        <p:xfrm>
          <a:off x="312307" y="1476518"/>
          <a:ext cx="5578743" cy="1505437"/>
        </p:xfrm>
        <a:graphic>
          <a:graphicData uri="http://schemas.openxmlformats.org/drawingml/2006/table">
            <a:tbl>
              <a:tblPr firstRow="1" bandRow="1">
                <a:tableStyleId>{5C22544A-7EE6-4342-B048-85BDC9FD1C3A}</a:tableStyleId>
              </a:tblPr>
              <a:tblGrid>
                <a:gridCol w="694426">
                  <a:extLst>
                    <a:ext uri="{9D8B030D-6E8A-4147-A177-3AD203B41FA5}">
                      <a16:colId xmlns:a16="http://schemas.microsoft.com/office/drawing/2014/main" val="2257796799"/>
                    </a:ext>
                  </a:extLst>
                </a:gridCol>
                <a:gridCol w="796026">
                  <a:extLst>
                    <a:ext uri="{9D8B030D-6E8A-4147-A177-3AD203B41FA5}">
                      <a16:colId xmlns:a16="http://schemas.microsoft.com/office/drawing/2014/main" val="2501781980"/>
                    </a:ext>
                  </a:extLst>
                </a:gridCol>
                <a:gridCol w="2164451">
                  <a:extLst>
                    <a:ext uri="{9D8B030D-6E8A-4147-A177-3AD203B41FA5}">
                      <a16:colId xmlns:a16="http://schemas.microsoft.com/office/drawing/2014/main" val="299907239"/>
                    </a:ext>
                  </a:extLst>
                </a:gridCol>
                <a:gridCol w="1232589">
                  <a:extLst>
                    <a:ext uri="{9D8B030D-6E8A-4147-A177-3AD203B41FA5}">
                      <a16:colId xmlns:a16="http://schemas.microsoft.com/office/drawing/2014/main" val="337350491"/>
                    </a:ext>
                  </a:extLst>
                </a:gridCol>
                <a:gridCol w="691251">
                  <a:extLst>
                    <a:ext uri="{9D8B030D-6E8A-4147-A177-3AD203B41FA5}">
                      <a16:colId xmlns:a16="http://schemas.microsoft.com/office/drawing/2014/main" val="473342193"/>
                    </a:ext>
                  </a:extLst>
                </a:gridCol>
              </a:tblGrid>
              <a:tr h="307417">
                <a:tc gridSpan="4">
                  <a:txBody>
                    <a:bodyPr/>
                    <a:lstStyle/>
                    <a:p>
                      <a:r>
                        <a:rPr lang="pt-BR" sz="1500" b="1">
                          <a:solidFill>
                            <a:schemeClr val="lt1"/>
                          </a:solidFill>
                          <a:latin typeface="+mn-lt"/>
                          <a:ea typeface="+mn-ea"/>
                          <a:cs typeface="+mn-cs"/>
                        </a:rPr>
                        <a:t>Sales Data</a:t>
                      </a:r>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1500" b="1" kern="1200" dirty="0">
                        <a:solidFill>
                          <a:schemeClr val="lt1"/>
                        </a:solidFill>
                        <a:latin typeface="+mn-lt"/>
                        <a:ea typeface="+mn-ea"/>
                        <a:cs typeface="+mn-cs"/>
                      </a:endParaRPr>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r>
                        <a:rPr lang="pt-BR" sz="1500" b="1">
                          <a:solidFill>
                            <a:schemeClr val="lt1"/>
                          </a:solidFill>
                          <a:latin typeface="+mn-lt"/>
                          <a:ea typeface="+mn-ea"/>
                          <a:cs typeface="+mn-cs"/>
                        </a:rPr>
                        <a:t>Sales</a:t>
                      </a:r>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OrderNo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OrderDate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Customer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Product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Quantity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Joe Jones, 1 Main St, Seattle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Hammer ($2.99)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pt-BR" sz="1000"/>
                        <a:t>Joe Jones- 1 Main St, Seattle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Screwdriver ($3.49)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20542152"/>
                  </a:ext>
                </a:extLst>
              </a:tr>
              <a:tr h="239604">
                <a:tc>
                  <a:txBody>
                    <a:bodyPr/>
                    <a:lstStyle/>
                    <a:p>
                      <a:r>
                        <a:rPr lang="pt-BR" sz="1000"/>
                        <a:t>1001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Samir Nadoy, 123 Elm Pl, New York</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Hammer ($2.99)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95005026"/>
                  </a:ext>
                </a:extLst>
              </a:tr>
              <a:tr h="239604">
                <a:tc>
                  <a:txBody>
                    <a:bodyPr/>
                    <a:lstStyle/>
                    <a:p>
                      <a:r>
                        <a:rPr lang="pt-BR" sz="1000"/>
                        <a: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19610222"/>
                  </a:ext>
                </a:extLst>
              </a:tr>
            </a:tbl>
          </a:graphicData>
        </a:graphic>
      </p:graphicFrame>
      <p:graphicFrame>
        <p:nvGraphicFramePr>
          <p:cNvPr id="4" name="Table 3">
            <a:extLst>
              <a:ext uri="{FF2B5EF4-FFF2-40B4-BE49-F238E27FC236}">
                <a16:creationId xmlns:a16="http://schemas.microsoft.com/office/drawing/2014/main" id="{56A8DEC6-BB28-4E6A-B73B-53F60C2D7C90}"/>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3387364678"/>
              </p:ext>
            </p:extLst>
          </p:nvPr>
        </p:nvGraphicFramePr>
        <p:xfrm>
          <a:off x="7523930" y="850540"/>
          <a:ext cx="3357560" cy="1028788"/>
        </p:xfrm>
        <a:graphic>
          <a:graphicData uri="http://schemas.openxmlformats.org/drawingml/2006/table">
            <a:tbl>
              <a:tblPr firstRow="1" bandRow="1">
                <a:tableStyleId>{5C22544A-7EE6-4342-B048-85BDC9FD1C3A}</a:tableStyleId>
              </a:tblPr>
              <a:tblGrid>
                <a:gridCol w="303901">
                  <a:extLst>
                    <a:ext uri="{9D8B030D-6E8A-4147-A177-3AD203B41FA5}">
                      <a16:colId xmlns:a16="http://schemas.microsoft.com/office/drawing/2014/main" val="1727388637"/>
                    </a:ext>
                  </a:extLst>
                </a:gridCol>
                <a:gridCol w="782397">
                  <a:extLst>
                    <a:ext uri="{9D8B030D-6E8A-4147-A177-3AD203B41FA5}">
                      <a16:colId xmlns:a16="http://schemas.microsoft.com/office/drawing/2014/main" val="299907239"/>
                    </a:ext>
                  </a:extLst>
                </a:gridCol>
                <a:gridCol w="782397">
                  <a:extLst>
                    <a:ext uri="{9D8B030D-6E8A-4147-A177-3AD203B41FA5}">
                      <a16:colId xmlns:a16="http://schemas.microsoft.com/office/drawing/2014/main" val="1838166860"/>
                    </a:ext>
                  </a:extLst>
                </a:gridCol>
                <a:gridCol w="776976">
                  <a:extLst>
                    <a:ext uri="{9D8B030D-6E8A-4147-A177-3AD203B41FA5}">
                      <a16:colId xmlns:a16="http://schemas.microsoft.com/office/drawing/2014/main" val="2578400319"/>
                    </a:ext>
                  </a:extLst>
                </a:gridCol>
                <a:gridCol w="711889">
                  <a:extLst>
                    <a:ext uri="{9D8B030D-6E8A-4147-A177-3AD203B41FA5}">
                      <a16:colId xmlns:a16="http://schemas.microsoft.com/office/drawing/2014/main" val="3764754647"/>
                    </a:ext>
                  </a:extLst>
                </a:gridCol>
              </a:tblGrid>
              <a:tr h="307417">
                <a:tc gridSpan="4">
                  <a:txBody>
                    <a:bodyPr/>
                    <a:lstStyle/>
                    <a:p>
                      <a:r>
                        <a:rPr lang="pt-BR" sz="1500"/>
                        <a:t>Customer</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a:p>
                  </a:txBody>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500" dirty="0"/>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FirstName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LastName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Address</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City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Joe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Jones</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 Main St.</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Seattle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Samir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Nadoy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123 Elm Pl.</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New York</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20542152"/>
                  </a:ext>
                </a:extLst>
              </a:tr>
            </a:tbl>
          </a:graphicData>
        </a:graphic>
      </p:graphicFrame>
      <p:graphicFrame>
        <p:nvGraphicFramePr>
          <p:cNvPr id="10" name="Table 9">
            <a:extLst>
              <a:ext uri="{FF2B5EF4-FFF2-40B4-BE49-F238E27FC236}">
                <a16:creationId xmlns:a16="http://schemas.microsoft.com/office/drawing/2014/main" id="{F153706A-DDE0-4758-AF76-41B5760500FF}"/>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1117168761"/>
              </p:ext>
            </p:extLst>
          </p:nvPr>
        </p:nvGraphicFramePr>
        <p:xfrm>
          <a:off x="7197757" y="2902196"/>
          <a:ext cx="2292912" cy="1060204"/>
        </p:xfrm>
        <a:graphic>
          <a:graphicData uri="http://schemas.openxmlformats.org/drawingml/2006/table">
            <a:tbl>
              <a:tblPr firstRow="1" bandRow="1">
                <a:tableStyleId>{5C22544A-7EE6-4342-B048-85BDC9FD1C3A}</a:tableStyleId>
              </a:tblPr>
              <a:tblGrid>
                <a:gridCol w="710148">
                  <a:extLst>
                    <a:ext uri="{9D8B030D-6E8A-4147-A177-3AD203B41FA5}">
                      <a16:colId xmlns:a16="http://schemas.microsoft.com/office/drawing/2014/main" val="1727388637"/>
                    </a:ext>
                  </a:extLst>
                </a:gridCol>
                <a:gridCol w="816106">
                  <a:extLst>
                    <a:ext uri="{9D8B030D-6E8A-4147-A177-3AD203B41FA5}">
                      <a16:colId xmlns:a16="http://schemas.microsoft.com/office/drawing/2014/main" val="2933502934"/>
                    </a:ext>
                  </a:extLst>
                </a:gridCol>
                <a:gridCol w="766658">
                  <a:extLst>
                    <a:ext uri="{9D8B030D-6E8A-4147-A177-3AD203B41FA5}">
                      <a16:colId xmlns:a16="http://schemas.microsoft.com/office/drawing/2014/main" val="3275465788"/>
                    </a:ext>
                  </a:extLst>
                </a:gridCol>
              </a:tblGrid>
              <a:tr h="307417">
                <a:tc gridSpan="3">
                  <a:txBody>
                    <a:bodyPr/>
                    <a:lstStyle/>
                    <a:p>
                      <a:r>
                        <a:rPr lang="pt-BR" sz="1500"/>
                        <a:t>Order</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50076">
                <a:tc>
                  <a:txBody>
                    <a:bodyPr/>
                    <a:lstStyle/>
                    <a:p>
                      <a:r>
                        <a:rPr lang="pt-BR" sz="1000" b="1"/>
                        <a:t>OrderNo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OrderDate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Customer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50076">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50076">
                <a:tc>
                  <a:txBody>
                    <a:bodyPr/>
                    <a:lstStyle/>
                    <a:p>
                      <a:r>
                        <a:rPr lang="pt-BR" sz="1000"/>
                        <a:t>1001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1/1/2022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bl>
          </a:graphicData>
        </a:graphic>
      </p:graphicFrame>
      <p:graphicFrame>
        <p:nvGraphicFramePr>
          <p:cNvPr id="12" name="Table 11">
            <a:extLst>
              <a:ext uri="{FF2B5EF4-FFF2-40B4-BE49-F238E27FC236}">
                <a16:creationId xmlns:a16="http://schemas.microsoft.com/office/drawing/2014/main" id="{0BE942F4-348B-45A4-AACE-BF53EC805E4F}"/>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3465654706"/>
              </p:ext>
            </p:extLst>
          </p:nvPr>
        </p:nvGraphicFramePr>
        <p:xfrm>
          <a:off x="8289251" y="4226629"/>
          <a:ext cx="2882901" cy="1310280"/>
        </p:xfrm>
        <a:graphic>
          <a:graphicData uri="http://schemas.openxmlformats.org/drawingml/2006/table">
            <a:tbl>
              <a:tblPr firstRow="1" bandRow="1">
                <a:tableStyleId>{5C22544A-7EE6-4342-B048-85BDC9FD1C3A}</a:tableStyleId>
              </a:tblPr>
              <a:tblGrid>
                <a:gridCol w="765444">
                  <a:extLst>
                    <a:ext uri="{9D8B030D-6E8A-4147-A177-3AD203B41FA5}">
                      <a16:colId xmlns:a16="http://schemas.microsoft.com/office/drawing/2014/main" val="1727388637"/>
                    </a:ext>
                  </a:extLst>
                </a:gridCol>
                <a:gridCol w="639510">
                  <a:extLst>
                    <a:ext uri="{9D8B030D-6E8A-4147-A177-3AD203B41FA5}">
                      <a16:colId xmlns:a16="http://schemas.microsoft.com/office/drawing/2014/main" val="2933502934"/>
                    </a:ext>
                  </a:extLst>
                </a:gridCol>
                <a:gridCol w="765444">
                  <a:extLst>
                    <a:ext uri="{9D8B030D-6E8A-4147-A177-3AD203B41FA5}">
                      <a16:colId xmlns:a16="http://schemas.microsoft.com/office/drawing/2014/main" val="3275465788"/>
                    </a:ext>
                  </a:extLst>
                </a:gridCol>
                <a:gridCol w="712503">
                  <a:extLst>
                    <a:ext uri="{9D8B030D-6E8A-4147-A177-3AD203B41FA5}">
                      <a16:colId xmlns:a16="http://schemas.microsoft.com/office/drawing/2014/main" val="3098346811"/>
                    </a:ext>
                  </a:extLst>
                </a:gridCol>
              </a:tblGrid>
              <a:tr h="307417">
                <a:tc gridSpan="4">
                  <a:txBody>
                    <a:bodyPr/>
                    <a:lstStyle/>
                    <a:p>
                      <a:r>
                        <a:rPr lang="pt-BR" sz="1500"/>
                        <a:t>LineItem</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10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50076">
                <a:tc>
                  <a:txBody>
                    <a:bodyPr/>
                    <a:lstStyle/>
                    <a:p>
                      <a:r>
                        <a:rPr lang="pt-BR" sz="1000" b="1"/>
                        <a:t>OrderNo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ItemNo</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ProductID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Quantity</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50076">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50076">
                <a:tc>
                  <a:txBody>
                    <a:bodyPr/>
                    <a:lstStyle/>
                    <a:p>
                      <a:r>
                        <a:rPr lang="pt-BR" sz="1000"/>
                        <a:t>1000</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250076">
                <a:tc>
                  <a:txBody>
                    <a:bodyPr/>
                    <a:lstStyle/>
                    <a:p>
                      <a:r>
                        <a:rPr lang="pt-BR" sz="1000"/>
                        <a:t>1001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dirty="0"/>
                        <a:t>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22198971"/>
                  </a:ext>
                </a:extLst>
              </a:tr>
            </a:tbl>
          </a:graphicData>
        </a:graphic>
      </p:graphicFrame>
      <p:graphicFrame>
        <p:nvGraphicFramePr>
          <p:cNvPr id="8" name="Table 7">
            <a:extLst>
              <a:ext uri="{FF2B5EF4-FFF2-40B4-BE49-F238E27FC236}">
                <a16:creationId xmlns:a16="http://schemas.microsoft.com/office/drawing/2014/main" id="{78CB3899-37AC-40D8-AACE-8739EE727B66}"/>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784801498"/>
              </p:ext>
            </p:extLst>
          </p:nvPr>
        </p:nvGraphicFramePr>
        <p:xfrm>
          <a:off x="10285142" y="2081367"/>
          <a:ext cx="1699553" cy="1268392"/>
        </p:xfrm>
        <a:graphic>
          <a:graphicData uri="http://schemas.openxmlformats.org/drawingml/2006/table">
            <a:tbl>
              <a:tblPr firstRow="1" bandRow="1">
                <a:tableStyleId>{5C22544A-7EE6-4342-B048-85BDC9FD1C3A}</a:tableStyleId>
              </a:tblPr>
              <a:tblGrid>
                <a:gridCol w="382859">
                  <a:extLst>
                    <a:ext uri="{9D8B030D-6E8A-4147-A177-3AD203B41FA5}">
                      <a16:colId xmlns:a16="http://schemas.microsoft.com/office/drawing/2014/main" val="1727388637"/>
                    </a:ext>
                  </a:extLst>
                </a:gridCol>
                <a:gridCol w="842006">
                  <a:extLst>
                    <a:ext uri="{9D8B030D-6E8A-4147-A177-3AD203B41FA5}">
                      <a16:colId xmlns:a16="http://schemas.microsoft.com/office/drawing/2014/main" val="299907239"/>
                    </a:ext>
                  </a:extLst>
                </a:gridCol>
                <a:gridCol w="474688">
                  <a:extLst>
                    <a:ext uri="{9D8B030D-6E8A-4147-A177-3AD203B41FA5}">
                      <a16:colId xmlns:a16="http://schemas.microsoft.com/office/drawing/2014/main" val="2578400319"/>
                    </a:ext>
                  </a:extLst>
                </a:gridCol>
              </a:tblGrid>
              <a:tr h="307417">
                <a:tc gridSpan="3">
                  <a:txBody>
                    <a:bodyPr/>
                    <a:lstStyle/>
                    <a:p>
                      <a:r>
                        <a:rPr lang="pt-BR" sz="1500"/>
                        <a:t>Product</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Price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Hammer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2.99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162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Screwdriver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3.49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239604">
                <a:tc>
                  <a:txBody>
                    <a:bodyPr/>
                    <a:lstStyle/>
                    <a:p>
                      <a:r>
                        <a:rPr lang="pt-BR" sz="1000"/>
                        <a:t>201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Wrench</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4.25</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bl>
          </a:graphicData>
        </a:graphic>
      </p:graphicFrame>
      <p:cxnSp>
        <p:nvCxnSpPr>
          <p:cNvPr id="6" name="Connector: Elbow 5">
            <a:extLst>
              <a:ext uri="{FF2B5EF4-FFF2-40B4-BE49-F238E27FC236}">
                <a16:creationId xmlns:a16="http://schemas.microsoft.com/office/drawing/2014/main" id="{65B7EAAD-7D73-4A24-970E-AF156370CE7A}"/>
              </a:ext>
              <a:ext uri="{C183D7F6-B498-43B3-948B-1728B52AA6E4}">
                <adec:decorative xmlns:adec="http://schemas.microsoft.com/office/drawing/2017/decorative" xmlns="" val="1"/>
              </a:ext>
            </a:extLst>
          </p:cNvPr>
          <p:cNvCxnSpPr>
            <a:cxnSpLocks/>
            <a:stCxn id="10" idx="1"/>
            <a:endCxn id="12" idx="1"/>
          </p:cNvCxnSpPr>
          <p:nvPr/>
        </p:nvCxnSpPr>
        <p:spPr>
          <a:xfrm rot="10800000" flipH="1" flipV="1">
            <a:off x="7197757" y="3432297"/>
            <a:ext cx="1091494" cy="1449471"/>
          </a:xfrm>
          <a:prstGeom prst="bentConnector3">
            <a:avLst>
              <a:gd name="adj1" fmla="val -20944"/>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C3B308C9-6A31-470D-83CB-A5D292001954}"/>
              </a:ext>
              <a:ext uri="{C183D7F6-B498-43B3-948B-1728B52AA6E4}">
                <adec:decorative xmlns:adec="http://schemas.microsoft.com/office/drawing/2017/decorative" xmlns="" val="1"/>
              </a:ext>
            </a:extLst>
          </p:cNvPr>
          <p:cNvCxnSpPr>
            <a:cxnSpLocks/>
            <a:stCxn id="8" idx="1"/>
            <a:endCxn id="12" idx="3"/>
          </p:cNvCxnSpPr>
          <p:nvPr/>
        </p:nvCxnSpPr>
        <p:spPr>
          <a:xfrm rot="10800000" flipH="1" flipV="1">
            <a:off x="10285142" y="2715563"/>
            <a:ext cx="887010" cy="2166206"/>
          </a:xfrm>
          <a:prstGeom prst="bentConnector5">
            <a:avLst>
              <a:gd name="adj1" fmla="val -25772"/>
              <a:gd name="adj2" fmla="val 49517"/>
              <a:gd name="adj3" fmla="val 125772"/>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081F90DE-7A72-415F-9116-D51E243804A3}"/>
              </a:ext>
              <a:ext uri="{C183D7F6-B498-43B3-948B-1728B52AA6E4}">
                <adec:decorative xmlns:adec="http://schemas.microsoft.com/office/drawing/2017/decorative" xmlns="" val="1"/>
              </a:ext>
            </a:extLst>
          </p:cNvPr>
          <p:cNvCxnSpPr>
            <a:cxnSpLocks/>
            <a:stCxn id="4" idx="1"/>
            <a:endCxn id="10" idx="3"/>
          </p:cNvCxnSpPr>
          <p:nvPr/>
        </p:nvCxnSpPr>
        <p:spPr>
          <a:xfrm rot="10800000" flipH="1" flipV="1">
            <a:off x="7523929" y="1364934"/>
            <a:ext cx="1966739" cy="2067364"/>
          </a:xfrm>
          <a:prstGeom prst="bentConnector5">
            <a:avLst>
              <a:gd name="adj1" fmla="val -11623"/>
              <a:gd name="adj2" fmla="val 49620"/>
              <a:gd name="adj3" fmla="val 111623"/>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a16="http://schemas.microsoft.com/office/drawing/2014/main" id="{75B6BEF9-9183-4CF9-8383-EC3C542C9EE8}"/>
              </a:ext>
              <a:ext uri="{C183D7F6-B498-43B3-948B-1728B52AA6E4}">
                <adec:decorative xmlns:adec="http://schemas.microsoft.com/office/drawing/2017/decorative" xmlns="" val="1"/>
              </a:ext>
            </a:extLst>
          </p:cNvPr>
          <p:cNvSpPr/>
          <p:nvPr/>
        </p:nvSpPr>
        <p:spPr bwMode="auto">
          <a:xfrm>
            <a:off x="5976760" y="1782842"/>
            <a:ext cx="819955" cy="892788"/>
          </a:xfrm>
          <a:prstGeom prst="right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71005870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A81C0D-1840-4340-B9D3-0AC162503E6F}"/>
              </a:ext>
            </a:extLst>
          </p:cNvPr>
          <p:cNvGrpSpPr/>
          <p:nvPr/>
        </p:nvGrpSpPr>
        <p:grpSpPr>
          <a:xfrm>
            <a:off x="1210199" y="592568"/>
            <a:ext cx="9703877" cy="830997"/>
            <a:chOff x="1969027" y="1125538"/>
            <a:chExt cx="5824368" cy="588773"/>
          </a:xfrm>
        </p:grpSpPr>
        <p:sp>
          <p:nvSpPr>
            <p:cNvPr id="3" name="TextBox 2">
              <a:extLst>
                <a:ext uri="{FF2B5EF4-FFF2-40B4-BE49-F238E27FC236}">
                  <a16:creationId xmlns:a16="http://schemas.microsoft.com/office/drawing/2014/main" id="{B0A58F85-1AB7-4260-96EE-4A0627B9CFA2}"/>
                </a:ext>
              </a:extLst>
            </p:cNvPr>
            <p:cNvSpPr txBox="1"/>
            <p:nvPr/>
          </p:nvSpPr>
          <p:spPr>
            <a:xfrm>
              <a:off x="2330247" y="1125538"/>
              <a:ext cx="5463148" cy="588773"/>
            </a:xfrm>
            <a:prstGeom prst="rect">
              <a:avLst/>
            </a:prstGeom>
            <a:noFill/>
          </p:spPr>
          <p:txBody>
            <a:bodyPr wrap="square" rtlCol="0">
              <a:spAutoFit/>
            </a:bodyPr>
            <a:lstStyle/>
            <a:p>
              <a:r>
                <a:rPr lang="pt-PT" sz="4800" b="1" dirty="0">
                  <a:solidFill>
                    <a:schemeClr val="tx1">
                      <a:lumMod val="85000"/>
                      <a:lumOff val="15000"/>
                    </a:schemeClr>
                  </a:solidFill>
                  <a:latin typeface="+mj-lt"/>
                </a:rPr>
                <a:t>Primeira Forma Normal</a:t>
              </a:r>
              <a:endParaRPr lang="en-US" sz="4800" b="1" dirty="0">
                <a:solidFill>
                  <a:schemeClr val="tx1">
                    <a:lumMod val="85000"/>
                    <a:lumOff val="15000"/>
                  </a:schemeClr>
                </a:solidFill>
                <a:latin typeface="+mj-lt"/>
              </a:endParaRPr>
            </a:p>
          </p:txBody>
        </p:sp>
        <p:sp>
          <p:nvSpPr>
            <p:cNvPr id="4" name="Graphic 71">
              <a:extLst>
                <a:ext uri="{FF2B5EF4-FFF2-40B4-BE49-F238E27FC236}">
                  <a16:creationId xmlns:a16="http://schemas.microsoft.com/office/drawing/2014/main" id="{145FDF0F-5D1F-49BB-9308-30CB9F7ACB9F}"/>
                </a:ext>
              </a:extLst>
            </p:cNvPr>
            <p:cNvSpPr/>
            <p:nvPr/>
          </p:nvSpPr>
          <p:spPr>
            <a:xfrm rot="16200000">
              <a:off x="1919422" y="1175143"/>
              <a:ext cx="259654" cy="160444"/>
            </a:xfrm>
            <a:custGeom>
              <a:avLst/>
              <a:gdLst>
                <a:gd name="connsiteX0" fmla="*/ 2150869 w 2438400"/>
                <a:gd name="connsiteY0" fmla="*/ 0 h 1506721"/>
                <a:gd name="connsiteX1" fmla="*/ 1219200 w 2438400"/>
                <a:gd name="connsiteY1" fmla="*/ 931669 h 1506721"/>
                <a:gd name="connsiteX2" fmla="*/ 287531 w 2438400"/>
                <a:gd name="connsiteY2" fmla="*/ 0 h 1506721"/>
                <a:gd name="connsiteX3" fmla="*/ 0 w 2438400"/>
                <a:gd name="connsiteY3" fmla="*/ 287522 h 1506721"/>
                <a:gd name="connsiteX4" fmla="*/ 1219200 w 2438400"/>
                <a:gd name="connsiteY4" fmla="*/ 1506722 h 1506721"/>
                <a:gd name="connsiteX5" fmla="*/ 2438400 w 2438400"/>
                <a:gd name="connsiteY5" fmla="*/ 287522 h 150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8400" h="1506721">
                  <a:moveTo>
                    <a:pt x="2150869" y="0"/>
                  </a:moveTo>
                  <a:lnTo>
                    <a:pt x="1219200" y="931669"/>
                  </a:lnTo>
                  <a:lnTo>
                    <a:pt x="287531" y="0"/>
                  </a:lnTo>
                  <a:lnTo>
                    <a:pt x="0" y="287522"/>
                  </a:lnTo>
                  <a:lnTo>
                    <a:pt x="1219200" y="1506722"/>
                  </a:lnTo>
                  <a:lnTo>
                    <a:pt x="2438400" y="287522"/>
                  </a:lnTo>
                  <a:close/>
                </a:path>
              </a:pathLst>
            </a:custGeom>
            <a:solidFill>
              <a:schemeClr val="accent1"/>
            </a:solidFill>
            <a:ln w="9525" cap="flat">
              <a:noFill/>
              <a:prstDash val="solid"/>
              <a:miter/>
            </a:ln>
          </p:spPr>
          <p:txBody>
            <a:bodyPr rtlCol="0" anchor="ctr"/>
            <a:lstStyle/>
            <a:p>
              <a:endParaRPr lang="en-US">
                <a:solidFill>
                  <a:schemeClr val="tx1">
                    <a:lumMod val="85000"/>
                    <a:lumOff val="15000"/>
                  </a:schemeClr>
                </a:solidFill>
              </a:endParaRPr>
            </a:p>
          </p:txBody>
        </p:sp>
      </p:grpSp>
      <p:sp>
        <p:nvSpPr>
          <p:cNvPr id="9" name="TextBox 5">
            <a:extLst>
              <a:ext uri="{FF2B5EF4-FFF2-40B4-BE49-F238E27FC236}">
                <a16:creationId xmlns:a16="http://schemas.microsoft.com/office/drawing/2014/main" id="{E500CEEE-B317-13F7-1C53-5594A081CDB4}"/>
              </a:ext>
            </a:extLst>
          </p:cNvPr>
          <p:cNvSpPr txBox="1"/>
          <p:nvPr/>
        </p:nvSpPr>
        <p:spPr>
          <a:xfrm>
            <a:off x="1109531" y="1667799"/>
            <a:ext cx="9703877" cy="781176"/>
          </a:xfrm>
          <a:prstGeom prst="rect">
            <a:avLst/>
          </a:prstGeom>
          <a:noFill/>
        </p:spPr>
        <p:txBody>
          <a:bodyPr wrap="square" rtlCol="0">
            <a:spAutoFit/>
          </a:bodyPr>
          <a:lstStyle/>
          <a:p>
            <a:pPr>
              <a:lnSpc>
                <a:spcPct val="130000"/>
              </a:lnSpc>
              <a:spcBef>
                <a:spcPts val="900"/>
              </a:spcBef>
            </a:pPr>
            <a:r>
              <a:rPr lang="pt-PT" dirty="0"/>
              <a:t>Uma relação está na primeira forma normal quando todos os atributos contém </a:t>
            </a:r>
            <a:r>
              <a:rPr lang="pt-PT" b="1" dirty="0"/>
              <a:t>apenas um valor correspondente</a:t>
            </a:r>
            <a:r>
              <a:rPr lang="pt-PT" dirty="0"/>
              <a:t>, singular e não existem grupos de atributos repetidos.</a:t>
            </a:r>
            <a:endParaRPr lang="en-US" sz="2400" dirty="0">
              <a:solidFill>
                <a:schemeClr val="tx1">
                  <a:lumMod val="85000"/>
                  <a:lumOff val="15000"/>
                </a:schemeClr>
              </a:solidFill>
            </a:endParaRPr>
          </a:p>
        </p:txBody>
      </p:sp>
      <p:pic>
        <p:nvPicPr>
          <p:cNvPr id="2050" name="Picture 2">
            <a:extLst>
              <a:ext uri="{FF2B5EF4-FFF2-40B4-BE49-F238E27FC236}">
                <a16:creationId xmlns:a16="http://schemas.microsoft.com/office/drawing/2014/main" id="{DEC512B8-25AC-67AE-20BF-DE174B039B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531" y="3514287"/>
            <a:ext cx="4419600" cy="11715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6FF8BB7-3814-51CF-4B33-519785B11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9469" y="3514287"/>
            <a:ext cx="4953000" cy="8096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45105242-2A8B-976D-E7B9-D940DE97A9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9469" y="4686722"/>
            <a:ext cx="3867150" cy="130492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m 5">
            <a:extLst>
              <a:ext uri="{FF2B5EF4-FFF2-40B4-BE49-F238E27FC236}">
                <a16:creationId xmlns:a16="http://schemas.microsoft.com/office/drawing/2014/main" id="{8D625423-E72A-BB0F-D1AB-AF3EB914B3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2312" y="2623413"/>
            <a:ext cx="614038" cy="614038"/>
          </a:xfrm>
          <a:prstGeom prst="rect">
            <a:avLst/>
          </a:prstGeom>
        </p:spPr>
      </p:pic>
      <p:pic>
        <p:nvPicPr>
          <p:cNvPr id="8" name="Imagem 7">
            <a:extLst>
              <a:ext uri="{FF2B5EF4-FFF2-40B4-BE49-F238E27FC236}">
                <a16:creationId xmlns:a16="http://schemas.microsoft.com/office/drawing/2014/main" id="{5647F765-2E8F-5D3D-B44C-616284092D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8950" y="2674612"/>
            <a:ext cx="614038" cy="614038"/>
          </a:xfrm>
          <a:prstGeom prst="rect">
            <a:avLst/>
          </a:prstGeom>
        </p:spPr>
      </p:pic>
      <p:cxnSp>
        <p:nvCxnSpPr>
          <p:cNvPr id="11" name="Conector reto 10">
            <a:extLst>
              <a:ext uri="{FF2B5EF4-FFF2-40B4-BE49-F238E27FC236}">
                <a16:creationId xmlns:a16="http://schemas.microsoft.com/office/drawing/2014/main" id="{C6AEB7F1-79AC-E5CD-22A4-0E914566A9F0}"/>
              </a:ext>
            </a:extLst>
          </p:cNvPr>
          <p:cNvCxnSpPr/>
          <p:nvPr/>
        </p:nvCxnSpPr>
        <p:spPr>
          <a:xfrm>
            <a:off x="5771626" y="2623413"/>
            <a:ext cx="0" cy="3852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0CD9618A-BC4E-845A-8ADA-040C5FC341F3}"/>
              </a:ext>
            </a:extLst>
          </p:cNvPr>
          <p:cNvCxnSpPr/>
          <p:nvPr/>
        </p:nvCxnSpPr>
        <p:spPr>
          <a:xfrm flipH="1">
            <a:off x="5217952" y="4026716"/>
            <a:ext cx="4362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DB43E0C0-853A-218C-C4E9-6B092C0102D1}"/>
              </a:ext>
            </a:extLst>
          </p:cNvPr>
          <p:cNvCxnSpPr/>
          <p:nvPr/>
        </p:nvCxnSpPr>
        <p:spPr>
          <a:xfrm flipH="1">
            <a:off x="5217952" y="4455953"/>
            <a:ext cx="4362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17995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par>
                                <p:cTn id="12" presetID="2" presetClass="entr" presetSubtype="2" decel="100000" fill="hold" grpId="0" nodeType="withEffect">
                                  <p:stCondLst>
                                    <p:cond delay="75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1+#ppt_w/2"/>
                                          </p:val>
                                        </p:tav>
                                        <p:tav tm="100000">
                                          <p:val>
                                            <p:strVal val="#ppt_x"/>
                                          </p:val>
                                        </p:tav>
                                      </p:tavLst>
                                    </p:anim>
                                    <p:anim calcmode="lin" valueType="num">
                                      <p:cBhvr additive="base">
                                        <p:cTn id="15" dur="1000" fill="hold"/>
                                        <p:tgtEl>
                                          <p:spTgt spid="9"/>
                                        </p:tgtEl>
                                        <p:attrNameLst>
                                          <p:attrName>ppt_y</p:attrName>
                                        </p:attrNameLst>
                                      </p:cBhvr>
                                      <p:tavLst>
                                        <p:tav tm="0">
                                          <p:val>
                                            <p:strVal val="#ppt_y"/>
                                          </p:val>
                                        </p:tav>
                                        <p:tav tm="100000">
                                          <p:val>
                                            <p:strVal val="#ppt_y"/>
                                          </p:val>
                                        </p:tav>
                                      </p:tavLst>
                                    </p:anim>
                                  </p:childTnLst>
                                </p:cTn>
                              </p:par>
                              <p:par>
                                <p:cTn id="16" presetID="22" presetClass="entr" presetSubtype="8" fill="hold" grpId="1" nodeType="withEffect">
                                  <p:stCondLst>
                                    <p:cond delay="75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A81C0D-1840-4340-B9D3-0AC162503E6F}"/>
              </a:ext>
            </a:extLst>
          </p:cNvPr>
          <p:cNvGrpSpPr/>
          <p:nvPr/>
        </p:nvGrpSpPr>
        <p:grpSpPr>
          <a:xfrm>
            <a:off x="1210199" y="592568"/>
            <a:ext cx="9703877" cy="830997"/>
            <a:chOff x="1969027" y="1125538"/>
            <a:chExt cx="5824368" cy="588773"/>
          </a:xfrm>
        </p:grpSpPr>
        <p:sp>
          <p:nvSpPr>
            <p:cNvPr id="3" name="TextBox 2">
              <a:extLst>
                <a:ext uri="{FF2B5EF4-FFF2-40B4-BE49-F238E27FC236}">
                  <a16:creationId xmlns:a16="http://schemas.microsoft.com/office/drawing/2014/main" id="{B0A58F85-1AB7-4260-96EE-4A0627B9CFA2}"/>
                </a:ext>
              </a:extLst>
            </p:cNvPr>
            <p:cNvSpPr txBox="1"/>
            <p:nvPr/>
          </p:nvSpPr>
          <p:spPr>
            <a:xfrm>
              <a:off x="2330247" y="1125538"/>
              <a:ext cx="5463148" cy="588773"/>
            </a:xfrm>
            <a:prstGeom prst="rect">
              <a:avLst/>
            </a:prstGeom>
            <a:noFill/>
          </p:spPr>
          <p:txBody>
            <a:bodyPr wrap="square" rtlCol="0">
              <a:spAutoFit/>
            </a:bodyPr>
            <a:lstStyle/>
            <a:p>
              <a:r>
                <a:rPr lang="pt-PT" sz="4800" b="1" dirty="0">
                  <a:solidFill>
                    <a:schemeClr val="tx1">
                      <a:lumMod val="85000"/>
                      <a:lumOff val="15000"/>
                    </a:schemeClr>
                  </a:solidFill>
                  <a:latin typeface="+mj-lt"/>
                </a:rPr>
                <a:t>Segunda Forma Normal</a:t>
              </a:r>
              <a:endParaRPr lang="en-US" sz="4800" b="1" dirty="0">
                <a:solidFill>
                  <a:schemeClr val="tx1">
                    <a:lumMod val="85000"/>
                    <a:lumOff val="15000"/>
                  </a:schemeClr>
                </a:solidFill>
                <a:latin typeface="+mj-lt"/>
              </a:endParaRPr>
            </a:p>
          </p:txBody>
        </p:sp>
        <p:sp>
          <p:nvSpPr>
            <p:cNvPr id="4" name="Graphic 71">
              <a:extLst>
                <a:ext uri="{FF2B5EF4-FFF2-40B4-BE49-F238E27FC236}">
                  <a16:creationId xmlns:a16="http://schemas.microsoft.com/office/drawing/2014/main" id="{145FDF0F-5D1F-49BB-9308-30CB9F7ACB9F}"/>
                </a:ext>
              </a:extLst>
            </p:cNvPr>
            <p:cNvSpPr/>
            <p:nvPr/>
          </p:nvSpPr>
          <p:spPr>
            <a:xfrm rot="16200000">
              <a:off x="1919422" y="1175143"/>
              <a:ext cx="259654" cy="160444"/>
            </a:xfrm>
            <a:custGeom>
              <a:avLst/>
              <a:gdLst>
                <a:gd name="connsiteX0" fmla="*/ 2150869 w 2438400"/>
                <a:gd name="connsiteY0" fmla="*/ 0 h 1506721"/>
                <a:gd name="connsiteX1" fmla="*/ 1219200 w 2438400"/>
                <a:gd name="connsiteY1" fmla="*/ 931669 h 1506721"/>
                <a:gd name="connsiteX2" fmla="*/ 287531 w 2438400"/>
                <a:gd name="connsiteY2" fmla="*/ 0 h 1506721"/>
                <a:gd name="connsiteX3" fmla="*/ 0 w 2438400"/>
                <a:gd name="connsiteY3" fmla="*/ 287522 h 1506721"/>
                <a:gd name="connsiteX4" fmla="*/ 1219200 w 2438400"/>
                <a:gd name="connsiteY4" fmla="*/ 1506722 h 1506721"/>
                <a:gd name="connsiteX5" fmla="*/ 2438400 w 2438400"/>
                <a:gd name="connsiteY5" fmla="*/ 287522 h 150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8400" h="1506721">
                  <a:moveTo>
                    <a:pt x="2150869" y="0"/>
                  </a:moveTo>
                  <a:lnTo>
                    <a:pt x="1219200" y="931669"/>
                  </a:lnTo>
                  <a:lnTo>
                    <a:pt x="287531" y="0"/>
                  </a:lnTo>
                  <a:lnTo>
                    <a:pt x="0" y="287522"/>
                  </a:lnTo>
                  <a:lnTo>
                    <a:pt x="1219200" y="1506722"/>
                  </a:lnTo>
                  <a:lnTo>
                    <a:pt x="2438400" y="287522"/>
                  </a:lnTo>
                  <a:close/>
                </a:path>
              </a:pathLst>
            </a:custGeom>
            <a:solidFill>
              <a:schemeClr val="accent1"/>
            </a:solidFill>
            <a:ln w="9525" cap="flat">
              <a:noFill/>
              <a:prstDash val="solid"/>
              <a:miter/>
            </a:ln>
          </p:spPr>
          <p:txBody>
            <a:bodyPr rtlCol="0" anchor="ctr"/>
            <a:lstStyle/>
            <a:p>
              <a:endParaRPr lang="en-US">
                <a:solidFill>
                  <a:schemeClr val="tx1">
                    <a:lumMod val="85000"/>
                    <a:lumOff val="15000"/>
                  </a:schemeClr>
                </a:solidFill>
              </a:endParaRPr>
            </a:p>
          </p:txBody>
        </p:sp>
      </p:grpSp>
      <p:sp>
        <p:nvSpPr>
          <p:cNvPr id="9" name="TextBox 5">
            <a:extLst>
              <a:ext uri="{FF2B5EF4-FFF2-40B4-BE49-F238E27FC236}">
                <a16:creationId xmlns:a16="http://schemas.microsoft.com/office/drawing/2014/main" id="{E500CEEE-B317-13F7-1C53-5594A081CDB4}"/>
              </a:ext>
            </a:extLst>
          </p:cNvPr>
          <p:cNvSpPr txBox="1"/>
          <p:nvPr/>
        </p:nvSpPr>
        <p:spPr>
          <a:xfrm>
            <a:off x="1151476" y="1428916"/>
            <a:ext cx="9703877" cy="1297086"/>
          </a:xfrm>
          <a:prstGeom prst="rect">
            <a:avLst/>
          </a:prstGeom>
          <a:noFill/>
        </p:spPr>
        <p:txBody>
          <a:bodyPr wrap="square" rtlCol="0">
            <a:spAutoFit/>
          </a:bodyPr>
          <a:lstStyle/>
          <a:p>
            <a:pPr>
              <a:lnSpc>
                <a:spcPct val="130000"/>
              </a:lnSpc>
              <a:spcBef>
                <a:spcPts val="900"/>
              </a:spcBef>
            </a:pPr>
            <a:r>
              <a:rPr lang="pt-PT" sz="1400" b="1" dirty="0"/>
              <a:t>Regra 1 : </a:t>
            </a:r>
            <a:r>
              <a:rPr lang="pt-PT" sz="1400" dirty="0"/>
              <a:t>Uma tabela está na segunda forma normal somente se ela atender a todos os requisitos da primeira forma normal.</a:t>
            </a:r>
          </a:p>
          <a:p>
            <a:pPr>
              <a:lnSpc>
                <a:spcPct val="130000"/>
              </a:lnSpc>
              <a:spcBef>
                <a:spcPts val="900"/>
              </a:spcBef>
            </a:pPr>
            <a:r>
              <a:rPr lang="pt-PT" sz="1400" b="1" dirty="0"/>
              <a:t>Regra 2 : </a:t>
            </a:r>
            <a:r>
              <a:rPr lang="pt-PT" sz="1400" dirty="0"/>
              <a:t>Os registros na tabela, que não são chaves, e que são dependente de outra chave primária, não podem estar duplicados em uma tabela.</a:t>
            </a:r>
          </a:p>
        </p:txBody>
      </p:sp>
      <p:pic>
        <p:nvPicPr>
          <p:cNvPr id="6" name="Imagem 5">
            <a:extLst>
              <a:ext uri="{FF2B5EF4-FFF2-40B4-BE49-F238E27FC236}">
                <a16:creationId xmlns:a16="http://schemas.microsoft.com/office/drawing/2014/main" id="{8D625423-E72A-BB0F-D1AB-AF3EB914B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312" y="2908639"/>
            <a:ext cx="614038" cy="614038"/>
          </a:xfrm>
          <a:prstGeom prst="rect">
            <a:avLst/>
          </a:prstGeom>
        </p:spPr>
      </p:pic>
      <p:pic>
        <p:nvPicPr>
          <p:cNvPr id="8" name="Imagem 7">
            <a:extLst>
              <a:ext uri="{FF2B5EF4-FFF2-40B4-BE49-F238E27FC236}">
                <a16:creationId xmlns:a16="http://schemas.microsoft.com/office/drawing/2014/main" id="{5647F765-2E8F-5D3D-B44C-616284092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8950" y="2959838"/>
            <a:ext cx="614038" cy="614038"/>
          </a:xfrm>
          <a:prstGeom prst="rect">
            <a:avLst/>
          </a:prstGeom>
        </p:spPr>
      </p:pic>
      <p:cxnSp>
        <p:nvCxnSpPr>
          <p:cNvPr id="11" name="Conector reto 10">
            <a:extLst>
              <a:ext uri="{FF2B5EF4-FFF2-40B4-BE49-F238E27FC236}">
                <a16:creationId xmlns:a16="http://schemas.microsoft.com/office/drawing/2014/main" id="{C6AEB7F1-79AC-E5CD-22A4-0E914566A9F0}"/>
              </a:ext>
            </a:extLst>
          </p:cNvPr>
          <p:cNvCxnSpPr/>
          <p:nvPr/>
        </p:nvCxnSpPr>
        <p:spPr>
          <a:xfrm>
            <a:off x="5771626" y="2950584"/>
            <a:ext cx="0" cy="3852888"/>
          </a:xfrm>
          <a:prstGeom prst="line">
            <a:avLst/>
          </a:prstGeom>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8AE5D915-F3D2-4C9A-D13A-82E22FAD58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0199" y="4131999"/>
            <a:ext cx="4410075" cy="108585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de Seta Reta 6">
            <a:extLst>
              <a:ext uri="{FF2B5EF4-FFF2-40B4-BE49-F238E27FC236}">
                <a16:creationId xmlns:a16="http://schemas.microsoft.com/office/drawing/2014/main" id="{08819014-7AB1-72E2-56CA-7BD54C3F1D6A}"/>
              </a:ext>
            </a:extLst>
          </p:cNvPr>
          <p:cNvCxnSpPr>
            <a:cxnSpLocks/>
          </p:cNvCxnSpPr>
          <p:nvPr/>
        </p:nvCxnSpPr>
        <p:spPr>
          <a:xfrm flipH="1">
            <a:off x="3540154" y="3934437"/>
            <a:ext cx="704675" cy="62917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69341FB1-E9A2-3DA5-942E-5C006377E5A8}"/>
              </a:ext>
            </a:extLst>
          </p:cNvPr>
          <p:cNvCxnSpPr>
            <a:cxnSpLocks/>
          </p:cNvCxnSpPr>
          <p:nvPr/>
        </p:nvCxnSpPr>
        <p:spPr>
          <a:xfrm flipH="1">
            <a:off x="3615830" y="4446586"/>
            <a:ext cx="704675" cy="62917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076" name="Picture 4">
            <a:extLst>
              <a:ext uri="{FF2B5EF4-FFF2-40B4-BE49-F238E27FC236}">
                <a16:creationId xmlns:a16="http://schemas.microsoft.com/office/drawing/2014/main" id="{701586CD-C5D8-09C7-B2C9-EBB7106901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4603" y="5398779"/>
            <a:ext cx="3867150" cy="8286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ADE55B64-8180-E09A-FD8F-D708AFC591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4151049"/>
            <a:ext cx="4410075"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16492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par>
                                <p:cTn id="12" presetID="2" presetClass="entr" presetSubtype="2" decel="100000" fill="hold" grpId="0" nodeType="withEffect">
                                  <p:stCondLst>
                                    <p:cond delay="75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1+#ppt_w/2"/>
                                          </p:val>
                                        </p:tav>
                                        <p:tav tm="100000">
                                          <p:val>
                                            <p:strVal val="#ppt_x"/>
                                          </p:val>
                                        </p:tav>
                                      </p:tavLst>
                                    </p:anim>
                                    <p:anim calcmode="lin" valueType="num">
                                      <p:cBhvr additive="base">
                                        <p:cTn id="15" dur="1000" fill="hold"/>
                                        <p:tgtEl>
                                          <p:spTgt spid="9"/>
                                        </p:tgtEl>
                                        <p:attrNameLst>
                                          <p:attrName>ppt_y</p:attrName>
                                        </p:attrNameLst>
                                      </p:cBhvr>
                                      <p:tavLst>
                                        <p:tav tm="0">
                                          <p:val>
                                            <p:strVal val="#ppt_y"/>
                                          </p:val>
                                        </p:tav>
                                        <p:tav tm="100000">
                                          <p:val>
                                            <p:strVal val="#ppt_y"/>
                                          </p:val>
                                        </p:tav>
                                      </p:tavLst>
                                    </p:anim>
                                  </p:childTnLst>
                                </p:cTn>
                              </p:par>
                              <p:par>
                                <p:cTn id="16" presetID="22" presetClass="entr" presetSubtype="8" fill="hold" grpId="1" nodeType="withEffect">
                                  <p:stCondLst>
                                    <p:cond delay="75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6A81C0D-1840-4340-B9D3-0AC162503E6F}"/>
              </a:ext>
            </a:extLst>
          </p:cNvPr>
          <p:cNvGrpSpPr/>
          <p:nvPr/>
        </p:nvGrpSpPr>
        <p:grpSpPr>
          <a:xfrm>
            <a:off x="1210199" y="592568"/>
            <a:ext cx="9703877" cy="830997"/>
            <a:chOff x="1969027" y="1125538"/>
            <a:chExt cx="5824368" cy="588773"/>
          </a:xfrm>
        </p:grpSpPr>
        <p:sp>
          <p:nvSpPr>
            <p:cNvPr id="3" name="TextBox 2">
              <a:extLst>
                <a:ext uri="{FF2B5EF4-FFF2-40B4-BE49-F238E27FC236}">
                  <a16:creationId xmlns:a16="http://schemas.microsoft.com/office/drawing/2014/main" id="{B0A58F85-1AB7-4260-96EE-4A0627B9CFA2}"/>
                </a:ext>
              </a:extLst>
            </p:cNvPr>
            <p:cNvSpPr txBox="1"/>
            <p:nvPr/>
          </p:nvSpPr>
          <p:spPr>
            <a:xfrm>
              <a:off x="2330247" y="1125538"/>
              <a:ext cx="5463148" cy="588773"/>
            </a:xfrm>
            <a:prstGeom prst="rect">
              <a:avLst/>
            </a:prstGeom>
            <a:noFill/>
          </p:spPr>
          <p:txBody>
            <a:bodyPr wrap="square" rtlCol="0">
              <a:spAutoFit/>
            </a:bodyPr>
            <a:lstStyle/>
            <a:p>
              <a:r>
                <a:rPr lang="pt-PT" sz="4800" b="1" dirty="0">
                  <a:solidFill>
                    <a:schemeClr val="tx1">
                      <a:lumMod val="85000"/>
                      <a:lumOff val="15000"/>
                    </a:schemeClr>
                  </a:solidFill>
                  <a:latin typeface="+mj-lt"/>
                </a:rPr>
                <a:t>Terceira Forma Normal</a:t>
              </a:r>
              <a:endParaRPr lang="en-US" sz="4800" b="1" dirty="0">
                <a:solidFill>
                  <a:schemeClr val="tx1">
                    <a:lumMod val="85000"/>
                    <a:lumOff val="15000"/>
                  </a:schemeClr>
                </a:solidFill>
                <a:latin typeface="+mj-lt"/>
              </a:endParaRPr>
            </a:p>
          </p:txBody>
        </p:sp>
        <p:sp>
          <p:nvSpPr>
            <p:cNvPr id="4" name="Graphic 71">
              <a:extLst>
                <a:ext uri="{FF2B5EF4-FFF2-40B4-BE49-F238E27FC236}">
                  <a16:creationId xmlns:a16="http://schemas.microsoft.com/office/drawing/2014/main" id="{145FDF0F-5D1F-49BB-9308-30CB9F7ACB9F}"/>
                </a:ext>
              </a:extLst>
            </p:cNvPr>
            <p:cNvSpPr/>
            <p:nvPr/>
          </p:nvSpPr>
          <p:spPr>
            <a:xfrm rot="16200000">
              <a:off x="1919422" y="1175143"/>
              <a:ext cx="259654" cy="160444"/>
            </a:xfrm>
            <a:custGeom>
              <a:avLst/>
              <a:gdLst>
                <a:gd name="connsiteX0" fmla="*/ 2150869 w 2438400"/>
                <a:gd name="connsiteY0" fmla="*/ 0 h 1506721"/>
                <a:gd name="connsiteX1" fmla="*/ 1219200 w 2438400"/>
                <a:gd name="connsiteY1" fmla="*/ 931669 h 1506721"/>
                <a:gd name="connsiteX2" fmla="*/ 287531 w 2438400"/>
                <a:gd name="connsiteY2" fmla="*/ 0 h 1506721"/>
                <a:gd name="connsiteX3" fmla="*/ 0 w 2438400"/>
                <a:gd name="connsiteY3" fmla="*/ 287522 h 1506721"/>
                <a:gd name="connsiteX4" fmla="*/ 1219200 w 2438400"/>
                <a:gd name="connsiteY4" fmla="*/ 1506722 h 1506721"/>
                <a:gd name="connsiteX5" fmla="*/ 2438400 w 2438400"/>
                <a:gd name="connsiteY5" fmla="*/ 287522 h 150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8400" h="1506721">
                  <a:moveTo>
                    <a:pt x="2150869" y="0"/>
                  </a:moveTo>
                  <a:lnTo>
                    <a:pt x="1219200" y="931669"/>
                  </a:lnTo>
                  <a:lnTo>
                    <a:pt x="287531" y="0"/>
                  </a:lnTo>
                  <a:lnTo>
                    <a:pt x="0" y="287522"/>
                  </a:lnTo>
                  <a:lnTo>
                    <a:pt x="1219200" y="1506722"/>
                  </a:lnTo>
                  <a:lnTo>
                    <a:pt x="2438400" y="287522"/>
                  </a:lnTo>
                  <a:close/>
                </a:path>
              </a:pathLst>
            </a:custGeom>
            <a:solidFill>
              <a:schemeClr val="accent1"/>
            </a:solidFill>
            <a:ln w="9525" cap="flat">
              <a:noFill/>
              <a:prstDash val="solid"/>
              <a:miter/>
            </a:ln>
          </p:spPr>
          <p:txBody>
            <a:bodyPr rtlCol="0" anchor="ctr"/>
            <a:lstStyle/>
            <a:p>
              <a:endParaRPr lang="en-US">
                <a:solidFill>
                  <a:schemeClr val="tx1">
                    <a:lumMod val="85000"/>
                    <a:lumOff val="15000"/>
                  </a:schemeClr>
                </a:solidFill>
              </a:endParaRPr>
            </a:p>
          </p:txBody>
        </p:sp>
      </p:grpSp>
      <p:sp>
        <p:nvSpPr>
          <p:cNvPr id="9" name="TextBox 5">
            <a:extLst>
              <a:ext uri="{FF2B5EF4-FFF2-40B4-BE49-F238E27FC236}">
                <a16:creationId xmlns:a16="http://schemas.microsoft.com/office/drawing/2014/main" id="{E500CEEE-B317-13F7-1C53-5594A081CDB4}"/>
              </a:ext>
            </a:extLst>
          </p:cNvPr>
          <p:cNvSpPr txBox="1"/>
          <p:nvPr/>
        </p:nvSpPr>
        <p:spPr>
          <a:xfrm>
            <a:off x="1151476" y="1428916"/>
            <a:ext cx="9703877" cy="1017010"/>
          </a:xfrm>
          <a:prstGeom prst="rect">
            <a:avLst/>
          </a:prstGeom>
          <a:noFill/>
        </p:spPr>
        <p:txBody>
          <a:bodyPr wrap="square" rtlCol="0">
            <a:spAutoFit/>
          </a:bodyPr>
          <a:lstStyle/>
          <a:p>
            <a:pPr>
              <a:lnSpc>
                <a:spcPct val="130000"/>
              </a:lnSpc>
              <a:spcBef>
                <a:spcPts val="900"/>
              </a:spcBef>
            </a:pPr>
            <a:r>
              <a:rPr lang="pt-PT" sz="1400" b="1" dirty="0"/>
              <a:t>Regra 1 : </a:t>
            </a:r>
            <a:r>
              <a:rPr lang="pt-PT" sz="1400" dirty="0"/>
              <a:t>Uma tabela está na terceira forma normal somente se ela atender a todos os requisitos da primeira e segunda forma normal.</a:t>
            </a:r>
          </a:p>
          <a:p>
            <a:pPr>
              <a:lnSpc>
                <a:spcPct val="130000"/>
              </a:lnSpc>
              <a:spcBef>
                <a:spcPts val="900"/>
              </a:spcBef>
            </a:pPr>
            <a:r>
              <a:rPr lang="pt-PT" sz="1400" b="1" dirty="0"/>
              <a:t>Regra 2 : </a:t>
            </a:r>
            <a:r>
              <a:rPr lang="pt-PT" sz="1400" dirty="0"/>
              <a:t>As colunas que são dependentes de chaves estrangeiras não podem se repetir em outras tabelas.</a:t>
            </a:r>
          </a:p>
        </p:txBody>
      </p:sp>
      <p:pic>
        <p:nvPicPr>
          <p:cNvPr id="6" name="Imagem 5">
            <a:extLst>
              <a:ext uri="{FF2B5EF4-FFF2-40B4-BE49-F238E27FC236}">
                <a16:creationId xmlns:a16="http://schemas.microsoft.com/office/drawing/2014/main" id="{8D625423-E72A-BB0F-D1AB-AF3EB914B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312" y="2908639"/>
            <a:ext cx="614038" cy="614038"/>
          </a:xfrm>
          <a:prstGeom prst="rect">
            <a:avLst/>
          </a:prstGeom>
        </p:spPr>
      </p:pic>
      <p:pic>
        <p:nvPicPr>
          <p:cNvPr id="8" name="Imagem 7">
            <a:extLst>
              <a:ext uri="{FF2B5EF4-FFF2-40B4-BE49-F238E27FC236}">
                <a16:creationId xmlns:a16="http://schemas.microsoft.com/office/drawing/2014/main" id="{5647F765-2E8F-5D3D-B44C-616284092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8950" y="2959838"/>
            <a:ext cx="614038" cy="614038"/>
          </a:xfrm>
          <a:prstGeom prst="rect">
            <a:avLst/>
          </a:prstGeom>
        </p:spPr>
      </p:pic>
      <p:cxnSp>
        <p:nvCxnSpPr>
          <p:cNvPr id="11" name="Conector reto 10">
            <a:extLst>
              <a:ext uri="{FF2B5EF4-FFF2-40B4-BE49-F238E27FC236}">
                <a16:creationId xmlns:a16="http://schemas.microsoft.com/office/drawing/2014/main" id="{C6AEB7F1-79AC-E5CD-22A4-0E914566A9F0}"/>
              </a:ext>
            </a:extLst>
          </p:cNvPr>
          <p:cNvCxnSpPr/>
          <p:nvPr/>
        </p:nvCxnSpPr>
        <p:spPr>
          <a:xfrm>
            <a:off x="5771626" y="2950584"/>
            <a:ext cx="0" cy="3852888"/>
          </a:xfrm>
          <a:prstGeom prst="line">
            <a:avLst/>
          </a:prstGeom>
        </p:spPr>
        <p:style>
          <a:lnRef idx="1">
            <a:schemeClr val="accent1"/>
          </a:lnRef>
          <a:fillRef idx="0">
            <a:schemeClr val="accent1"/>
          </a:fillRef>
          <a:effectRef idx="0">
            <a:schemeClr val="accent1"/>
          </a:effectRef>
          <a:fontRef idx="minor">
            <a:schemeClr val="tx1"/>
          </a:fontRef>
        </p:style>
      </p:cxnSp>
      <p:pic>
        <p:nvPicPr>
          <p:cNvPr id="4100" name="Picture 4">
            <a:extLst>
              <a:ext uri="{FF2B5EF4-FFF2-40B4-BE49-F238E27FC236}">
                <a16:creationId xmlns:a16="http://schemas.microsoft.com/office/drawing/2014/main" id="{F84EF8AE-821A-53C4-0A57-26D6A0DCBB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0199" y="4302941"/>
            <a:ext cx="4410075" cy="81915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BA4CFDFF-0ABC-F235-B57F-0D80FA7343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8596" y="4302941"/>
            <a:ext cx="3886200" cy="8286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EDE3F7A1-2C96-64FA-1E1C-B1ED66970E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0443" y="5395694"/>
            <a:ext cx="3867150" cy="809625"/>
          </a:xfrm>
          <a:prstGeom prst="rect">
            <a:avLst/>
          </a:prstGeom>
          <a:noFill/>
          <a:extLst>
            <a:ext uri="{909E8E84-426E-40DD-AFC4-6F175D3DCCD1}">
              <a14:hiddenFill xmlns:a14="http://schemas.microsoft.com/office/drawing/2010/main">
                <a:solidFill>
                  <a:srgbClr val="FFFFFF"/>
                </a:solidFill>
              </a14:hiddenFill>
            </a:ext>
          </a:extLst>
        </p:spPr>
      </p:pic>
      <p:sp>
        <p:nvSpPr>
          <p:cNvPr id="5" name="Colchete Esquerdo 4">
            <a:extLst>
              <a:ext uri="{FF2B5EF4-FFF2-40B4-BE49-F238E27FC236}">
                <a16:creationId xmlns:a16="http://schemas.microsoft.com/office/drawing/2014/main" id="{F1B7D0E6-E760-47F5-6AED-F89DDF602191}"/>
              </a:ext>
            </a:extLst>
          </p:cNvPr>
          <p:cNvSpPr/>
          <p:nvPr/>
        </p:nvSpPr>
        <p:spPr>
          <a:xfrm rot="5400000">
            <a:off x="4582206" y="3484019"/>
            <a:ext cx="233565" cy="1184739"/>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77390808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par>
                                <p:cTn id="12" presetID="2" presetClass="entr" presetSubtype="2" decel="100000" fill="hold" grpId="0" nodeType="withEffect">
                                  <p:stCondLst>
                                    <p:cond delay="75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1+#ppt_w/2"/>
                                          </p:val>
                                        </p:tav>
                                        <p:tav tm="100000">
                                          <p:val>
                                            <p:strVal val="#ppt_x"/>
                                          </p:val>
                                        </p:tav>
                                      </p:tavLst>
                                    </p:anim>
                                    <p:anim calcmode="lin" valueType="num">
                                      <p:cBhvr additive="base">
                                        <p:cTn id="15" dur="1000" fill="hold"/>
                                        <p:tgtEl>
                                          <p:spTgt spid="9"/>
                                        </p:tgtEl>
                                        <p:attrNameLst>
                                          <p:attrName>ppt_y</p:attrName>
                                        </p:attrNameLst>
                                      </p:cBhvr>
                                      <p:tavLst>
                                        <p:tav tm="0">
                                          <p:val>
                                            <p:strVal val="#ppt_y"/>
                                          </p:val>
                                        </p:tav>
                                        <p:tav tm="100000">
                                          <p:val>
                                            <p:strVal val="#ppt_y"/>
                                          </p:val>
                                        </p:tav>
                                      </p:tavLst>
                                    </p:anim>
                                  </p:childTnLst>
                                </p:cTn>
                              </p:par>
                              <p:par>
                                <p:cTn id="16" presetID="22" presetClass="entr" presetSubtype="8" fill="hold" grpId="1" nodeType="withEffect">
                                  <p:stCondLst>
                                    <p:cond delay="75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47BF8-8DD7-4AA0-896E-702824FAC432}"/>
              </a:ext>
            </a:extLst>
          </p:cNvPr>
          <p:cNvSpPr>
            <a:spLocks noGrp="1"/>
          </p:cNvSpPr>
          <p:nvPr>
            <p:ph type="title"/>
          </p:nvPr>
        </p:nvSpPr>
        <p:spPr/>
        <p:txBody>
          <a:bodyPr/>
          <a:lstStyle/>
          <a:p>
            <a:pPr>
              <a:lnSpc>
                <a:spcPct val="100000"/>
              </a:lnSpc>
            </a:pPr>
            <a:r>
              <a:rPr lang="pt-BR" dirty="0"/>
              <a:t>Linguagem SQL</a:t>
            </a:r>
          </a:p>
        </p:txBody>
      </p:sp>
      <p:sp>
        <p:nvSpPr>
          <p:cNvPr id="3" name="Text Placeholder 10">
            <a:extLst>
              <a:ext uri="{FF2B5EF4-FFF2-40B4-BE49-F238E27FC236}">
                <a16:creationId xmlns:a16="http://schemas.microsoft.com/office/drawing/2014/main" id="{1C5D8A10-E184-40B4-92B5-33CE8D739131}"/>
              </a:ext>
            </a:extLst>
          </p:cNvPr>
          <p:cNvSpPr txBox="1">
            <a:spLocks/>
          </p:cNvSpPr>
          <p:nvPr/>
        </p:nvSpPr>
        <p:spPr>
          <a:xfrm>
            <a:off x="418643" y="1301243"/>
            <a:ext cx="10383899" cy="1125318"/>
          </a:xfrm>
          <a:prstGeom prst="rect">
            <a:avLst/>
          </a:prstGeom>
        </p:spPr>
        <p:txBody>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pt-BR" sz="2000" dirty="0">
                <a:latin typeface="+mn-lt"/>
              </a:rPr>
              <a:t>SQL é uma linguagem padrão usada com bancos de dados relacionais.</a:t>
            </a:r>
          </a:p>
          <a:p>
            <a:r>
              <a:rPr lang="pt-BR" sz="2000" dirty="0">
                <a:latin typeface="+mn-lt"/>
              </a:rPr>
              <a:t>Os padrões do são mantidos pela ANSI e ISO</a:t>
            </a:r>
          </a:p>
          <a:p>
            <a:r>
              <a:rPr lang="pt-BR" sz="2000" dirty="0">
                <a:latin typeface="+mn-lt"/>
              </a:rPr>
              <a:t>A maioria dos sistemas RDBMS é compatível com extensões proprietárias do SQL padrão</a:t>
            </a:r>
          </a:p>
          <a:p>
            <a:endParaRPr lang="en-US" sz="2000" dirty="0">
              <a:latin typeface="+mn-lt"/>
            </a:endParaRPr>
          </a:p>
        </p:txBody>
      </p:sp>
      <p:graphicFrame>
        <p:nvGraphicFramePr>
          <p:cNvPr id="12" name="Table 12">
            <a:extLst>
              <a:ext uri="{FF2B5EF4-FFF2-40B4-BE49-F238E27FC236}">
                <a16:creationId xmlns:a16="http://schemas.microsoft.com/office/drawing/2014/main" id="{CE4558D3-3D7D-4F23-ABF7-2CF82FC4017D}"/>
              </a:ext>
            </a:extLst>
          </p:cNvPr>
          <p:cNvGraphicFramePr>
            <a:graphicFrameLocks noGrp="1"/>
          </p:cNvGraphicFramePr>
          <p:nvPr>
            <p:extLst>
              <p:ext uri="{D42A27DB-BD31-4B8C-83A1-F6EECF244321}">
                <p14:modId xmlns:p14="http://schemas.microsoft.com/office/powerpoint/2010/main" val="3393310797"/>
              </p:ext>
            </p:extLst>
          </p:nvPr>
        </p:nvGraphicFramePr>
        <p:xfrm>
          <a:off x="270455" y="2514099"/>
          <a:ext cx="11539471" cy="4077208"/>
        </p:xfrm>
        <a:graphic>
          <a:graphicData uri="http://schemas.openxmlformats.org/drawingml/2006/table">
            <a:tbl>
              <a:tblPr firstRow="1" bandRow="1">
                <a:tableStyleId>{69012ECD-51FC-41F1-AA8D-1B2483CD663E}</a:tableStyleId>
              </a:tblPr>
              <a:tblGrid>
                <a:gridCol w="3780490">
                  <a:extLst>
                    <a:ext uri="{9D8B030D-6E8A-4147-A177-3AD203B41FA5}">
                      <a16:colId xmlns:a16="http://schemas.microsoft.com/office/drawing/2014/main" val="1243459777"/>
                    </a:ext>
                  </a:extLst>
                </a:gridCol>
                <a:gridCol w="3780490">
                  <a:extLst>
                    <a:ext uri="{9D8B030D-6E8A-4147-A177-3AD203B41FA5}">
                      <a16:colId xmlns:a16="http://schemas.microsoft.com/office/drawing/2014/main" val="2085388624"/>
                    </a:ext>
                  </a:extLst>
                </a:gridCol>
                <a:gridCol w="3978491">
                  <a:extLst>
                    <a:ext uri="{9D8B030D-6E8A-4147-A177-3AD203B41FA5}">
                      <a16:colId xmlns:a16="http://schemas.microsoft.com/office/drawing/2014/main" val="4240461997"/>
                    </a:ext>
                  </a:extLst>
                </a:gridCol>
              </a:tblGrid>
              <a:tr h="370840">
                <a:tc>
                  <a:txBody>
                    <a:bodyPr/>
                    <a:lstStyle/>
                    <a:p>
                      <a:r>
                        <a:rPr lang="pt-BR"/>
                        <a:t>DDL (Linguagem de Definição de Dados)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BR" dirty="0"/>
                        <a:t>DCL (Linguagem de Controle de Dados)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pt-BR"/>
                        <a:t>DML (Linguagem de Manipulação de Dados)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6311003"/>
                  </a:ext>
                </a:extLst>
              </a:tr>
              <a:tr h="370840">
                <a:tc>
                  <a:txBody>
                    <a:bodyPr/>
                    <a:lstStyle/>
                    <a:p>
                      <a:r>
                        <a:rPr lang="pt-BR" sz="1400" i="1" dirty="0"/>
                        <a:t>CREATE, ALTER, DROP, RENAME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67" rtl="0" eaLnBrk="1" latinLnBrk="0" hangingPunct="1"/>
                      <a:r>
                        <a:rPr lang="pt-BR" sz="1400" i="1">
                          <a:solidFill>
                            <a:schemeClr val="dk1"/>
                          </a:solidFill>
                        </a:rPr>
                        <a:t>GRANT, DENY, REVOKE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367" rtl="0" eaLnBrk="1" latinLnBrk="0" hangingPunct="1"/>
                      <a:r>
                        <a:rPr lang="pt-BR" sz="1400" i="1" dirty="0">
                          <a:solidFill>
                            <a:schemeClr val="dk1"/>
                          </a:solidFill>
                        </a:rPr>
                        <a:t>INSERT, UPDATE, DELETE, SELECT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3416476"/>
                  </a:ext>
                </a:extLst>
              </a:tr>
              <a:tr h="370840">
                <a:tc>
                  <a:txBody>
                    <a:bodyPr/>
                    <a:lstStyle/>
                    <a:p>
                      <a:r>
                        <a:rPr lang="pt-BR" sz="1400">
                          <a:latin typeface="Courier New" panose="02070309020205020404" pitchFamily="49" charset="0"/>
                          <a:cs typeface="Courier New" panose="02070309020205020404" pitchFamily="49" charset="0"/>
                        </a:rPr>
                        <a:t>CREATE TABLE Product</a:t>
                      </a:r>
                    </a:p>
                    <a:p>
                      <a:r>
                        <a:rPr lang="pt-BR" sz="1400">
                          <a:latin typeface="Courier New" panose="02070309020205020404" pitchFamily="49" charset="0"/>
                          <a:cs typeface="Courier New" panose="02070309020205020404" pitchFamily="49" charset="0"/>
                        </a:rPr>
                        <a:t>( </a:t>
                      </a:r>
                    </a:p>
                    <a:p>
                      <a:r>
                        <a:rPr lang="pt-BR" sz="1400">
                          <a:latin typeface="Courier New" panose="02070309020205020404" pitchFamily="49" charset="0"/>
                          <a:cs typeface="Courier New" panose="02070309020205020404" pitchFamily="49" charset="0"/>
                        </a:rPr>
                        <a:t>  ProductID INT PRIMARY KEY,</a:t>
                      </a:r>
                    </a:p>
                    <a:p>
                      <a:r>
                        <a:rPr lang="pt-BR" sz="1400">
                          <a:latin typeface="Courier New" panose="02070309020205020404" pitchFamily="49" charset="0"/>
                          <a:cs typeface="Courier New" panose="02070309020205020404" pitchFamily="49" charset="0"/>
                        </a:rPr>
                        <a:t>  Name VARCHAR(20) NOT NULL,</a:t>
                      </a:r>
                    </a:p>
                    <a:p>
                      <a:r>
                        <a:rPr lang="pt-BR" sz="1400">
                          <a:latin typeface="Courier New" panose="02070309020205020404" pitchFamily="49" charset="0"/>
                          <a:cs typeface="Courier New" panose="02070309020205020404" pitchFamily="49" charset="0"/>
                        </a:rPr>
                        <a:t>  Price DECIMAL NULL</a:t>
                      </a:r>
                    </a:p>
                    <a:p>
                      <a:r>
                        <a:rPr lang="pt-BR" sz="1400">
                          <a:latin typeface="Courier New" panose="02070309020205020404" pitchFamily="49" charset="0"/>
                          <a:cs typeface="Courier New" panose="020703090202050204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l" defTabSz="914367" rtl="0" eaLnBrk="1" latinLnBrk="0" hangingPunct="1"/>
                      <a:r>
                        <a:rPr lang="pt-BR" sz="1400" dirty="0">
                          <a:solidFill>
                            <a:schemeClr val="dk1"/>
                          </a:solidFill>
                          <a:latin typeface="Courier New" panose="02070309020205020404" pitchFamily="49" charset="0"/>
                          <a:cs typeface="Courier New" panose="02070309020205020404" pitchFamily="49" charset="0"/>
                        </a:rPr>
                        <a:t>GRANT SELECT, INSERT, UPDATE</a:t>
                      </a:r>
                    </a:p>
                    <a:p>
                      <a:pPr marL="0" algn="l" defTabSz="914367" rtl="0" eaLnBrk="1" latinLnBrk="0" hangingPunct="1"/>
                      <a:r>
                        <a:rPr lang="pt-BR" sz="1400" dirty="0">
                          <a:solidFill>
                            <a:schemeClr val="dk1"/>
                          </a:solidFill>
                          <a:latin typeface="Courier New" panose="02070309020205020404" pitchFamily="49" charset="0"/>
                          <a:cs typeface="Courier New" panose="02070309020205020404" pitchFamily="49" charset="0"/>
                        </a:rPr>
                        <a:t>ON Product</a:t>
                      </a:r>
                    </a:p>
                    <a:p>
                      <a:pPr marL="0" algn="l" defTabSz="914367" rtl="0" eaLnBrk="1" latinLnBrk="0" hangingPunct="1"/>
                      <a:r>
                        <a:rPr lang="pt-BR" sz="1400" dirty="0">
                          <a:solidFill>
                            <a:schemeClr val="dk1"/>
                          </a:solidFill>
                          <a:latin typeface="Courier New" panose="02070309020205020404" pitchFamily="49" charset="0"/>
                          <a:cs typeface="Courier New" panose="02070309020205020404" pitchFamily="49" charset="0"/>
                        </a:rPr>
                        <a:t>TO user1;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algn="l" defTabSz="914367" rtl="0" eaLnBrk="1" latinLnBrk="0" hangingPunct="1"/>
                      <a:r>
                        <a:rPr lang="pt-BR" sz="1400">
                          <a:solidFill>
                            <a:schemeClr val="dk1"/>
                          </a:solidFill>
                          <a:latin typeface="Courier New" panose="02070309020205020404" pitchFamily="49" charset="0"/>
                          <a:cs typeface="Courier New" panose="02070309020205020404" pitchFamily="49" charset="0"/>
                        </a:rPr>
                        <a:t>SELECT Name, Price</a:t>
                      </a:r>
                    </a:p>
                    <a:p>
                      <a:pPr marL="0" algn="l" defTabSz="914367" rtl="0" eaLnBrk="1" latinLnBrk="0" hangingPunct="1"/>
                      <a:r>
                        <a:rPr lang="pt-BR" sz="1400">
                          <a:solidFill>
                            <a:schemeClr val="dk1"/>
                          </a:solidFill>
                          <a:latin typeface="Courier New" panose="02070309020205020404" pitchFamily="49" charset="0"/>
                          <a:cs typeface="Courier New" panose="02070309020205020404" pitchFamily="49" charset="0"/>
                        </a:rPr>
                        <a:t>FROM Product</a:t>
                      </a:r>
                    </a:p>
                    <a:p>
                      <a:pPr marL="0" algn="l" defTabSz="914367" rtl="0" eaLnBrk="1" latinLnBrk="0" hangingPunct="1"/>
                      <a:r>
                        <a:rPr lang="pt-BR" sz="1400">
                          <a:solidFill>
                            <a:schemeClr val="dk1"/>
                          </a:solidFill>
                          <a:latin typeface="Courier New" panose="02070309020205020404" pitchFamily="49" charset="0"/>
                          <a:cs typeface="Courier New" panose="02070309020205020404" pitchFamily="49" charset="0"/>
                        </a:rPr>
                        <a:t>WHERE Price &gt; 2.50</a:t>
                      </a:r>
                    </a:p>
                    <a:p>
                      <a:pPr marL="0" algn="l" defTabSz="914367" rtl="0" eaLnBrk="1" latinLnBrk="0" hangingPunct="1"/>
                      <a:r>
                        <a:rPr lang="pt-BR" sz="1400">
                          <a:solidFill>
                            <a:schemeClr val="dk1"/>
                          </a:solidFill>
                          <a:latin typeface="Courier New" panose="02070309020205020404" pitchFamily="49" charset="0"/>
                          <a:cs typeface="Courier New" panose="02070309020205020404" pitchFamily="49" charset="0"/>
                        </a:rPr>
                        <a:t>ORDER BY Price;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39517415"/>
                  </a:ext>
                </a:extLst>
              </a:tr>
              <a:tr h="370840">
                <a:tc>
                  <a:txBody>
                    <a:bodyPr/>
                    <a:lstStyle/>
                    <a:p>
                      <a:endParaRPr lang="en-US" dirty="0"/>
                    </a:p>
                    <a:p>
                      <a:endParaRPr lang="en-US" dirty="0"/>
                    </a:p>
                    <a:p>
                      <a:endParaRPr lang="en-US" dirty="0"/>
                    </a:p>
                    <a:p>
                      <a:endParaRPr lang="en-US" dirty="0"/>
                    </a:p>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3189344"/>
                  </a:ext>
                </a:extLst>
              </a:tr>
            </a:tbl>
          </a:graphicData>
        </a:graphic>
      </p:graphicFrame>
      <p:graphicFrame>
        <p:nvGraphicFramePr>
          <p:cNvPr id="14" name="Table 13">
            <a:extLst>
              <a:ext uri="{FF2B5EF4-FFF2-40B4-BE49-F238E27FC236}">
                <a16:creationId xmlns:a16="http://schemas.microsoft.com/office/drawing/2014/main" id="{F0C64E14-C4FE-4BDC-B7A7-0D5D4742BCCF}"/>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2331811430"/>
              </p:ext>
            </p:extLst>
          </p:nvPr>
        </p:nvGraphicFramePr>
        <p:xfrm>
          <a:off x="676139" y="4932732"/>
          <a:ext cx="2929943" cy="549580"/>
        </p:xfrm>
        <a:graphic>
          <a:graphicData uri="http://schemas.openxmlformats.org/drawingml/2006/table">
            <a:tbl>
              <a:tblPr firstRow="1" bandRow="1">
                <a:tableStyleId>{5C22544A-7EE6-4342-B048-85BDC9FD1C3A}</a:tableStyleId>
              </a:tblPr>
              <a:tblGrid>
                <a:gridCol w="660030">
                  <a:extLst>
                    <a:ext uri="{9D8B030D-6E8A-4147-A177-3AD203B41FA5}">
                      <a16:colId xmlns:a16="http://schemas.microsoft.com/office/drawing/2014/main" val="1727388637"/>
                    </a:ext>
                  </a:extLst>
                </a:gridCol>
                <a:gridCol w="1451575">
                  <a:extLst>
                    <a:ext uri="{9D8B030D-6E8A-4147-A177-3AD203B41FA5}">
                      <a16:colId xmlns:a16="http://schemas.microsoft.com/office/drawing/2014/main" val="299907239"/>
                    </a:ext>
                  </a:extLst>
                </a:gridCol>
                <a:gridCol w="818338">
                  <a:extLst>
                    <a:ext uri="{9D8B030D-6E8A-4147-A177-3AD203B41FA5}">
                      <a16:colId xmlns:a16="http://schemas.microsoft.com/office/drawing/2014/main" val="2578400319"/>
                    </a:ext>
                  </a:extLst>
                </a:gridCol>
              </a:tblGrid>
              <a:tr h="307417">
                <a:tc gridSpan="3">
                  <a:txBody>
                    <a:bodyPr/>
                    <a:lstStyle/>
                    <a:p>
                      <a:r>
                        <a:rPr lang="pt-BR" sz="1500"/>
                        <a:t>Product</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chemeClr val="bg1">
                        <a:lumMod val="85000"/>
                      </a:schemeClr>
                    </a:solidFill>
                  </a:tcPr>
                </a:tc>
                <a:tc>
                  <a:txBody>
                    <a:bodyPr/>
                    <a:lstStyle/>
                    <a:p>
                      <a:r>
                        <a:rPr lang="pt-BR" sz="1000" b="1"/>
                        <a: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chemeClr val="bg1">
                        <a:lumMod val="85000"/>
                      </a:schemeClr>
                    </a:solidFill>
                  </a:tcPr>
                </a:tc>
                <a:tc>
                  <a:txBody>
                    <a:bodyPr/>
                    <a:lstStyle/>
                    <a:p>
                      <a:r>
                        <a:rPr lang="pt-BR" sz="1000" b="1"/>
                        <a:t>Price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bl>
          </a:graphicData>
        </a:graphic>
      </p:graphicFrame>
      <p:graphicFrame>
        <p:nvGraphicFramePr>
          <p:cNvPr id="16" name="Table 15">
            <a:extLst>
              <a:ext uri="{FF2B5EF4-FFF2-40B4-BE49-F238E27FC236}">
                <a16:creationId xmlns:a16="http://schemas.microsoft.com/office/drawing/2014/main" id="{98CBE1E7-5623-45C8-8AA5-E71560CCE67D}"/>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355618436"/>
              </p:ext>
            </p:extLst>
          </p:nvPr>
        </p:nvGraphicFramePr>
        <p:xfrm>
          <a:off x="8406681" y="4932732"/>
          <a:ext cx="2781461" cy="1265833"/>
        </p:xfrm>
        <a:graphic>
          <a:graphicData uri="http://schemas.openxmlformats.org/drawingml/2006/table">
            <a:tbl>
              <a:tblPr firstRow="1" bandRow="1">
                <a:tableStyleId>{5C22544A-7EE6-4342-B048-85BDC9FD1C3A}</a:tableStyleId>
              </a:tblPr>
              <a:tblGrid>
                <a:gridCol w="1778702">
                  <a:extLst>
                    <a:ext uri="{9D8B030D-6E8A-4147-A177-3AD203B41FA5}">
                      <a16:colId xmlns:a16="http://schemas.microsoft.com/office/drawing/2014/main" val="299907239"/>
                    </a:ext>
                  </a:extLst>
                </a:gridCol>
                <a:gridCol w="1002759">
                  <a:extLst>
                    <a:ext uri="{9D8B030D-6E8A-4147-A177-3AD203B41FA5}">
                      <a16:colId xmlns:a16="http://schemas.microsoft.com/office/drawing/2014/main" val="2578400319"/>
                    </a:ext>
                  </a:extLst>
                </a:gridCol>
              </a:tblGrid>
              <a:tr h="307417">
                <a:tc gridSpan="2">
                  <a:txBody>
                    <a:bodyPr/>
                    <a:lstStyle/>
                    <a:p>
                      <a:r>
                        <a:rPr lang="pt-BR" sz="1500" b="1">
                          <a:solidFill>
                            <a:schemeClr val="lt1"/>
                          </a:solidFill>
                          <a:latin typeface="+mn-lt"/>
                          <a:ea typeface="+mn-ea"/>
                          <a:cs typeface="+mn-cs"/>
                        </a:rPr>
                        <a:t>Results</a:t>
                      </a:r>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chemeClr val="accent2"/>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Price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Hammer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2.99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Screwdriver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3.49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6823042"/>
                  </a:ext>
                </a:extLst>
              </a:tr>
              <a:tr h="239604">
                <a:tc>
                  <a:txBody>
                    <a:bodyPr/>
                    <a:lstStyle/>
                    <a:p>
                      <a:r>
                        <a:rPr lang="pt-BR" sz="1000"/>
                        <a:t>Wrench</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4.25</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08354473"/>
                  </a:ext>
                </a:extLst>
              </a:tr>
            </a:tbl>
          </a:graphicData>
        </a:graphic>
      </p:graphicFrame>
      <p:graphicFrame>
        <p:nvGraphicFramePr>
          <p:cNvPr id="19" name="Table 18">
            <a:extLst>
              <a:ext uri="{FF2B5EF4-FFF2-40B4-BE49-F238E27FC236}">
                <a16:creationId xmlns:a16="http://schemas.microsoft.com/office/drawing/2014/main" id="{83D6F17E-12CD-4A3C-BFCF-727A4CEB953B}"/>
              </a:ext>
              <a:ext uri="{C183D7F6-B498-43B3-948B-1728B52AA6E4}">
                <adec:decorative xmlns:adec="http://schemas.microsoft.com/office/drawing/2017/decorative" xmlns="" val="0"/>
              </a:ext>
            </a:extLst>
          </p:cNvPr>
          <p:cNvGraphicFramePr>
            <a:graphicFrameLocks noGrp="1"/>
          </p:cNvGraphicFramePr>
          <p:nvPr>
            <p:extLst>
              <p:ext uri="{D42A27DB-BD31-4B8C-83A1-F6EECF244321}">
                <p14:modId xmlns:p14="http://schemas.microsoft.com/office/powerpoint/2010/main" val="1090442268"/>
              </p:ext>
            </p:extLst>
          </p:nvPr>
        </p:nvGraphicFramePr>
        <p:xfrm>
          <a:off x="4468967" y="4944806"/>
          <a:ext cx="2929943" cy="1268392"/>
        </p:xfrm>
        <a:graphic>
          <a:graphicData uri="http://schemas.openxmlformats.org/drawingml/2006/table">
            <a:tbl>
              <a:tblPr firstRow="1" bandRow="1">
                <a:tableStyleId>{5C22544A-7EE6-4342-B048-85BDC9FD1C3A}</a:tableStyleId>
              </a:tblPr>
              <a:tblGrid>
                <a:gridCol w="660029">
                  <a:extLst>
                    <a:ext uri="{9D8B030D-6E8A-4147-A177-3AD203B41FA5}">
                      <a16:colId xmlns:a16="http://schemas.microsoft.com/office/drawing/2014/main" val="1727388637"/>
                    </a:ext>
                  </a:extLst>
                </a:gridCol>
                <a:gridCol w="1451576">
                  <a:extLst>
                    <a:ext uri="{9D8B030D-6E8A-4147-A177-3AD203B41FA5}">
                      <a16:colId xmlns:a16="http://schemas.microsoft.com/office/drawing/2014/main" val="299907239"/>
                    </a:ext>
                  </a:extLst>
                </a:gridCol>
                <a:gridCol w="818338">
                  <a:extLst>
                    <a:ext uri="{9D8B030D-6E8A-4147-A177-3AD203B41FA5}">
                      <a16:colId xmlns:a16="http://schemas.microsoft.com/office/drawing/2014/main" val="2578400319"/>
                    </a:ext>
                  </a:extLst>
                </a:gridCol>
              </a:tblGrid>
              <a:tr h="307417">
                <a:tc gridSpan="3">
                  <a:txBody>
                    <a:bodyPr/>
                    <a:lstStyle/>
                    <a:p>
                      <a:r>
                        <a:rPr lang="pt-BR" sz="1500"/>
                        <a:t>Product</a:t>
                      </a:r>
                    </a:p>
                  </a:txBody>
                  <a:tcPr marL="67813" marR="67813" marT="40688" marB="406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hMerge="1">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39604">
                <a:tc>
                  <a:txBody>
                    <a:bodyPr/>
                    <a:lstStyle/>
                    <a:p>
                      <a:r>
                        <a:rPr lang="pt-BR" sz="1000" b="1"/>
                        <a:t>ID</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Name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r>
                        <a:rPr lang="pt-BR" sz="1000" b="1"/>
                        <a:t>Price</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4659512"/>
                  </a:ext>
                </a:extLst>
              </a:tr>
              <a:tr h="239604">
                <a:tc>
                  <a:txBody>
                    <a:bodyPr/>
                    <a:lstStyle/>
                    <a:p>
                      <a:r>
                        <a:rPr lang="pt-BR" sz="1000"/>
                        <a:t>123</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Hammer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2.99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39604">
                <a:tc>
                  <a:txBody>
                    <a:bodyPr/>
                    <a:lstStyle/>
                    <a:p>
                      <a:r>
                        <a:rPr lang="pt-BR" sz="1000"/>
                        <a:t>162</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Screwdriver</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3.49</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239604">
                <a:tc>
                  <a:txBody>
                    <a:bodyPr/>
                    <a:lstStyle/>
                    <a:p>
                      <a:r>
                        <a:rPr lang="pt-BR" sz="1000"/>
                        <a:t>201</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Wrench</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pt-BR" sz="1000"/>
                        <a:t>4.25</a:t>
                      </a:r>
                    </a:p>
                  </a:txBody>
                  <a:tcPr marL="67813" marR="67813" marT="40688" marB="4068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bl>
          </a:graphicData>
        </a:graphic>
      </p:graphicFrame>
      <p:pic>
        <p:nvPicPr>
          <p:cNvPr id="23" name="Graphic 22" descr="Cadeado aberto com preenchimento sólido">
            <a:extLst>
              <a:ext uri="{FF2B5EF4-FFF2-40B4-BE49-F238E27FC236}">
                <a16:creationId xmlns:a16="http://schemas.microsoft.com/office/drawing/2014/main" id="{911FAE3C-64A2-410A-A173-FBFB11619A3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562494" y="5455678"/>
            <a:ext cx="742887" cy="742887"/>
          </a:xfrm>
          <a:prstGeom prst="rect">
            <a:avLst/>
          </a:prstGeom>
        </p:spPr>
      </p:pic>
    </p:spTree>
    <p:extLst>
      <p:ext uri="{BB962C8B-B14F-4D97-AF65-F5344CB8AC3E}">
        <p14:creationId xmlns:p14="http://schemas.microsoft.com/office/powerpoint/2010/main" val="3738253081"/>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FBC5FD-9635-49A0-95D0-53CC684F529D}"/>
              </a:ext>
            </a:extLst>
          </p:cNvPr>
          <p:cNvSpPr>
            <a:spLocks noGrp="1"/>
          </p:cNvSpPr>
          <p:nvPr>
            <p:ph type="title"/>
          </p:nvPr>
        </p:nvSpPr>
        <p:spPr/>
        <p:txBody>
          <a:bodyPr/>
          <a:lstStyle/>
          <a:p>
            <a:pPr>
              <a:lnSpc>
                <a:spcPct val="100000"/>
              </a:lnSpc>
            </a:pPr>
            <a:r>
              <a:rPr lang="pt-BR" dirty="0"/>
              <a:t>Lição 1: Verificação de conhecimento</a:t>
            </a:r>
          </a:p>
        </p:txBody>
      </p:sp>
      <p:sp>
        <p:nvSpPr>
          <p:cNvPr id="8" name="Text Placeholder 7">
            <a:extLst>
              <a:ext uri="{FF2B5EF4-FFF2-40B4-BE49-F238E27FC236}">
                <a16:creationId xmlns:a16="http://schemas.microsoft.com/office/drawing/2014/main" id="{C7CCD6F3-D73B-4B7B-8C19-868BAB4DFE04}"/>
              </a:ext>
            </a:extLst>
          </p:cNvPr>
          <p:cNvSpPr>
            <a:spLocks noGrp="1"/>
          </p:cNvSpPr>
          <p:nvPr>
            <p:ph type="body" sz="quarter" idx="11"/>
          </p:nvPr>
        </p:nvSpPr>
        <p:spPr>
          <a:xfrm>
            <a:off x="1508730" y="1900196"/>
            <a:ext cx="10383899" cy="836559"/>
          </a:xfrm>
        </p:spPr>
        <p:txBody>
          <a:bodyPr/>
          <a:lstStyle/>
          <a:p>
            <a:pPr>
              <a:lnSpc>
                <a:spcPct val="100000"/>
              </a:lnSpc>
              <a:spcAft>
                <a:spcPts val="0"/>
              </a:spcAft>
              <a:defRPr/>
            </a:pPr>
            <a:r>
              <a:rPr lang="pt-BR" sz="1800" dirty="0">
                <a:latin typeface="+mj-lt"/>
              </a:rPr>
              <a:t>Qual das afirmações a seguir é uma característica dos bancos de dados relacionais?</a:t>
            </a:r>
          </a:p>
          <a:p>
            <a:pPr marL="288925" lvl="0" indent="-288925" defTabSz="932742">
              <a:lnSpc>
                <a:spcPct val="100000"/>
              </a:lnSpc>
              <a:spcBef>
                <a:spcPts val="300"/>
              </a:spcBef>
              <a:spcAft>
                <a:spcPts val="300"/>
              </a:spcAft>
              <a:buSzTx/>
              <a:buFont typeface="Wingdings" panose="05000000000000000000" pitchFamily="2" charset="2"/>
              <a:buChar char="q"/>
              <a:defRPr/>
            </a:pPr>
            <a:r>
              <a:rPr lang="pt-BR" sz="1400" dirty="0"/>
              <a:t>Todas as colunas de uma tabela devem ser do mesmo tipo de dados </a:t>
            </a:r>
          </a:p>
          <a:p>
            <a:pPr marL="288925" lvl="0" indent="-288925" defTabSz="932742">
              <a:lnSpc>
                <a:spcPct val="100000"/>
              </a:lnSpc>
              <a:spcBef>
                <a:spcPts val="300"/>
              </a:spcBef>
              <a:spcAft>
                <a:spcPts val="300"/>
              </a:spcAft>
              <a:buSzTx/>
              <a:buFont typeface="Wingdings" panose="05000000000000000000" pitchFamily="2" charset="2"/>
              <a:buChar char="q"/>
              <a:defRPr/>
            </a:pPr>
            <a:r>
              <a:rPr lang="pt-BR" sz="1400" dirty="0"/>
              <a:t>Uma linha de uma tabela representa uma única instância de uma entidade  </a:t>
            </a:r>
          </a:p>
          <a:p>
            <a:pPr marL="288925" lvl="0" indent="-288925" defTabSz="932742">
              <a:lnSpc>
                <a:spcPct val="100000"/>
              </a:lnSpc>
              <a:spcBef>
                <a:spcPts val="300"/>
              </a:spcBef>
              <a:spcAft>
                <a:spcPts val="300"/>
              </a:spcAft>
              <a:buSzTx/>
              <a:buFont typeface="Wingdings" panose="05000000000000000000" pitchFamily="2" charset="2"/>
              <a:buChar char="q"/>
              <a:defRPr/>
            </a:pPr>
            <a:r>
              <a:rPr lang="pt-BR" sz="1400" dirty="0"/>
              <a:t>As linhas na mesma tabela podem conter colunas diferentes</a:t>
            </a:r>
          </a:p>
        </p:txBody>
      </p:sp>
      <p:sp>
        <p:nvSpPr>
          <p:cNvPr id="19" name="Graphic 26" descr="Marca de seleção na linha de uma tabela que representa uma única entidade  ">
            <a:extLst>
              <a:ext uri="{FF2B5EF4-FFF2-40B4-BE49-F238E27FC236}">
                <a16:creationId xmlns:a16="http://schemas.microsoft.com/office/drawing/2014/main" id="{58BA63D6-0121-49E0-8E3E-DCF82A93AE04}"/>
              </a:ext>
              <a:ext uri="{C183D7F6-B498-43B3-948B-1728B52AA6E4}">
                <adec:decorative xmlns:adec="http://schemas.microsoft.com/office/drawing/2017/decorative" xmlns="" val="0"/>
              </a:ext>
            </a:extLst>
          </p:cNvPr>
          <p:cNvSpPr/>
          <p:nvPr/>
        </p:nvSpPr>
        <p:spPr>
          <a:xfrm>
            <a:off x="1526148" y="2398953"/>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dirty="0"/>
          </a:p>
        </p:txBody>
      </p:sp>
      <p:sp>
        <p:nvSpPr>
          <p:cNvPr id="13" name="Text Placeholder 8">
            <a:extLst>
              <a:ext uri="{FF2B5EF4-FFF2-40B4-BE49-F238E27FC236}">
                <a16:creationId xmlns:a16="http://schemas.microsoft.com/office/drawing/2014/main" id="{D579F38E-3E5C-467A-AEDD-0734FE8561CB}"/>
              </a:ext>
            </a:extLst>
          </p:cNvPr>
          <p:cNvSpPr txBox="1">
            <a:spLocks/>
          </p:cNvSpPr>
          <p:nvPr/>
        </p:nvSpPr>
        <p:spPr>
          <a:xfrm>
            <a:off x="1469020" y="3460478"/>
            <a:ext cx="10383899" cy="781184"/>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40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spcAft>
                <a:spcPts val="0"/>
              </a:spcAft>
              <a:defRPr/>
            </a:pPr>
            <a:r>
              <a:rPr lang="pt-BR" sz="1800" dirty="0">
                <a:latin typeface="+mj-lt"/>
              </a:rPr>
              <a:t>Qual instrução SQL é usada para consultar tabelas e retornar dados? </a:t>
            </a:r>
          </a:p>
          <a:p>
            <a:pPr marL="288925" indent="-288925">
              <a:lnSpc>
                <a:spcPct val="100000"/>
              </a:lnSpc>
              <a:spcBef>
                <a:spcPts val="300"/>
              </a:spcBef>
              <a:spcAft>
                <a:spcPts val="300"/>
              </a:spcAft>
              <a:buFont typeface="Wingdings" panose="05000000000000000000" pitchFamily="2" charset="2"/>
              <a:buChar char="q"/>
              <a:defRPr/>
            </a:pPr>
            <a:r>
              <a:rPr lang="pt-BR" sz="1400" dirty="0"/>
              <a:t>QUERY</a:t>
            </a:r>
          </a:p>
          <a:p>
            <a:pPr marL="288925" indent="-288925">
              <a:lnSpc>
                <a:spcPct val="100000"/>
              </a:lnSpc>
              <a:spcBef>
                <a:spcPts val="300"/>
              </a:spcBef>
              <a:spcAft>
                <a:spcPts val="300"/>
              </a:spcAft>
              <a:buFont typeface="Wingdings" panose="05000000000000000000" pitchFamily="2" charset="2"/>
              <a:buChar char="q"/>
              <a:defRPr/>
            </a:pPr>
            <a:r>
              <a:rPr lang="pt-BR" sz="1400" dirty="0"/>
              <a:t>READ</a:t>
            </a:r>
          </a:p>
          <a:p>
            <a:pPr marL="288925" indent="-288925">
              <a:lnSpc>
                <a:spcPct val="100000"/>
              </a:lnSpc>
              <a:spcBef>
                <a:spcPts val="300"/>
              </a:spcBef>
              <a:spcAft>
                <a:spcPts val="300"/>
              </a:spcAft>
              <a:buFont typeface="Wingdings" panose="05000000000000000000" pitchFamily="2" charset="2"/>
              <a:buChar char="q"/>
              <a:defRPr/>
            </a:pPr>
            <a:r>
              <a:rPr lang="pt-BR" sz="1400" dirty="0"/>
              <a:t>SELECT</a:t>
            </a:r>
          </a:p>
        </p:txBody>
      </p:sp>
      <p:sp>
        <p:nvSpPr>
          <p:cNvPr id="14" name="Graphic 26" descr="Marca de seleção em uma estrutura que permite localizar rapidamente as linhas em uma tabela, usando um valor indexado">
            <a:extLst>
              <a:ext uri="{FF2B5EF4-FFF2-40B4-BE49-F238E27FC236}">
                <a16:creationId xmlns:a16="http://schemas.microsoft.com/office/drawing/2014/main" id="{7A1CD896-4585-4232-8FF9-C62DAAED8AFC}"/>
              </a:ext>
              <a:ext uri="{C183D7F6-B498-43B3-948B-1728B52AA6E4}">
                <adec:decorative xmlns:adec="http://schemas.microsoft.com/office/drawing/2017/decorative" xmlns="" val="0"/>
              </a:ext>
            </a:extLst>
          </p:cNvPr>
          <p:cNvSpPr/>
          <p:nvPr/>
        </p:nvSpPr>
        <p:spPr>
          <a:xfrm>
            <a:off x="1473581" y="422977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dirty="0"/>
          </a:p>
        </p:txBody>
      </p:sp>
      <p:sp>
        <p:nvSpPr>
          <p:cNvPr id="9" name="Text Placeholder 8">
            <a:extLst>
              <a:ext uri="{FF2B5EF4-FFF2-40B4-BE49-F238E27FC236}">
                <a16:creationId xmlns:a16="http://schemas.microsoft.com/office/drawing/2014/main" id="{E172BC7E-FDC4-43EE-8346-8950642DCBF4}"/>
              </a:ext>
            </a:extLst>
          </p:cNvPr>
          <p:cNvSpPr>
            <a:spLocks noGrp="1"/>
          </p:cNvSpPr>
          <p:nvPr>
            <p:ph type="body" sz="quarter" idx="15"/>
          </p:nvPr>
        </p:nvSpPr>
        <p:spPr>
          <a:xfrm>
            <a:off x="1508730" y="5051244"/>
            <a:ext cx="10383899" cy="781184"/>
          </a:xfrm>
        </p:spPr>
        <p:txBody>
          <a:bodyPr/>
          <a:lstStyle/>
          <a:p>
            <a:pPr>
              <a:lnSpc>
                <a:spcPct val="100000"/>
              </a:lnSpc>
              <a:spcAft>
                <a:spcPts val="0"/>
              </a:spcAft>
              <a:defRPr/>
            </a:pPr>
            <a:r>
              <a:rPr lang="pt-BR" sz="1800" dirty="0">
                <a:latin typeface="+mj-lt"/>
              </a:rPr>
              <a:t>O que é índice? </a:t>
            </a:r>
          </a:p>
          <a:p>
            <a:pPr marL="288925" indent="-288925">
              <a:lnSpc>
                <a:spcPct val="100000"/>
              </a:lnSpc>
              <a:spcBef>
                <a:spcPts val="300"/>
              </a:spcBef>
              <a:spcAft>
                <a:spcPts val="300"/>
              </a:spcAft>
              <a:buFont typeface="Wingdings" panose="05000000000000000000" pitchFamily="2" charset="2"/>
              <a:buChar char="q"/>
              <a:defRPr/>
            </a:pPr>
            <a:r>
              <a:rPr lang="pt-BR" sz="1400" dirty="0"/>
              <a:t>Uma estrutura para que as consultas localizem linhas rapidamente em uma tabela</a:t>
            </a:r>
          </a:p>
          <a:p>
            <a:pPr marL="288925" indent="-288925">
              <a:lnSpc>
                <a:spcPct val="100000"/>
              </a:lnSpc>
              <a:spcBef>
                <a:spcPts val="300"/>
              </a:spcBef>
              <a:spcAft>
                <a:spcPts val="300"/>
              </a:spcAft>
              <a:buFont typeface="Wingdings" panose="05000000000000000000" pitchFamily="2" charset="2"/>
              <a:buChar char="q"/>
              <a:defRPr/>
            </a:pPr>
            <a:r>
              <a:rPr lang="pt-BR" sz="1400" dirty="0"/>
              <a:t>Uma tabela virtual com base nos resultados de uma consulta</a:t>
            </a:r>
          </a:p>
          <a:p>
            <a:pPr marL="288925" indent="-288925">
              <a:lnSpc>
                <a:spcPct val="100000"/>
              </a:lnSpc>
              <a:spcBef>
                <a:spcPts val="300"/>
              </a:spcBef>
              <a:spcAft>
                <a:spcPts val="300"/>
              </a:spcAft>
              <a:buFont typeface="Wingdings" panose="05000000000000000000" pitchFamily="2" charset="2"/>
              <a:buChar char="q"/>
              <a:defRPr/>
            </a:pPr>
            <a:r>
              <a:rPr lang="pt-BR" sz="1400" dirty="0"/>
              <a:t>Uma instrução SQL predefinida que modifica os dados</a:t>
            </a:r>
          </a:p>
        </p:txBody>
      </p:sp>
      <p:sp>
        <p:nvSpPr>
          <p:cNvPr id="17" name="Graphic 26" descr="Marca de seleção em uma estrutura que permite localizar rapidamente as linhas em uma tabela, usando um valor indexado">
            <a:extLst>
              <a:ext uri="{FF2B5EF4-FFF2-40B4-BE49-F238E27FC236}">
                <a16:creationId xmlns:a16="http://schemas.microsoft.com/office/drawing/2014/main" id="{865EAF80-ADDF-4709-B695-3AA30DA8BC6F}"/>
              </a:ext>
              <a:ext uri="{C183D7F6-B498-43B3-948B-1728B52AA6E4}">
                <adec:decorative xmlns:adec="http://schemas.microsoft.com/office/drawing/2017/decorative" xmlns="" val="0"/>
              </a:ext>
            </a:extLst>
          </p:cNvPr>
          <p:cNvSpPr/>
          <p:nvPr/>
        </p:nvSpPr>
        <p:spPr>
          <a:xfrm>
            <a:off x="1517439" y="524129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dirty="0"/>
          </a:p>
        </p:txBody>
      </p:sp>
      <p:cxnSp>
        <p:nvCxnSpPr>
          <p:cNvPr id="11" name="Straight Connector 10">
            <a:extLst>
              <a:ext uri="{FF2B5EF4-FFF2-40B4-BE49-F238E27FC236}">
                <a16:creationId xmlns:a16="http://schemas.microsoft.com/office/drawing/2014/main" id="{3EFE1262-1194-4E26-B906-5CF2497F3C96}"/>
              </a:ext>
              <a:ext uri="{C183D7F6-B498-43B3-948B-1728B52AA6E4}">
                <adec:decorative xmlns:adec="http://schemas.microsoft.com/office/drawing/2017/decorative" xmlns="" val="1"/>
              </a:ext>
            </a:extLst>
          </p:cNvPr>
          <p:cNvCxnSpPr>
            <a:cxnSpLocks/>
          </p:cNvCxnSpPr>
          <p:nvPr/>
        </p:nvCxnSpPr>
        <p:spPr>
          <a:xfrm>
            <a:off x="1508730" y="4659723"/>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11B2FDB-99FD-41D4-9E44-3ACBA683DE8B}"/>
              </a:ext>
              <a:ext uri="{C183D7F6-B498-43B3-948B-1728B52AA6E4}">
                <adec:decorative xmlns:adec="http://schemas.microsoft.com/office/drawing/2017/decorative" xmlns="" val="1"/>
              </a:ext>
            </a:extLst>
          </p:cNvPr>
          <p:cNvCxnSpPr>
            <a:cxnSpLocks/>
          </p:cNvCxnSpPr>
          <p:nvPr/>
        </p:nvCxnSpPr>
        <p:spPr>
          <a:xfrm>
            <a:off x="1469020" y="3068957"/>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46B5A3F7-5978-4468-A550-C3CBAAB2D9AE}"/>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18644" y="1645029"/>
            <a:ext cx="933775" cy="933775"/>
          </a:xfrm>
          <a:prstGeom prst="rect">
            <a:avLst/>
          </a:prstGeom>
        </p:spPr>
      </p:pic>
      <p:pic>
        <p:nvPicPr>
          <p:cNvPr id="4" name="Graphic 3">
            <a:extLst>
              <a:ext uri="{FF2B5EF4-FFF2-40B4-BE49-F238E27FC236}">
                <a16:creationId xmlns:a16="http://schemas.microsoft.com/office/drawing/2014/main" id="{287B529B-A2D2-4D8F-9154-25B823D60C89}"/>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18643" y="3149793"/>
            <a:ext cx="933775" cy="933775"/>
          </a:xfrm>
          <a:prstGeom prst="rect">
            <a:avLst/>
          </a:prstGeom>
        </p:spPr>
      </p:pic>
      <p:pic>
        <p:nvPicPr>
          <p:cNvPr id="5" name="Graphic 4">
            <a:extLst>
              <a:ext uri="{FF2B5EF4-FFF2-40B4-BE49-F238E27FC236}">
                <a16:creationId xmlns:a16="http://schemas.microsoft.com/office/drawing/2014/main" id="{359B71FD-4241-4A68-9ECA-08C9795B45A9}"/>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58354" y="4719075"/>
            <a:ext cx="933775" cy="933775"/>
          </a:xfrm>
          <a:prstGeom prst="rect">
            <a:avLst/>
          </a:prstGeom>
        </p:spPr>
      </p:pic>
    </p:spTree>
    <p:extLst>
      <p:ext uri="{BB962C8B-B14F-4D97-AF65-F5344CB8AC3E}">
        <p14:creationId xmlns:p14="http://schemas.microsoft.com/office/powerpoint/2010/main" val="1202442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4"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1BE858-0F27-47E5-AFEC-0727DEBA30F6}"/>
              </a:ext>
            </a:extLst>
          </p:cNvPr>
          <p:cNvSpPr>
            <a:spLocks noGrp="1"/>
          </p:cNvSpPr>
          <p:nvPr>
            <p:ph type="title"/>
          </p:nvPr>
        </p:nvSpPr>
        <p:spPr/>
        <p:txBody>
          <a:bodyPr/>
          <a:lstStyle/>
          <a:p>
            <a:pPr>
              <a:lnSpc>
                <a:spcPct val="100000"/>
              </a:lnSpc>
            </a:pPr>
            <a:r>
              <a:rPr lang="pt-BR" sz="2000" dirty="0"/>
              <a:t>Lição 2: Explorar serviços do Azure de dados relacionais</a:t>
            </a:r>
          </a:p>
        </p:txBody>
      </p:sp>
      <p:grpSp>
        <p:nvGrpSpPr>
          <p:cNvPr id="4" name="Group 3">
            <a:extLst>
              <a:ext uri="{FF2B5EF4-FFF2-40B4-BE49-F238E27FC236}">
                <a16:creationId xmlns:a16="http://schemas.microsoft.com/office/drawing/2014/main" id="{B5C8414B-6618-4B01-B24C-42202DDC26FC}"/>
              </a:ext>
              <a:ext uri="{C183D7F6-B498-43B3-948B-1728B52AA6E4}">
                <adec:decorative xmlns:adec="http://schemas.microsoft.com/office/drawing/2017/decorative" xmlns="" val="1"/>
              </a:ext>
            </a:extLst>
          </p:cNvPr>
          <p:cNvGrpSpPr/>
          <p:nvPr/>
        </p:nvGrpSpPr>
        <p:grpSpPr>
          <a:xfrm>
            <a:off x="10262815" y="2940904"/>
            <a:ext cx="955532" cy="955532"/>
            <a:chOff x="7621433" y="5129745"/>
            <a:chExt cx="779710" cy="779710"/>
          </a:xfrm>
        </p:grpSpPr>
        <p:sp>
          <p:nvSpPr>
            <p:cNvPr id="6" name="Oval 5">
              <a:extLst>
                <a:ext uri="{FF2B5EF4-FFF2-40B4-BE49-F238E27FC236}">
                  <a16:creationId xmlns:a16="http://schemas.microsoft.com/office/drawing/2014/main" id="{B6E16346-249D-4D0A-AD88-1883F59E10C0}"/>
                </a:ext>
              </a:extLst>
            </p:cNvPr>
            <p:cNvSpPr/>
            <p:nvPr/>
          </p:nvSpPr>
          <p:spPr bwMode="auto">
            <a:xfrm>
              <a:off x="7621433" y="5129745"/>
              <a:ext cx="779710" cy="779710"/>
            </a:xfrm>
            <a:prstGeom prst="ellipse">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t="100000" r="100000"/>
              </a:path>
              <a:tileRect l="-100000" b="-100000"/>
            </a:gradFill>
            <a:ln w="38100">
              <a:solidFill>
                <a:srgbClr val="59B4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7" name="Group 6">
              <a:extLst>
                <a:ext uri="{FF2B5EF4-FFF2-40B4-BE49-F238E27FC236}">
                  <a16:creationId xmlns:a16="http://schemas.microsoft.com/office/drawing/2014/main" id="{A1C11126-52E5-4522-9637-EC7CBB77D65C}"/>
                </a:ext>
              </a:extLst>
            </p:cNvPr>
            <p:cNvGrpSpPr/>
            <p:nvPr/>
          </p:nvGrpSpPr>
          <p:grpSpPr>
            <a:xfrm>
              <a:off x="7804682" y="5319189"/>
              <a:ext cx="575989" cy="576618"/>
              <a:chOff x="9642143" y="3149916"/>
              <a:chExt cx="694583" cy="695341"/>
            </a:xfrm>
          </p:grpSpPr>
          <p:sp>
            <p:nvSpPr>
              <p:cNvPr id="8" name="Cylinder 7">
                <a:extLst>
                  <a:ext uri="{FF2B5EF4-FFF2-40B4-BE49-F238E27FC236}">
                    <a16:creationId xmlns:a16="http://schemas.microsoft.com/office/drawing/2014/main" id="{9089FBF4-4AFA-473F-A75A-F9AC1123DFFB}"/>
                  </a:ext>
                </a:extLst>
              </p:cNvPr>
              <p:cNvSpPr/>
              <p:nvPr/>
            </p:nvSpPr>
            <p:spPr bwMode="auto">
              <a:xfrm>
                <a:off x="9642143" y="3149916"/>
                <a:ext cx="368490" cy="439445"/>
              </a:xfrm>
              <a:prstGeom prst="can">
                <a:avLst/>
              </a:prstGeom>
              <a:solidFill>
                <a:schemeClr val="accent4">
                  <a:lumMod val="60000"/>
                  <a:lumOff val="40000"/>
                </a:schemeClr>
              </a:solidFill>
              <a:ln w="28575">
                <a:solidFill>
                  <a:schemeClr val="accent5">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descr="Nuvem  com preenchimento sólido">
                <a:extLst>
                  <a:ext uri="{FF2B5EF4-FFF2-40B4-BE49-F238E27FC236}">
                    <a16:creationId xmlns:a16="http://schemas.microsoft.com/office/drawing/2014/main" id="{8522F9B9-0B5A-4A16-89FE-2A4EB6DCC8A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684539" y="3193070"/>
                <a:ext cx="652187" cy="652187"/>
              </a:xfrm>
              <a:prstGeom prst="rect">
                <a:avLst/>
              </a:prstGeom>
            </p:spPr>
          </p:pic>
        </p:grpSp>
      </p:grpSp>
    </p:spTree>
    <p:extLst>
      <p:ext uri="{BB962C8B-B14F-4D97-AF65-F5344CB8AC3E}">
        <p14:creationId xmlns:p14="http://schemas.microsoft.com/office/powerpoint/2010/main" val="1072897711"/>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816CAB9-1A81-4DA9-A5BA-9119CF1A8E59}"/>
              </a:ext>
              <a:ext uri="{C183D7F6-B498-43B3-948B-1728B52AA6E4}">
                <adec:decorative xmlns:adec="http://schemas.microsoft.com/office/drawing/2017/decorative" xmlns="" val="1"/>
              </a:ext>
            </a:extLst>
          </p:cNvPr>
          <p:cNvSpPr/>
          <p:nvPr/>
        </p:nvSpPr>
        <p:spPr bwMode="auto">
          <a:xfrm>
            <a:off x="311426" y="1967948"/>
            <a:ext cx="11575774" cy="4359965"/>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AD53E07-8E10-4BE6-AEFE-C70E0EE188FD}"/>
              </a:ext>
            </a:extLst>
          </p:cNvPr>
          <p:cNvSpPr>
            <a:spLocks noGrp="1"/>
          </p:cNvSpPr>
          <p:nvPr>
            <p:ph type="title"/>
          </p:nvPr>
        </p:nvSpPr>
        <p:spPr/>
        <p:txBody>
          <a:bodyPr/>
          <a:lstStyle/>
          <a:p>
            <a:pPr>
              <a:lnSpc>
                <a:spcPct val="100000"/>
              </a:lnSpc>
            </a:pPr>
            <a:r>
              <a:rPr lang="pt-BR" dirty="0"/>
              <a:t>SQL do Azure</a:t>
            </a:r>
          </a:p>
        </p:txBody>
      </p:sp>
      <p:pic>
        <p:nvPicPr>
          <p:cNvPr id="8" name="Graphic 7" descr="Logotipo do SQL no Azure">
            <a:extLst>
              <a:ext uri="{FF2B5EF4-FFF2-40B4-BE49-F238E27FC236}">
                <a16:creationId xmlns:a16="http://schemas.microsoft.com/office/drawing/2014/main" id="{DA4BFAAC-33C8-4D1F-A972-E7FEB6336B3D}"/>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353922" y="958094"/>
            <a:ext cx="1358834" cy="1358834"/>
          </a:xfrm>
          <a:prstGeom prst="rect">
            <a:avLst/>
          </a:prstGeom>
        </p:spPr>
      </p:pic>
      <p:pic>
        <p:nvPicPr>
          <p:cNvPr id="2" name="Picture 1">
            <a:extLst>
              <a:ext uri="{FF2B5EF4-FFF2-40B4-BE49-F238E27FC236}">
                <a16:creationId xmlns:a16="http://schemas.microsoft.com/office/drawing/2014/main" id="{2667E9DE-AAB2-4C66-B0D2-6EC60CB3A2C0}"/>
              </a:ext>
              <a:ext uri="{C183D7F6-B498-43B3-948B-1728B52AA6E4}">
                <adec:decorative xmlns:adec="http://schemas.microsoft.com/office/drawing/2017/decorative" xmlns="" val="1"/>
              </a:ext>
            </a:extLst>
          </p:cNvPr>
          <p:cNvPicPr>
            <a:picLocks noChangeAspect="1"/>
          </p:cNvPicPr>
          <p:nvPr/>
        </p:nvPicPr>
        <p:blipFill>
          <a:blip r:embed="rId5"/>
          <a:stretch>
            <a:fillRect/>
          </a:stretch>
        </p:blipFill>
        <p:spPr>
          <a:xfrm>
            <a:off x="8201858" y="2239868"/>
            <a:ext cx="594027" cy="765380"/>
          </a:xfrm>
          <a:prstGeom prst="rect">
            <a:avLst/>
          </a:prstGeom>
        </p:spPr>
      </p:pic>
      <p:pic>
        <p:nvPicPr>
          <p:cNvPr id="3" name="Graphic 2">
            <a:extLst>
              <a:ext uri="{FF2B5EF4-FFF2-40B4-BE49-F238E27FC236}">
                <a16:creationId xmlns:a16="http://schemas.microsoft.com/office/drawing/2014/main" id="{32F427D3-638C-4417-B157-3366F4CE6168}"/>
              </a:ext>
              <a:ext uri="{C183D7F6-B498-43B3-948B-1728B52AA6E4}">
                <adec:decorative xmlns:adec="http://schemas.microsoft.com/office/drawing/2017/decorative" xmlns="" val="1"/>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4266906" y="2248589"/>
            <a:ext cx="763674" cy="763674"/>
          </a:xfrm>
          <a:prstGeom prst="rect">
            <a:avLst/>
          </a:prstGeom>
        </p:spPr>
      </p:pic>
      <p:pic>
        <p:nvPicPr>
          <p:cNvPr id="5" name="Graphic 4">
            <a:extLst>
              <a:ext uri="{FF2B5EF4-FFF2-40B4-BE49-F238E27FC236}">
                <a16:creationId xmlns:a16="http://schemas.microsoft.com/office/drawing/2014/main" id="{8D1AF6EA-99FB-4D91-BA6E-990BDCDE04CD}"/>
              </a:ext>
              <a:ext uri="{C183D7F6-B498-43B3-948B-1728B52AA6E4}">
                <adec:decorative xmlns:adec="http://schemas.microsoft.com/office/drawing/2017/decorative" xmlns="" val="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483232" y="2239324"/>
            <a:ext cx="763674" cy="763674"/>
          </a:xfrm>
          <a:prstGeom prst="rect">
            <a:avLst/>
          </a:prstGeom>
        </p:spPr>
      </p:pic>
      <p:sp>
        <p:nvSpPr>
          <p:cNvPr id="7" name="TextBox 6">
            <a:extLst>
              <a:ext uri="{FF2B5EF4-FFF2-40B4-BE49-F238E27FC236}">
                <a16:creationId xmlns:a16="http://schemas.microsoft.com/office/drawing/2014/main" id="{2FDFFDBC-4900-4AF2-A671-9F032A0B4833}"/>
              </a:ext>
            </a:extLst>
          </p:cNvPr>
          <p:cNvSpPr txBox="1"/>
          <p:nvPr/>
        </p:nvSpPr>
        <p:spPr>
          <a:xfrm>
            <a:off x="1755252" y="1340084"/>
            <a:ext cx="10394449" cy="664797"/>
          </a:xfrm>
          <a:prstGeom prst="rect">
            <a:avLst/>
          </a:prstGeom>
          <a:noFill/>
        </p:spPr>
        <p:txBody>
          <a:bodyPr wrap="none" lIns="182880" tIns="146304" rIns="182880" bIns="146304" rtlCol="0">
            <a:spAutoFit/>
          </a:bodyPr>
          <a:lstStyle/>
          <a:p>
            <a:pPr>
              <a:spcAft>
                <a:spcPts val="600"/>
              </a:spcAft>
            </a:pPr>
            <a:r>
              <a:rPr lang="pt-BR" sz="2400" dirty="0">
                <a:gradFill>
                  <a:gsLst>
                    <a:gs pos="2917">
                      <a:schemeClr val="tx1"/>
                    </a:gs>
                    <a:gs pos="30000">
                      <a:schemeClr val="tx1"/>
                    </a:gs>
                  </a:gsLst>
                  <a:lin ang="5400000" scaled="0"/>
                </a:gradFill>
              </a:rPr>
              <a:t>Família de serviços de banco de dados de nuvem baseados no SQL Server</a:t>
            </a:r>
          </a:p>
        </p:txBody>
      </p:sp>
      <p:sp>
        <p:nvSpPr>
          <p:cNvPr id="9" name="TextBox 8">
            <a:extLst>
              <a:ext uri="{FF2B5EF4-FFF2-40B4-BE49-F238E27FC236}">
                <a16:creationId xmlns:a16="http://schemas.microsoft.com/office/drawing/2014/main" id="{46B15648-1949-4870-BC2B-58C2DA18D3B8}"/>
              </a:ext>
            </a:extLst>
          </p:cNvPr>
          <p:cNvSpPr txBox="1"/>
          <p:nvPr/>
        </p:nvSpPr>
        <p:spPr>
          <a:xfrm>
            <a:off x="1270260" y="2283246"/>
            <a:ext cx="1837106" cy="766364"/>
          </a:xfrm>
          <a:prstGeom prst="rect">
            <a:avLst/>
          </a:prstGeom>
          <a:noFill/>
        </p:spPr>
        <p:txBody>
          <a:bodyPr wrap="none" lIns="182880" tIns="146304" rIns="182880" bIns="146304" rtlCol="0">
            <a:spAutoFit/>
          </a:bodyPr>
          <a:lstStyle/>
          <a:p>
            <a:pPr>
              <a:lnSpc>
                <a:spcPct val="90000"/>
              </a:lnSpc>
              <a:spcAft>
                <a:spcPts val="600"/>
              </a:spcAft>
            </a:pPr>
            <a:r>
              <a:rPr lang="pt-BR" sz="1700" dirty="0">
                <a:gradFill>
                  <a:gsLst>
                    <a:gs pos="2917">
                      <a:schemeClr val="tx1"/>
                    </a:gs>
                    <a:gs pos="30000">
                      <a:schemeClr val="tx1"/>
                    </a:gs>
                  </a:gsLst>
                  <a:lin ang="5400000" scaled="0"/>
                </a:gradFill>
              </a:rPr>
              <a:t>SQL Server em </a:t>
            </a:r>
            <a:br>
              <a:rPr lang="pt-BR" sz="1700" dirty="0">
                <a:gradFill>
                  <a:gsLst>
                    <a:gs pos="2917">
                      <a:schemeClr val="tx1"/>
                    </a:gs>
                    <a:gs pos="30000">
                      <a:schemeClr val="tx1"/>
                    </a:gs>
                  </a:gsLst>
                  <a:lin ang="5400000" scaled="0"/>
                </a:gradFill>
              </a:rPr>
            </a:br>
            <a:r>
              <a:rPr lang="pt-BR" sz="1700" dirty="0">
                <a:gradFill>
                  <a:gsLst>
                    <a:gs pos="2917">
                      <a:schemeClr val="tx1"/>
                    </a:gs>
                    <a:gs pos="30000">
                      <a:schemeClr val="tx1"/>
                    </a:gs>
                  </a:gsLst>
                  <a:lin ang="5400000" scaled="0"/>
                </a:gradFill>
              </a:rPr>
              <a:t>VMs do Azure</a:t>
            </a:r>
          </a:p>
        </p:txBody>
      </p:sp>
      <p:sp>
        <p:nvSpPr>
          <p:cNvPr id="22" name="TextBox 21">
            <a:extLst>
              <a:ext uri="{FF2B5EF4-FFF2-40B4-BE49-F238E27FC236}">
                <a16:creationId xmlns:a16="http://schemas.microsoft.com/office/drawing/2014/main" id="{C2476542-F14B-45AF-9215-8E1525F64C95}"/>
              </a:ext>
            </a:extLst>
          </p:cNvPr>
          <p:cNvSpPr txBox="1"/>
          <p:nvPr/>
        </p:nvSpPr>
        <p:spPr>
          <a:xfrm>
            <a:off x="613918" y="3107693"/>
            <a:ext cx="3389047" cy="2292935"/>
          </a:xfrm>
          <a:prstGeom prst="rect">
            <a:avLst/>
          </a:prstGeom>
          <a:noFill/>
        </p:spPr>
        <p:txBody>
          <a:bodyPr wrap="square">
            <a:spAutoFit/>
          </a:bodyPr>
          <a:lstStyle/>
          <a:p>
            <a:pPr marL="285750" indent="-285750">
              <a:buFont typeface="Arial" panose="020B0604020202020204" pitchFamily="34" charset="0"/>
              <a:buChar char="•"/>
            </a:pPr>
            <a:r>
              <a:rPr kumimoji="0" lang="pt-BR" sz="13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Compatibilidade garantida com o SQL Server local</a:t>
            </a:r>
          </a:p>
          <a:p>
            <a:pPr marL="285750" indent="-285750">
              <a:buFont typeface="Arial" panose="020B0604020202020204" pitchFamily="34" charset="0"/>
              <a:buChar char="•"/>
            </a:pPr>
            <a:r>
              <a:rPr kumimoji="0" lang="pt-BR" sz="13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O cliente gerencia tudo: atualizações do sistema operacional, atualizações de software, backups, replicação</a:t>
            </a:r>
          </a:p>
          <a:p>
            <a:pPr marL="285750" indent="-285750">
              <a:buFont typeface="Arial" panose="020B0604020202020204" pitchFamily="34" charset="0"/>
              <a:buChar char="•"/>
            </a:pPr>
            <a:r>
              <a:rPr kumimoji="0" lang="pt-BR" sz="1300" b="0" i="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Pague pelos custos de execução da VM do servidor e licenciamento de software, não pelo banco de dados</a:t>
            </a:r>
          </a:p>
          <a:p>
            <a:pPr marL="285750" indent="-285750">
              <a:buFont typeface="Arial" panose="020B0604020202020204" pitchFamily="34" charset="0"/>
              <a:buChar char="•"/>
            </a:pPr>
            <a:r>
              <a:rPr lang="pt-BR" sz="1300" dirty="0">
                <a:gradFill>
                  <a:gsLst>
                    <a:gs pos="2917">
                      <a:srgbClr val="000000"/>
                    </a:gs>
                    <a:gs pos="30000">
                      <a:srgbClr val="000000"/>
                    </a:gs>
                  </a:gsLst>
                  <a:lin ang="5400000" scaled="0"/>
                </a:gradFill>
                <a:latin typeface="Segoe UI"/>
              </a:rPr>
              <a:t>Ideal para nuvem híbrida ou migração de configurações complexas locais de banco de dados</a:t>
            </a:r>
          </a:p>
        </p:txBody>
      </p:sp>
      <p:sp>
        <p:nvSpPr>
          <p:cNvPr id="17" name="TextBox 16">
            <a:extLst>
              <a:ext uri="{FF2B5EF4-FFF2-40B4-BE49-F238E27FC236}">
                <a16:creationId xmlns:a16="http://schemas.microsoft.com/office/drawing/2014/main" id="{6BC80838-4A6F-4978-B6EA-FA34414A9220}"/>
              </a:ext>
            </a:extLst>
          </p:cNvPr>
          <p:cNvSpPr txBox="1"/>
          <p:nvPr/>
        </p:nvSpPr>
        <p:spPr>
          <a:xfrm>
            <a:off x="4905693" y="2310140"/>
            <a:ext cx="2480679" cy="794064"/>
          </a:xfrm>
          <a:prstGeom prst="rect">
            <a:avLst/>
          </a:prstGeom>
          <a:noFill/>
        </p:spPr>
        <p:txBody>
          <a:bodyPr wrap="none" lIns="182880" tIns="146304" rIns="182880" bIns="146304" rtlCol="0">
            <a:spAutoFit/>
          </a:bodyPr>
          <a:lstStyle/>
          <a:p>
            <a:pPr>
              <a:lnSpc>
                <a:spcPct val="90000"/>
              </a:lnSpc>
              <a:spcAft>
                <a:spcPts val="600"/>
              </a:spcAft>
            </a:pPr>
            <a:r>
              <a:rPr lang="pt-BR" sz="1700" dirty="0">
                <a:gradFill>
                  <a:gsLst>
                    <a:gs pos="2917">
                      <a:schemeClr val="tx1"/>
                    </a:gs>
                    <a:gs pos="30000">
                      <a:schemeClr val="tx1"/>
                    </a:gs>
                  </a:gsLst>
                  <a:lin ang="5400000" scaled="0"/>
                </a:gradFill>
              </a:rPr>
              <a:t>Instância</a:t>
            </a:r>
            <a:r>
              <a:rPr lang="pt-BR" sz="1800" dirty="0">
                <a:gradFill>
                  <a:gsLst>
                    <a:gs pos="2917">
                      <a:schemeClr val="tx1"/>
                    </a:gs>
                    <a:gs pos="30000">
                      <a:schemeClr val="tx1"/>
                    </a:gs>
                  </a:gsLst>
                  <a:lin ang="5400000" scaled="0"/>
                </a:gradFill>
              </a:rPr>
              <a:t> Gerenciada </a:t>
            </a:r>
            <a:br>
              <a:rPr lang="pt-BR" sz="1800" dirty="0">
                <a:gradFill>
                  <a:gsLst>
                    <a:gs pos="2917">
                      <a:schemeClr val="tx1"/>
                    </a:gs>
                    <a:gs pos="30000">
                      <a:schemeClr val="tx1"/>
                    </a:gs>
                  </a:gsLst>
                  <a:lin ang="5400000" scaled="0"/>
                </a:gradFill>
              </a:rPr>
            </a:br>
            <a:r>
              <a:rPr lang="pt-BR" sz="1800" dirty="0">
                <a:gradFill>
                  <a:gsLst>
                    <a:gs pos="2917">
                      <a:schemeClr val="tx1"/>
                    </a:gs>
                    <a:gs pos="30000">
                      <a:schemeClr val="tx1"/>
                    </a:gs>
                  </a:gsLst>
                  <a:lin ang="5400000" scaled="0"/>
                </a:gradFill>
              </a:rPr>
              <a:t>de SQL do Azure</a:t>
            </a:r>
          </a:p>
        </p:txBody>
      </p:sp>
      <p:sp>
        <p:nvSpPr>
          <p:cNvPr id="26" name="TextBox 25">
            <a:extLst>
              <a:ext uri="{FF2B5EF4-FFF2-40B4-BE49-F238E27FC236}">
                <a16:creationId xmlns:a16="http://schemas.microsoft.com/office/drawing/2014/main" id="{F90E4F3A-5DB4-42F6-8F81-E9203C1B7CAF}"/>
              </a:ext>
            </a:extLst>
          </p:cNvPr>
          <p:cNvSpPr txBox="1"/>
          <p:nvPr/>
        </p:nvSpPr>
        <p:spPr>
          <a:xfrm>
            <a:off x="4433662" y="3125372"/>
            <a:ext cx="3531704" cy="2523768"/>
          </a:xfrm>
          <a:prstGeom prst="rect">
            <a:avLst/>
          </a:prstGeom>
          <a:noFill/>
        </p:spPr>
        <p:txBody>
          <a:bodyPr wrap="square">
            <a:spAutoFit/>
          </a:bodyPr>
          <a:lstStyle/>
          <a:p>
            <a:pPr marL="342900" indent="-342900">
              <a:spcAft>
                <a:spcPts val="600"/>
              </a:spcAft>
              <a:buFont typeface="Arial" panose="020B0604020202020204" pitchFamily="34" charset="0"/>
              <a:buChar char="•"/>
              <a:defRPr/>
            </a:pPr>
            <a:r>
              <a:rPr lang="pt-BR" sz="1300" dirty="0">
                <a:solidFill>
                  <a:srgbClr val="171717"/>
                </a:solidFill>
                <a:latin typeface="Segoe UI" panose="020B0502040204020203" pitchFamily="34" charset="0"/>
              </a:rPr>
              <a:t>Quase 100% de compatibilidade com o SQL Server local</a:t>
            </a:r>
          </a:p>
          <a:p>
            <a:pPr marL="342900" indent="-342900">
              <a:spcAft>
                <a:spcPts val="600"/>
              </a:spcAft>
              <a:buFont typeface="Arial" panose="020B0604020202020204" pitchFamily="34" charset="0"/>
              <a:buChar char="•"/>
              <a:defRPr/>
            </a:pPr>
            <a:r>
              <a:rPr lang="pt-BR" sz="1300" dirty="0">
                <a:solidFill>
                  <a:srgbClr val="171717"/>
                </a:solidFill>
                <a:latin typeface="Segoe UI" panose="020B0502040204020203" pitchFamily="34" charset="0"/>
              </a:rPr>
              <a:t>Backups automáticos, aplicação de patch de software, monitoramento de banco de dados e outras tarefas de manutenção</a:t>
            </a:r>
          </a:p>
          <a:p>
            <a:pPr marL="342900" indent="-342900">
              <a:spcAft>
                <a:spcPts val="600"/>
              </a:spcAft>
              <a:buFont typeface="Arial" panose="020B0604020202020204" pitchFamily="34" charset="0"/>
              <a:buChar char="•"/>
              <a:defRPr/>
            </a:pPr>
            <a:r>
              <a:rPr lang="pt-BR" sz="1300" dirty="0">
                <a:solidFill>
                  <a:srgbClr val="171717"/>
                </a:solidFill>
                <a:latin typeface="Segoe UI" panose="020B0502040204020203" pitchFamily="34" charset="0"/>
              </a:rPr>
              <a:t>Use uma única instância com bancos de dados ou várias instâncias em um pool com recursos compartilhados</a:t>
            </a:r>
          </a:p>
          <a:p>
            <a:pPr marL="342900" indent="-342900">
              <a:spcAft>
                <a:spcPts val="600"/>
              </a:spcAft>
              <a:buFont typeface="Arial" panose="020B0604020202020204" pitchFamily="34" charset="0"/>
              <a:buChar char="•"/>
              <a:defRPr/>
            </a:pPr>
            <a:r>
              <a:rPr lang="pt-BR" sz="1300" dirty="0">
                <a:solidFill>
                  <a:srgbClr val="171717"/>
                </a:solidFill>
                <a:latin typeface="Segoe UI" panose="020B0502040204020203" pitchFamily="34" charset="0"/>
              </a:rPr>
              <a:t>Ideal para migrar a maioria dos bancos de dados locais para a nuvem</a:t>
            </a:r>
          </a:p>
        </p:txBody>
      </p:sp>
      <p:sp>
        <p:nvSpPr>
          <p:cNvPr id="18" name="TextBox 17">
            <a:extLst>
              <a:ext uri="{FF2B5EF4-FFF2-40B4-BE49-F238E27FC236}">
                <a16:creationId xmlns:a16="http://schemas.microsoft.com/office/drawing/2014/main" id="{2CB64608-48AA-42CB-BB40-6D0395184FB5}"/>
              </a:ext>
            </a:extLst>
          </p:cNvPr>
          <p:cNvSpPr txBox="1"/>
          <p:nvPr/>
        </p:nvSpPr>
        <p:spPr>
          <a:xfrm>
            <a:off x="8698679" y="2269798"/>
            <a:ext cx="2068515" cy="794064"/>
          </a:xfrm>
          <a:prstGeom prst="rect">
            <a:avLst/>
          </a:prstGeom>
          <a:noFill/>
        </p:spPr>
        <p:txBody>
          <a:bodyPr wrap="none" lIns="182880" tIns="146304" rIns="182880" bIns="146304" rtlCol="0">
            <a:spAutoFit/>
          </a:bodyPr>
          <a:lstStyle/>
          <a:p>
            <a:pPr>
              <a:lnSpc>
                <a:spcPct val="90000"/>
              </a:lnSpc>
              <a:spcAft>
                <a:spcPts val="600"/>
              </a:spcAft>
            </a:pPr>
            <a:r>
              <a:rPr lang="pt-BR" sz="1800" dirty="0">
                <a:gradFill>
                  <a:gsLst>
                    <a:gs pos="2917">
                      <a:schemeClr val="tx1"/>
                    </a:gs>
                    <a:gs pos="30000">
                      <a:schemeClr val="tx1"/>
                    </a:gs>
                  </a:gsLst>
                  <a:lin ang="5400000" scaled="0"/>
                </a:gradFill>
              </a:rPr>
              <a:t>Banco </a:t>
            </a:r>
            <a:r>
              <a:rPr lang="pt-BR" sz="1700" dirty="0">
                <a:gradFill>
                  <a:gsLst>
                    <a:gs pos="2917">
                      <a:schemeClr val="tx1"/>
                    </a:gs>
                    <a:gs pos="30000">
                      <a:schemeClr val="tx1"/>
                    </a:gs>
                  </a:gsLst>
                  <a:lin ang="5400000" scaled="0"/>
                </a:gradFill>
              </a:rPr>
              <a:t>de</a:t>
            </a:r>
            <a:r>
              <a:rPr lang="pt-BR" sz="1800" dirty="0">
                <a:gradFill>
                  <a:gsLst>
                    <a:gs pos="2917">
                      <a:schemeClr val="tx1"/>
                    </a:gs>
                    <a:gs pos="30000">
                      <a:schemeClr val="tx1"/>
                    </a:gs>
                  </a:gsLst>
                  <a:lin ang="5400000" scaled="0"/>
                </a:gradFill>
              </a:rPr>
              <a:t> Dados </a:t>
            </a:r>
            <a:br>
              <a:rPr lang="pt-BR" sz="1800" dirty="0">
                <a:gradFill>
                  <a:gsLst>
                    <a:gs pos="2917">
                      <a:schemeClr val="tx1"/>
                    </a:gs>
                    <a:gs pos="30000">
                      <a:schemeClr val="tx1"/>
                    </a:gs>
                  </a:gsLst>
                  <a:lin ang="5400000" scaled="0"/>
                </a:gradFill>
              </a:rPr>
            </a:br>
            <a:r>
              <a:rPr lang="pt-BR" sz="1800" dirty="0">
                <a:gradFill>
                  <a:gsLst>
                    <a:gs pos="2917">
                      <a:schemeClr val="tx1"/>
                    </a:gs>
                    <a:gs pos="30000">
                      <a:schemeClr val="tx1"/>
                    </a:gs>
                  </a:gsLst>
                  <a:lin ang="5400000" scaled="0"/>
                </a:gradFill>
              </a:rPr>
              <a:t>SQL do Azure</a:t>
            </a:r>
          </a:p>
        </p:txBody>
      </p:sp>
      <p:sp>
        <p:nvSpPr>
          <p:cNvPr id="25" name="TextBox 24">
            <a:extLst>
              <a:ext uri="{FF2B5EF4-FFF2-40B4-BE49-F238E27FC236}">
                <a16:creationId xmlns:a16="http://schemas.microsoft.com/office/drawing/2014/main" id="{4DFC0249-9706-4672-97DF-7D0600CAADDA}"/>
              </a:ext>
            </a:extLst>
          </p:cNvPr>
          <p:cNvSpPr txBox="1"/>
          <p:nvPr/>
        </p:nvSpPr>
        <p:spPr>
          <a:xfrm>
            <a:off x="8336427" y="2986670"/>
            <a:ext cx="3389047" cy="2923877"/>
          </a:xfrm>
          <a:prstGeom prst="rect">
            <a:avLst/>
          </a:prstGeom>
          <a:noFill/>
        </p:spPr>
        <p:txBody>
          <a:bodyPr wrap="square">
            <a:spAutoFit/>
          </a:bodyPr>
          <a:lstStyle/>
          <a:p>
            <a:pPr marL="342900" indent="-342900">
              <a:spcAft>
                <a:spcPts val="600"/>
              </a:spcAft>
              <a:buFont typeface="Arial" panose="020B0604020202020204" pitchFamily="34" charset="0"/>
              <a:buChar char="•"/>
              <a:defRPr/>
            </a:pPr>
            <a:r>
              <a:rPr lang="pt-BR" sz="1300" dirty="0">
                <a:gradFill>
                  <a:gsLst>
                    <a:gs pos="2917">
                      <a:srgbClr val="000000"/>
                    </a:gs>
                    <a:gs pos="30000">
                      <a:srgbClr val="000000"/>
                    </a:gs>
                  </a:gsLst>
                  <a:lin ang="5400000" scaled="0"/>
                </a:gradFill>
              </a:rPr>
              <a:t>Compatibilidade da funcionalidade principal do banco de dados com o SQL Server</a:t>
            </a:r>
          </a:p>
          <a:p>
            <a:pPr marL="342900" marR="0" lvl="0" indent="-34290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pt-BR" sz="1300" b="0" i="0" u="none" strike="noStrike" cap="none" normalizeH="0" baseline="0" noProof="0" dirty="0">
                <a:ln>
                  <a:noFill/>
                </a:ln>
                <a:solidFill>
                  <a:srgbClr val="171717"/>
                </a:solidFill>
                <a:uLnTx/>
                <a:uFillTx/>
                <a:latin typeface="Segoe UI" panose="020B0502040204020203" pitchFamily="34" charset="0"/>
                <a:ea typeface="+mn-ea"/>
                <a:cs typeface="+mn-cs"/>
              </a:rPr>
              <a:t>Backups automáticos, aplicação de patch de software, monitoramento de banco de dados e outras tarefas de manutenção</a:t>
            </a:r>
          </a:p>
          <a:p>
            <a:pPr marL="342900" indent="-342900">
              <a:spcAft>
                <a:spcPts val="600"/>
              </a:spcAft>
              <a:buFont typeface="Arial" panose="020B0604020202020204" pitchFamily="34" charset="0"/>
              <a:buChar char="•"/>
              <a:defRPr/>
            </a:pPr>
            <a:r>
              <a:rPr lang="pt-BR" sz="1300" i="1" dirty="0">
                <a:gradFill>
                  <a:gsLst>
                    <a:gs pos="2917">
                      <a:srgbClr val="000000"/>
                    </a:gs>
                    <a:gs pos="30000">
                      <a:srgbClr val="000000"/>
                    </a:gs>
                  </a:gsLst>
                  <a:lin ang="5400000" scaled="0"/>
                </a:gradFill>
              </a:rPr>
              <a:t>Banco de dados único</a:t>
            </a:r>
            <a:r>
              <a:rPr lang="pt-BR" sz="1300" dirty="0">
                <a:gradFill>
                  <a:gsLst>
                    <a:gs pos="2917">
                      <a:srgbClr val="000000"/>
                    </a:gs>
                    <a:gs pos="30000">
                      <a:srgbClr val="000000"/>
                    </a:gs>
                  </a:gsLst>
                  <a:lin ang="5400000" scaled="0"/>
                </a:gradFill>
              </a:rPr>
              <a:t> ou </a:t>
            </a:r>
            <a:r>
              <a:rPr lang="pt-BR" sz="1300" i="1" dirty="0">
                <a:gradFill>
                  <a:gsLst>
                    <a:gs pos="2917">
                      <a:srgbClr val="000000"/>
                    </a:gs>
                    <a:gs pos="30000">
                      <a:srgbClr val="000000"/>
                    </a:gs>
                  </a:gsLst>
                  <a:lin ang="5400000" scaled="0"/>
                </a:gradFill>
              </a:rPr>
              <a:t>pool elástico</a:t>
            </a:r>
            <a:r>
              <a:rPr lang="pt-BR" sz="1300" dirty="0">
                <a:gradFill>
                  <a:gsLst>
                    <a:gs pos="2917">
                      <a:srgbClr val="000000"/>
                    </a:gs>
                    <a:gs pos="30000">
                      <a:srgbClr val="000000"/>
                    </a:gs>
                  </a:gsLst>
                  <a:lin ang="5400000" scaled="0"/>
                </a:gradFill>
              </a:rPr>
              <a:t> para compartilhar recursos dinamicamente em vários bancos de dados</a:t>
            </a:r>
          </a:p>
          <a:p>
            <a:pPr marL="342900" indent="-342900">
              <a:spcAft>
                <a:spcPts val="600"/>
              </a:spcAft>
              <a:buFont typeface="Arial" panose="020B0604020202020204" pitchFamily="34" charset="0"/>
              <a:buChar char="•"/>
              <a:defRPr/>
            </a:pPr>
            <a:r>
              <a:rPr lang="pt-BR" sz="1300" dirty="0">
                <a:gradFill>
                  <a:gsLst>
                    <a:gs pos="2917">
                      <a:srgbClr val="000000"/>
                    </a:gs>
                    <a:gs pos="30000">
                      <a:srgbClr val="000000"/>
                    </a:gs>
                  </a:gsLst>
                  <a:lin ang="5400000" scaled="0"/>
                </a:gradFill>
              </a:rPr>
              <a:t>Ideal para novos aplicativos baseados em nuvem</a:t>
            </a:r>
          </a:p>
        </p:txBody>
      </p:sp>
      <p:sp>
        <p:nvSpPr>
          <p:cNvPr id="11" name="Rectangle 10">
            <a:extLst>
              <a:ext uri="{FF2B5EF4-FFF2-40B4-BE49-F238E27FC236}">
                <a16:creationId xmlns:a16="http://schemas.microsoft.com/office/drawing/2014/main" id="{A63E2344-957B-4B31-8607-C43E6B92B652}"/>
              </a:ext>
              <a:ext uri="{C183D7F6-B498-43B3-948B-1728B52AA6E4}">
                <adec:decorative xmlns:adec="http://schemas.microsoft.com/office/drawing/2017/decorative" xmlns="" val="1"/>
              </a:ext>
            </a:extLst>
          </p:cNvPr>
          <p:cNvSpPr/>
          <p:nvPr/>
        </p:nvSpPr>
        <p:spPr bwMode="auto">
          <a:xfrm>
            <a:off x="418644" y="2236561"/>
            <a:ext cx="3688649" cy="3945875"/>
          </a:xfrm>
          <a:prstGeom prst="rect">
            <a:avLst/>
          </a:prstGeom>
          <a:no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DE112832-EA95-4C36-9E5D-40287CEC478B}"/>
              </a:ext>
              <a:ext uri="{C183D7F6-B498-43B3-948B-1728B52AA6E4}">
                <adec:decorative xmlns:adec="http://schemas.microsoft.com/office/drawing/2017/decorative" xmlns="" val="1"/>
              </a:ext>
            </a:extLst>
          </p:cNvPr>
          <p:cNvSpPr/>
          <p:nvPr/>
        </p:nvSpPr>
        <p:spPr bwMode="auto">
          <a:xfrm>
            <a:off x="4214512" y="2239324"/>
            <a:ext cx="3787628" cy="3938678"/>
          </a:xfrm>
          <a:prstGeom prst="rect">
            <a:avLst/>
          </a:prstGeom>
          <a:no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C71B8E59-7816-4DEB-A9D6-AFEA93AB46E8}"/>
              </a:ext>
              <a:ext uri="{C183D7F6-B498-43B3-948B-1728B52AA6E4}">
                <adec:decorative xmlns:adec="http://schemas.microsoft.com/office/drawing/2017/decorative" xmlns="" val="1"/>
              </a:ext>
            </a:extLst>
          </p:cNvPr>
          <p:cNvSpPr/>
          <p:nvPr/>
        </p:nvSpPr>
        <p:spPr bwMode="auto">
          <a:xfrm>
            <a:off x="8119410" y="2227693"/>
            <a:ext cx="3653946" cy="3945875"/>
          </a:xfrm>
          <a:prstGeom prst="rect">
            <a:avLst/>
          </a:prstGeom>
          <a:no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73C2248E-8C44-499F-8A85-B11D700CBC49}"/>
              </a:ext>
            </a:extLst>
          </p:cNvPr>
          <p:cNvSpPr/>
          <p:nvPr/>
        </p:nvSpPr>
        <p:spPr bwMode="auto">
          <a:xfrm>
            <a:off x="1391479" y="5933921"/>
            <a:ext cx="1630017" cy="61824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pt-BR" sz="2400">
                <a:gradFill>
                  <a:gsLst>
                    <a:gs pos="0">
                      <a:srgbClr val="FFFFFF"/>
                    </a:gs>
                    <a:gs pos="100000">
                      <a:srgbClr val="FFFFFF"/>
                    </a:gs>
                  </a:gsLst>
                  <a:lin ang="5400000" scaled="0"/>
                </a:gradFill>
                <a:ea typeface="Segoe UI" pitchFamily="34" charset="0"/>
                <a:cs typeface="Segoe UI" pitchFamily="34" charset="0"/>
              </a:rPr>
              <a:t>IaaS</a:t>
            </a:r>
          </a:p>
        </p:txBody>
      </p:sp>
      <p:sp>
        <p:nvSpPr>
          <p:cNvPr id="24" name="Rectangle 23">
            <a:extLst>
              <a:ext uri="{FF2B5EF4-FFF2-40B4-BE49-F238E27FC236}">
                <a16:creationId xmlns:a16="http://schemas.microsoft.com/office/drawing/2014/main" id="{508CC86D-2AA8-4293-B3FB-5409B521AE30}"/>
              </a:ext>
            </a:extLst>
          </p:cNvPr>
          <p:cNvSpPr/>
          <p:nvPr/>
        </p:nvSpPr>
        <p:spPr bwMode="auto">
          <a:xfrm>
            <a:off x="4751763" y="5931681"/>
            <a:ext cx="6614598" cy="61824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pt-BR" sz="2400" dirty="0">
                <a:gradFill>
                  <a:gsLst>
                    <a:gs pos="0">
                      <a:srgbClr val="FFFFFF"/>
                    </a:gs>
                    <a:gs pos="100000">
                      <a:srgbClr val="FFFFFF"/>
                    </a:gs>
                  </a:gsLst>
                  <a:lin ang="5400000" scaled="0"/>
                </a:gradFill>
                <a:ea typeface="Segoe UI" pitchFamily="34" charset="0"/>
                <a:cs typeface="Segoe UI" pitchFamily="34" charset="0"/>
              </a:rPr>
              <a:t>PaaS</a:t>
            </a:r>
          </a:p>
        </p:txBody>
      </p:sp>
    </p:spTree>
    <p:extLst>
      <p:ext uri="{BB962C8B-B14F-4D97-AF65-F5344CB8AC3E}">
        <p14:creationId xmlns:p14="http://schemas.microsoft.com/office/powerpoint/2010/main" val="928740202"/>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816CAB9-1A81-4DA9-A5BA-9119CF1A8E59}"/>
              </a:ext>
              <a:ext uri="{C183D7F6-B498-43B3-948B-1728B52AA6E4}">
                <adec:decorative xmlns:adec="http://schemas.microsoft.com/office/drawing/2017/decorative" xmlns="" val="1"/>
              </a:ext>
            </a:extLst>
          </p:cNvPr>
          <p:cNvSpPr/>
          <p:nvPr/>
        </p:nvSpPr>
        <p:spPr bwMode="auto">
          <a:xfrm>
            <a:off x="311426" y="1967948"/>
            <a:ext cx="11575774" cy="4359965"/>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AD53E07-8E10-4BE6-AEFE-C70E0EE188FD}"/>
              </a:ext>
            </a:extLst>
          </p:cNvPr>
          <p:cNvSpPr>
            <a:spLocks noGrp="1"/>
          </p:cNvSpPr>
          <p:nvPr>
            <p:ph type="title"/>
          </p:nvPr>
        </p:nvSpPr>
        <p:spPr/>
        <p:txBody>
          <a:bodyPr/>
          <a:lstStyle/>
          <a:p>
            <a:pPr>
              <a:lnSpc>
                <a:spcPct val="100000"/>
              </a:lnSpc>
            </a:pPr>
            <a:r>
              <a:rPr lang="pt-BR"/>
              <a:t>Serviços de Banco de Dados do Azure para código aberto</a:t>
            </a:r>
          </a:p>
        </p:txBody>
      </p:sp>
      <p:sp>
        <p:nvSpPr>
          <p:cNvPr id="7" name="TextBox 6">
            <a:extLst>
              <a:ext uri="{FF2B5EF4-FFF2-40B4-BE49-F238E27FC236}">
                <a16:creationId xmlns:a16="http://schemas.microsoft.com/office/drawing/2014/main" id="{2FDFFDBC-4900-4AF2-A671-9F032A0B4833}"/>
              </a:ext>
            </a:extLst>
          </p:cNvPr>
          <p:cNvSpPr txBox="1"/>
          <p:nvPr/>
        </p:nvSpPr>
        <p:spPr>
          <a:xfrm>
            <a:off x="170227" y="1123779"/>
            <a:ext cx="10183622" cy="664797"/>
          </a:xfrm>
          <a:prstGeom prst="rect">
            <a:avLst/>
          </a:prstGeom>
          <a:noFill/>
        </p:spPr>
        <p:txBody>
          <a:bodyPr wrap="none" lIns="182880" tIns="146304" rIns="182880" bIns="146304" rtlCol="0">
            <a:spAutoFit/>
          </a:bodyPr>
          <a:lstStyle/>
          <a:p>
            <a:pPr>
              <a:spcAft>
                <a:spcPts val="600"/>
              </a:spcAft>
            </a:pPr>
            <a:r>
              <a:rPr lang="pt-BR" sz="2400" dirty="0">
                <a:gradFill>
                  <a:gsLst>
                    <a:gs pos="2917">
                      <a:schemeClr val="tx1"/>
                    </a:gs>
                    <a:gs pos="30000">
                      <a:schemeClr val="tx1"/>
                    </a:gs>
                  </a:gsLst>
                  <a:lin ang="5400000" scaled="0"/>
                </a:gradFill>
              </a:rPr>
              <a:t>Soluções gerenciadas do Azure para RDBMSs comuns de código aberto </a:t>
            </a:r>
          </a:p>
        </p:txBody>
      </p:sp>
      <p:sp>
        <p:nvSpPr>
          <p:cNvPr id="30" name="TextBox 29">
            <a:extLst>
              <a:ext uri="{FF2B5EF4-FFF2-40B4-BE49-F238E27FC236}">
                <a16:creationId xmlns:a16="http://schemas.microsoft.com/office/drawing/2014/main" id="{ABE90EE3-1556-431E-8983-EA1246240CD3}"/>
              </a:ext>
            </a:extLst>
          </p:cNvPr>
          <p:cNvSpPr txBox="1"/>
          <p:nvPr/>
        </p:nvSpPr>
        <p:spPr>
          <a:xfrm>
            <a:off x="1063838" y="2292920"/>
            <a:ext cx="2806373" cy="849463"/>
          </a:xfrm>
          <a:prstGeom prst="rect">
            <a:avLst/>
          </a:prstGeom>
          <a:noFill/>
        </p:spPr>
        <p:txBody>
          <a:bodyPr wrap="square" lIns="182880" tIns="146304" rIns="182880" bIns="146304" rtlCol="0">
            <a:spAutoFit/>
          </a:bodyPr>
          <a:lstStyle/>
          <a:p>
            <a:pPr>
              <a:spcAft>
                <a:spcPts val="600"/>
              </a:spcAft>
            </a:pPr>
            <a:r>
              <a:rPr lang="pt-BR" sz="1800" dirty="0">
                <a:gradFill>
                  <a:gsLst>
                    <a:gs pos="2917">
                      <a:schemeClr val="tx1"/>
                    </a:gs>
                    <a:gs pos="30000">
                      <a:schemeClr val="tx1"/>
                    </a:gs>
                  </a:gsLst>
                  <a:lin ang="5400000" scaled="0"/>
                </a:gradFill>
              </a:rPr>
              <a:t>Banco de Dados do Azure para MySQL</a:t>
            </a:r>
          </a:p>
        </p:txBody>
      </p:sp>
      <p:sp>
        <p:nvSpPr>
          <p:cNvPr id="26" name="TextBox 25">
            <a:extLst>
              <a:ext uri="{FF2B5EF4-FFF2-40B4-BE49-F238E27FC236}">
                <a16:creationId xmlns:a16="http://schemas.microsoft.com/office/drawing/2014/main" id="{F90E4F3A-5DB4-42F6-8F81-E9203C1B7CAF}"/>
              </a:ext>
            </a:extLst>
          </p:cNvPr>
          <p:cNvSpPr txBox="1"/>
          <p:nvPr/>
        </p:nvSpPr>
        <p:spPr>
          <a:xfrm>
            <a:off x="559844" y="3282837"/>
            <a:ext cx="3531704" cy="1892826"/>
          </a:xfrm>
          <a:prstGeom prst="rect">
            <a:avLst/>
          </a:prstGeom>
          <a:noFill/>
        </p:spPr>
        <p:txBody>
          <a:bodyPr wrap="square">
            <a:spAutoFit/>
          </a:bodyPr>
          <a:lstStyle/>
          <a:p>
            <a:pPr marL="285750" marR="0" lvl="0" indent="-285750" algn="l" defTabSz="914367" rtl="0" eaLnBrk="1" fontAlgn="auto" latinLnBrk="0" hangingPunct="1">
              <a:spcBef>
                <a:spcPts val="0"/>
              </a:spcBef>
              <a:spcAft>
                <a:spcPts val="600"/>
              </a:spcAft>
              <a:buClrTx/>
              <a:buSzTx/>
              <a:buFont typeface="Arial" panose="020B0604020202020204" pitchFamily="34" charset="0"/>
              <a:buChar char="•"/>
              <a:tabLst/>
              <a:defRPr/>
            </a:pPr>
            <a:r>
              <a:rPr kumimoji="0" lang="pt-BR" sz="1600" b="0" i="0" u="none" strike="noStrike" cap="none" normalizeH="0" baseline="0" noProof="0" dirty="0">
                <a:ln>
                  <a:noFill/>
                </a:ln>
                <a:solidFill>
                  <a:srgbClr val="171717"/>
                </a:solidFill>
                <a:uLnTx/>
                <a:uFillTx/>
                <a:latin typeface="Segoe UI" panose="020B0502040204020203" pitchFamily="34" charset="0"/>
                <a:ea typeface="+mn-ea"/>
                <a:cs typeface="+mn-cs"/>
              </a:rPr>
              <a:t>Implementação de PaaS do MySQL na nuvem do Azure, com base na Community Edition do MySQL</a:t>
            </a:r>
          </a:p>
          <a:p>
            <a:pPr marL="285750" marR="0" lvl="0" indent="-285750" algn="l" defTabSz="914367" rtl="0" eaLnBrk="1" fontAlgn="auto" latinLnBrk="0" hangingPunct="1">
              <a:spcBef>
                <a:spcPts val="0"/>
              </a:spcBef>
              <a:spcAft>
                <a:spcPts val="600"/>
              </a:spcAft>
              <a:buClrTx/>
              <a:buSzTx/>
              <a:buFont typeface="Arial" panose="020B0604020202020204" pitchFamily="34" charset="0"/>
              <a:buChar char="•"/>
              <a:tabLst/>
              <a:defRPr/>
            </a:pPr>
            <a:r>
              <a:rPr lang="pt-BR" sz="1600" dirty="0">
                <a:solidFill>
                  <a:srgbClr val="171717"/>
                </a:solidFill>
                <a:latin typeface="Segoe UI" panose="020B0502040204020203" pitchFamily="34" charset="0"/>
              </a:rPr>
              <a:t>Usado com frequência em arquiteturas de aplicativos Linux, Apache, MySQL, PHP (LAMP)</a:t>
            </a:r>
          </a:p>
        </p:txBody>
      </p:sp>
      <p:sp>
        <p:nvSpPr>
          <p:cNvPr id="31" name="TextBox 30">
            <a:extLst>
              <a:ext uri="{FF2B5EF4-FFF2-40B4-BE49-F238E27FC236}">
                <a16:creationId xmlns:a16="http://schemas.microsoft.com/office/drawing/2014/main" id="{DA265BD7-54CB-44B7-8031-B4F6CAD59809}"/>
              </a:ext>
            </a:extLst>
          </p:cNvPr>
          <p:cNvSpPr txBox="1"/>
          <p:nvPr/>
        </p:nvSpPr>
        <p:spPr>
          <a:xfrm>
            <a:off x="4987233" y="2275151"/>
            <a:ext cx="2806373" cy="849463"/>
          </a:xfrm>
          <a:prstGeom prst="rect">
            <a:avLst/>
          </a:prstGeom>
          <a:noFill/>
        </p:spPr>
        <p:txBody>
          <a:bodyPr wrap="square" lIns="182880" tIns="146304" rIns="182880" bIns="146304" rtlCol="0">
            <a:spAutoFit/>
          </a:bodyPr>
          <a:lstStyle/>
          <a:p>
            <a:pPr>
              <a:spcAft>
                <a:spcPts val="600"/>
              </a:spcAft>
            </a:pPr>
            <a:r>
              <a:rPr lang="pt-BR" sz="1800" dirty="0">
                <a:gradFill>
                  <a:gsLst>
                    <a:gs pos="2917">
                      <a:schemeClr val="tx1"/>
                    </a:gs>
                    <a:gs pos="30000">
                      <a:schemeClr val="tx1"/>
                    </a:gs>
                  </a:gsLst>
                  <a:lin ang="5400000" scaled="0"/>
                </a:gradFill>
              </a:rPr>
              <a:t>Banco de Dados do Azure para MariaDB</a:t>
            </a:r>
          </a:p>
        </p:txBody>
      </p:sp>
      <p:sp>
        <p:nvSpPr>
          <p:cNvPr id="25" name="TextBox 24">
            <a:extLst>
              <a:ext uri="{FF2B5EF4-FFF2-40B4-BE49-F238E27FC236}">
                <a16:creationId xmlns:a16="http://schemas.microsoft.com/office/drawing/2014/main" id="{4DFC0249-9706-4672-97DF-7D0600CAADDA}"/>
              </a:ext>
            </a:extLst>
          </p:cNvPr>
          <p:cNvSpPr txBox="1"/>
          <p:nvPr/>
        </p:nvSpPr>
        <p:spPr>
          <a:xfrm>
            <a:off x="4462609" y="3265158"/>
            <a:ext cx="3389047" cy="1892826"/>
          </a:xfrm>
          <a:prstGeom prst="rect">
            <a:avLst/>
          </a:prstGeom>
          <a:noFill/>
        </p:spPr>
        <p:txBody>
          <a:bodyPr wrap="square">
            <a:spAutoFit/>
          </a:bodyPr>
          <a:lstStyle/>
          <a:p>
            <a:pPr marL="285750" marR="0" lvl="0" indent="-285750" algn="l" defTabSz="914367" rtl="0" eaLnBrk="1" fontAlgn="auto" latinLnBrk="0" hangingPunct="1">
              <a:spcBef>
                <a:spcPts val="0"/>
              </a:spcBef>
              <a:spcAft>
                <a:spcPts val="600"/>
              </a:spcAft>
              <a:buClrTx/>
              <a:buSzTx/>
              <a:buFont typeface="Arial" panose="020B0604020202020204" pitchFamily="34" charset="0"/>
              <a:buChar char="•"/>
              <a:tabLst/>
              <a:defRPr/>
            </a:pPr>
            <a:r>
              <a:rPr lang="pt-BR" sz="1600" dirty="0">
                <a:solidFill>
                  <a:srgbClr val="171717"/>
                </a:solidFill>
                <a:latin typeface="Segoe UI" panose="020B0502040204020203" pitchFamily="34" charset="0"/>
                <a:ea typeface="+mn-ea"/>
                <a:cs typeface="+mn-cs"/>
              </a:rPr>
              <a:t>Uma implementação do sistema de gerenciamento de banco de dados MariaDB Community Edition adaptado para ser executado no Azure</a:t>
            </a:r>
          </a:p>
          <a:p>
            <a:pPr marL="285750" marR="0" lvl="0" indent="-285750" algn="l" defTabSz="914367" rtl="0" eaLnBrk="1" fontAlgn="auto" latinLnBrk="0" hangingPunct="1">
              <a:spcBef>
                <a:spcPts val="0"/>
              </a:spcBef>
              <a:spcAft>
                <a:spcPts val="600"/>
              </a:spcAft>
              <a:buClrTx/>
              <a:buSzTx/>
              <a:buFont typeface="Arial" panose="020B0604020202020204" pitchFamily="34" charset="0"/>
              <a:buChar char="•"/>
              <a:tabLst/>
              <a:defRPr/>
            </a:pPr>
            <a:r>
              <a:rPr lang="pt-BR" sz="1600" dirty="0">
                <a:solidFill>
                  <a:srgbClr val="171717"/>
                </a:solidFill>
                <a:latin typeface="Segoe UI" panose="020B0502040204020203" pitchFamily="34" charset="0"/>
              </a:rPr>
              <a:t>Compatibilidade com o Oracle Database</a:t>
            </a:r>
          </a:p>
        </p:txBody>
      </p:sp>
      <p:sp>
        <p:nvSpPr>
          <p:cNvPr id="9" name="TextBox 8">
            <a:extLst>
              <a:ext uri="{FF2B5EF4-FFF2-40B4-BE49-F238E27FC236}">
                <a16:creationId xmlns:a16="http://schemas.microsoft.com/office/drawing/2014/main" id="{46B15648-1949-4870-BC2B-58C2DA18D3B8}"/>
              </a:ext>
            </a:extLst>
          </p:cNvPr>
          <p:cNvSpPr txBox="1"/>
          <p:nvPr/>
        </p:nvSpPr>
        <p:spPr>
          <a:xfrm>
            <a:off x="8803731" y="2331385"/>
            <a:ext cx="2806373" cy="849463"/>
          </a:xfrm>
          <a:prstGeom prst="rect">
            <a:avLst/>
          </a:prstGeom>
          <a:noFill/>
        </p:spPr>
        <p:txBody>
          <a:bodyPr wrap="square" lIns="182880" tIns="146304" rIns="182880" bIns="146304" rtlCol="0">
            <a:spAutoFit/>
          </a:bodyPr>
          <a:lstStyle/>
          <a:p>
            <a:pPr>
              <a:spcAft>
                <a:spcPts val="600"/>
              </a:spcAft>
            </a:pPr>
            <a:r>
              <a:rPr lang="pt-BR" sz="1800" dirty="0">
                <a:gradFill>
                  <a:gsLst>
                    <a:gs pos="2917">
                      <a:schemeClr val="tx1"/>
                    </a:gs>
                    <a:gs pos="30000">
                      <a:schemeClr val="tx1"/>
                    </a:gs>
                  </a:gsLst>
                  <a:lin ang="5400000" scaled="0"/>
                </a:gradFill>
              </a:rPr>
              <a:t>Banco de Dados do Azure para PostgreSQL</a:t>
            </a:r>
          </a:p>
        </p:txBody>
      </p:sp>
      <p:sp>
        <p:nvSpPr>
          <p:cNvPr id="22" name="TextBox 21">
            <a:extLst>
              <a:ext uri="{FF2B5EF4-FFF2-40B4-BE49-F238E27FC236}">
                <a16:creationId xmlns:a16="http://schemas.microsoft.com/office/drawing/2014/main" id="{C2476542-F14B-45AF-9215-8E1525F64C95}"/>
              </a:ext>
            </a:extLst>
          </p:cNvPr>
          <p:cNvSpPr txBox="1"/>
          <p:nvPr/>
        </p:nvSpPr>
        <p:spPr>
          <a:xfrm>
            <a:off x="8243109" y="3285855"/>
            <a:ext cx="3389047" cy="1569660"/>
          </a:xfrm>
          <a:prstGeom prst="rect">
            <a:avLst/>
          </a:prstGeom>
          <a:noFill/>
        </p:spPr>
        <p:txBody>
          <a:bodyPr wrap="square">
            <a:spAutoFit/>
          </a:bodyPr>
          <a:lstStyle/>
          <a:p>
            <a:pPr marL="285750" indent="-285750">
              <a:buFont typeface="Arial" panose="020B0604020202020204" pitchFamily="34" charset="0"/>
              <a:buChar char="•"/>
            </a:pPr>
            <a:r>
              <a:rPr kumimoji="0" lang="pt-BR" sz="1600" b="0" i="0" u="none" strike="noStrike" cap="none" normalizeH="0" baseline="0" noProof="0" dirty="0">
                <a:ln>
                  <a:noFill/>
                </a:ln>
                <a:solidFill>
                  <a:srgbClr val="171717"/>
                </a:solidFill>
                <a:uLnTx/>
                <a:uFillTx/>
                <a:latin typeface="Segoe UI" panose="020B0502040204020203" pitchFamily="34" charset="0"/>
                <a:ea typeface="+mn-ea"/>
                <a:cs typeface="+mn-cs"/>
              </a:rPr>
              <a:t>Serviço de banco de dados na nuvem da Microsoft baseado no mecanismo de banco de dados PostgreSQL Community Edition</a:t>
            </a:r>
          </a:p>
          <a:p>
            <a:pPr marL="285750" indent="-285750">
              <a:buFont typeface="Arial" panose="020B0604020202020204" pitchFamily="34" charset="0"/>
              <a:buChar char="•"/>
            </a:pPr>
            <a:r>
              <a:rPr lang="pt-BR" sz="1600" dirty="0">
                <a:solidFill>
                  <a:srgbClr val="171717"/>
                </a:solidFill>
                <a:latin typeface="Segoe UI" panose="020B0502040204020203" pitchFamily="34" charset="0"/>
              </a:rPr>
              <a:t>Armazenamento híbrido relacional e de objetos</a:t>
            </a:r>
          </a:p>
        </p:txBody>
      </p:sp>
      <p:sp>
        <p:nvSpPr>
          <p:cNvPr id="11" name="Rectangle 10">
            <a:extLst>
              <a:ext uri="{FF2B5EF4-FFF2-40B4-BE49-F238E27FC236}">
                <a16:creationId xmlns:a16="http://schemas.microsoft.com/office/drawing/2014/main" id="{A63E2344-957B-4B31-8607-C43E6B92B652}"/>
              </a:ext>
              <a:ext uri="{C183D7F6-B498-43B3-948B-1728B52AA6E4}">
                <adec:decorative xmlns:adec="http://schemas.microsoft.com/office/drawing/2017/decorative" xmlns="" val="1"/>
              </a:ext>
            </a:extLst>
          </p:cNvPr>
          <p:cNvSpPr/>
          <p:nvPr/>
        </p:nvSpPr>
        <p:spPr bwMode="auto">
          <a:xfrm>
            <a:off x="418644" y="2236561"/>
            <a:ext cx="3688649" cy="3945875"/>
          </a:xfrm>
          <a:prstGeom prst="rect">
            <a:avLst/>
          </a:prstGeom>
          <a:no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DE112832-EA95-4C36-9E5D-40287CEC478B}"/>
              </a:ext>
              <a:ext uri="{C183D7F6-B498-43B3-948B-1728B52AA6E4}">
                <adec:decorative xmlns:adec="http://schemas.microsoft.com/office/drawing/2017/decorative" xmlns="" val="1"/>
              </a:ext>
            </a:extLst>
          </p:cNvPr>
          <p:cNvSpPr/>
          <p:nvPr/>
        </p:nvSpPr>
        <p:spPr bwMode="auto">
          <a:xfrm>
            <a:off x="4214512" y="2239324"/>
            <a:ext cx="3787628" cy="3938678"/>
          </a:xfrm>
          <a:prstGeom prst="rect">
            <a:avLst/>
          </a:prstGeom>
          <a:no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C71B8E59-7816-4DEB-A9D6-AFEA93AB46E8}"/>
              </a:ext>
              <a:ext uri="{C183D7F6-B498-43B3-948B-1728B52AA6E4}">
                <adec:decorative xmlns:adec="http://schemas.microsoft.com/office/drawing/2017/decorative" xmlns="" val="1"/>
              </a:ext>
            </a:extLst>
          </p:cNvPr>
          <p:cNvSpPr/>
          <p:nvPr/>
        </p:nvSpPr>
        <p:spPr bwMode="auto">
          <a:xfrm>
            <a:off x="8119410" y="2227693"/>
            <a:ext cx="3653946" cy="3945875"/>
          </a:xfrm>
          <a:prstGeom prst="rect">
            <a:avLst/>
          </a:prstGeom>
          <a:no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7" name="Graphic 26">
            <a:extLst>
              <a:ext uri="{FF2B5EF4-FFF2-40B4-BE49-F238E27FC236}">
                <a16:creationId xmlns:a16="http://schemas.microsoft.com/office/drawing/2014/main" id="{43812591-642F-42F7-952C-7CABCB79A2B0}"/>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18643" y="2257384"/>
            <a:ext cx="829599" cy="829599"/>
          </a:xfrm>
          <a:prstGeom prst="rect">
            <a:avLst/>
          </a:prstGeom>
        </p:spPr>
      </p:pic>
      <p:pic>
        <p:nvPicPr>
          <p:cNvPr id="28" name="Graphic 27">
            <a:extLst>
              <a:ext uri="{FF2B5EF4-FFF2-40B4-BE49-F238E27FC236}">
                <a16:creationId xmlns:a16="http://schemas.microsoft.com/office/drawing/2014/main" id="{ABD70F5A-B09F-45F0-8747-67F7A931F3ED}"/>
              </a:ext>
              <a:ext uri="{C183D7F6-B498-43B3-948B-1728B52AA6E4}">
                <adec:decorative xmlns:adec="http://schemas.microsoft.com/office/drawing/2017/decorative" xmlns="" val="1"/>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8166152" y="2278082"/>
            <a:ext cx="829599" cy="829599"/>
          </a:xfrm>
          <a:prstGeom prst="rect">
            <a:avLst/>
          </a:prstGeom>
        </p:spPr>
      </p:pic>
      <p:pic>
        <p:nvPicPr>
          <p:cNvPr id="29" name="Graphic 28">
            <a:extLst>
              <a:ext uri="{FF2B5EF4-FFF2-40B4-BE49-F238E27FC236}">
                <a16:creationId xmlns:a16="http://schemas.microsoft.com/office/drawing/2014/main" id="{63979225-891B-4159-82AE-BFD0C48F5B03}"/>
              </a:ext>
              <a:ext uri="{C183D7F6-B498-43B3-948B-1728B52AA6E4}">
                <adec:decorative xmlns:adec="http://schemas.microsoft.com/office/drawing/2017/decorative" xmlns="" val="1"/>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267251" y="2292920"/>
            <a:ext cx="867099" cy="867099"/>
          </a:xfrm>
          <a:prstGeom prst="rect">
            <a:avLst/>
          </a:prstGeom>
        </p:spPr>
      </p:pic>
      <p:sp>
        <p:nvSpPr>
          <p:cNvPr id="2" name="Rectangle 1">
            <a:extLst>
              <a:ext uri="{FF2B5EF4-FFF2-40B4-BE49-F238E27FC236}">
                <a16:creationId xmlns:a16="http://schemas.microsoft.com/office/drawing/2014/main" id="{1FDDCFC2-6E1B-4BD8-85EA-C9E0293B70CA}"/>
              </a:ext>
            </a:extLst>
          </p:cNvPr>
          <p:cNvSpPr/>
          <p:nvPr/>
        </p:nvSpPr>
        <p:spPr bwMode="auto">
          <a:xfrm>
            <a:off x="669235" y="5899229"/>
            <a:ext cx="10861716" cy="61824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pt-BR" sz="2400">
                <a:gradFill>
                  <a:gsLst>
                    <a:gs pos="0">
                      <a:srgbClr val="FFFFFF"/>
                    </a:gs>
                    <a:gs pos="100000">
                      <a:srgbClr val="FFFFFF"/>
                    </a:gs>
                  </a:gsLst>
                  <a:lin ang="5400000" scaled="0"/>
                </a:gradFill>
                <a:ea typeface="Segoe UI" pitchFamily="34" charset="0"/>
                <a:cs typeface="Segoe UI" pitchFamily="34" charset="0"/>
              </a:rPr>
              <a:t>PaaS</a:t>
            </a:r>
          </a:p>
        </p:txBody>
      </p:sp>
    </p:spTree>
    <p:extLst>
      <p:ext uri="{BB962C8B-B14F-4D97-AF65-F5344CB8AC3E}">
        <p14:creationId xmlns:p14="http://schemas.microsoft.com/office/powerpoint/2010/main" val="101684069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04DC-72B9-49CA-AF83-44D0D5AD2930}"/>
              </a:ext>
            </a:extLst>
          </p:cNvPr>
          <p:cNvSpPr>
            <a:spLocks noGrp="1"/>
          </p:cNvSpPr>
          <p:nvPr>
            <p:ph type="title"/>
          </p:nvPr>
        </p:nvSpPr>
        <p:spPr>
          <a:xfrm>
            <a:off x="588263" y="457200"/>
            <a:ext cx="11018520" cy="984885"/>
          </a:xfrm>
        </p:spPr>
        <p:txBody>
          <a:bodyPr/>
          <a:lstStyle/>
          <a:p>
            <a:r>
              <a:rPr lang="pt-BR" sz="3200" dirty="0">
                <a:solidFill>
                  <a:schemeClr val="accent2"/>
                </a:solidFill>
                <a:cs typeface="Segoe UI"/>
              </a:rPr>
              <a:t>Laboratório: Provisionar serviços de banco de dados relacional do Azure</a:t>
            </a:r>
          </a:p>
        </p:txBody>
      </p:sp>
      <p:sp>
        <p:nvSpPr>
          <p:cNvPr id="4" name="Text Placeholder 3">
            <a:extLst>
              <a:ext uri="{FF2B5EF4-FFF2-40B4-BE49-F238E27FC236}">
                <a16:creationId xmlns:a16="http://schemas.microsoft.com/office/drawing/2014/main" id="{7A53DAE2-E571-4E6F-AE96-3A841D42CF4E}"/>
              </a:ext>
            </a:extLst>
          </p:cNvPr>
          <p:cNvSpPr txBox="1">
            <a:spLocks/>
          </p:cNvSpPr>
          <p:nvPr/>
        </p:nvSpPr>
        <p:spPr>
          <a:xfrm>
            <a:off x="1139687" y="3123727"/>
            <a:ext cx="10243929" cy="2170516"/>
          </a:xfrm>
          <a:prstGeom prst="rect">
            <a:avLst/>
          </a:prstGeom>
          <a:ln w="28575">
            <a:solidFill>
              <a:srgbClr val="0078D4"/>
            </a:solidFill>
          </a:ln>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pt-BR" sz="2400" dirty="0">
                <a:gradFill>
                  <a:gsLst>
                    <a:gs pos="2917">
                      <a:srgbClr val="1A1A1A"/>
                    </a:gs>
                    <a:gs pos="30000">
                      <a:srgbClr val="1A1A1A"/>
                    </a:gs>
                  </a:gsLst>
                  <a:lin ang="5400000" scaled="0"/>
                </a:gradFill>
                <a:latin typeface="Segoe UI"/>
              </a:rPr>
              <a:t>Inicie a máquina virtual para este laboratório</a:t>
            </a:r>
          </a:p>
          <a:p>
            <a:pPr marL="457200" lvl="2" defTabSz="914400">
              <a:spcBef>
                <a:spcPts val="0"/>
              </a:spcBef>
              <a:spcAft>
                <a:spcPts val="0"/>
              </a:spcAft>
              <a:buSzTx/>
              <a:defRPr/>
            </a:pPr>
            <a:r>
              <a:rPr kumimoji="0" lang="pt-BR" sz="1647"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rPr>
              <a:t>ou acesse a página de exercícios em </a:t>
            </a:r>
            <a:r>
              <a:rPr kumimoji="0" lang="pt-BR" sz="1647"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hlinkClick r:id="rId3"/>
              </a:rPr>
              <a:t>https://aka.ms/dp900-sql-lab</a:t>
            </a:r>
            <a:r>
              <a:rPr lang="pt-BR" sz="1647" dirty="0">
                <a:gradFill>
                  <a:gsLst>
                    <a:gs pos="2917">
                      <a:srgbClr val="1A1A1A"/>
                    </a:gs>
                    <a:gs pos="30000">
                      <a:srgbClr val="1A1A1A"/>
                    </a:gs>
                  </a:gsLst>
                  <a:lin ang="5400000" scaled="0"/>
                </a:gradFill>
                <a:latin typeface="Segoe UI"/>
                <a:ea typeface="+mn-ea"/>
                <a:cs typeface="+mn-cs"/>
              </a:rPr>
              <a:t>    </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pt-BR" sz="2400" b="0" i="0" u="none" strike="noStrike" cap="none" normalizeH="0" baseline="0" noProof="0" dirty="0">
                <a:ln>
                  <a:noFill/>
                </a:ln>
                <a:gradFill>
                  <a:gsLst>
                    <a:gs pos="2917">
                      <a:srgbClr val="1A1A1A"/>
                    </a:gs>
                    <a:gs pos="30000">
                      <a:srgbClr val="1A1A1A"/>
                    </a:gs>
                  </a:gsLst>
                  <a:lin ang="5400000" scaled="0"/>
                </a:gradFill>
                <a:uLnTx/>
                <a:uFillTx/>
                <a:latin typeface="Segoe UI"/>
                <a:ea typeface="+mn-ea"/>
                <a:cs typeface="+mn-cs"/>
              </a:rPr>
              <a:t>Siga as instruções para concluir o exercício no Microsoft Learn</a:t>
            </a:r>
          </a:p>
          <a:p>
            <a:pPr marL="457200" lvl="2" defTabSz="914400">
              <a:spcBef>
                <a:spcPts val="0"/>
              </a:spcBef>
              <a:spcAft>
                <a:spcPts val="0"/>
              </a:spcAft>
              <a:buSzTx/>
              <a:defRPr/>
            </a:pPr>
            <a:r>
              <a:rPr lang="pt-BR" sz="1647" dirty="0">
                <a:gradFill>
                  <a:gsLst>
                    <a:gs pos="2917">
                      <a:srgbClr val="1A1A1A"/>
                    </a:gs>
                    <a:gs pos="30000">
                      <a:srgbClr val="1A1A1A"/>
                    </a:gs>
                  </a:gsLst>
                  <a:lin ang="5400000" scaled="0"/>
                </a:gradFill>
                <a:latin typeface="Segoe UI"/>
                <a:ea typeface="+mn-ea"/>
                <a:cs typeface="+mn-cs"/>
              </a:rPr>
              <a:t>Use a assinatura do Azure fornecida para este laboratório</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0" cap="none" spc="-49"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grpSp>
        <p:nvGrpSpPr>
          <p:cNvPr id="5" name="Group 4" descr="Ícone de três pontos e formas em V apontando para fora nos lados esquerdo e direito">
            <a:extLst>
              <a:ext uri="{FF2B5EF4-FFF2-40B4-BE49-F238E27FC236}">
                <a16:creationId xmlns:a16="http://schemas.microsoft.com/office/drawing/2014/main" id="{283351B3-8329-47CA-B64F-2FE520FF18AF}"/>
              </a:ext>
            </a:extLst>
          </p:cNvPr>
          <p:cNvGrpSpPr/>
          <p:nvPr/>
        </p:nvGrpSpPr>
        <p:grpSpPr>
          <a:xfrm>
            <a:off x="10616413" y="4592011"/>
            <a:ext cx="702132" cy="702232"/>
            <a:chOff x="3088645" y="5729498"/>
            <a:chExt cx="648328" cy="648420"/>
          </a:xfrm>
        </p:grpSpPr>
        <p:grpSp>
          <p:nvGrpSpPr>
            <p:cNvPr id="6" name="Group 5">
              <a:extLst>
                <a:ext uri="{FF2B5EF4-FFF2-40B4-BE49-F238E27FC236}">
                  <a16:creationId xmlns:a16="http://schemas.microsoft.com/office/drawing/2014/main" id="{9133A064-9C81-4014-9FC1-F84DA988F720}"/>
                </a:ext>
                <a:ext uri="{C183D7F6-B498-43B3-948B-1728B52AA6E4}">
                  <adec:decorative xmlns:adec="http://schemas.microsoft.com/office/drawing/2017/decorative" xmlns="" val="1"/>
                </a:ext>
              </a:extLst>
            </p:cNvPr>
            <p:cNvGrpSpPr/>
            <p:nvPr/>
          </p:nvGrpSpPr>
          <p:grpSpPr>
            <a:xfrm>
              <a:off x="3088645" y="5729498"/>
              <a:ext cx="648328" cy="648420"/>
              <a:chOff x="7962901" y="3032919"/>
              <a:chExt cx="981074" cy="981076"/>
            </a:xfrm>
          </p:grpSpPr>
          <p:sp>
            <p:nvSpPr>
              <p:cNvPr id="8" name="Freeform 5">
                <a:extLst>
                  <a:ext uri="{FF2B5EF4-FFF2-40B4-BE49-F238E27FC236}">
                    <a16:creationId xmlns:a16="http://schemas.microsoft.com/office/drawing/2014/main" id="{E7806C2A-B6AA-4762-93F5-94E33236CDB4}"/>
                  </a:ext>
                </a:extLst>
              </p:cNvPr>
              <p:cNvSpPr>
                <a:spLocks/>
              </p:cNvSpPr>
              <p:nvPr/>
            </p:nvSpPr>
            <p:spPr bwMode="auto">
              <a:xfrm>
                <a:off x="7962901" y="3032919"/>
                <a:ext cx="981074" cy="98107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9D6A5BF-92F4-4FCE-83F6-27F8BEA23645}"/>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Ícone de três pontos e formas em V apontando para fora nos lados esquerdo e direito">
              <a:extLst>
                <a:ext uri="{FF2B5EF4-FFF2-40B4-BE49-F238E27FC236}">
                  <a16:creationId xmlns:a16="http://schemas.microsoft.com/office/drawing/2014/main" id="{469FF4FB-E920-4A57-AC3D-31B608DFD0D0}"/>
                </a:ext>
              </a:extLst>
            </p:cNvPr>
            <p:cNvPicPr>
              <a:picLocks noChangeAspect="1"/>
            </p:cNvPicPr>
            <p:nvPr/>
          </p:nvPicPr>
          <p:blipFill>
            <a:blip r:embed="rId4"/>
            <a:stretch>
              <a:fillRect/>
            </a:stretch>
          </p:blipFill>
          <p:spPr>
            <a:xfrm>
              <a:off x="3184209" y="5952822"/>
              <a:ext cx="457200" cy="201773"/>
            </a:xfrm>
            <a:prstGeom prst="rect">
              <a:avLst/>
            </a:prstGeom>
          </p:spPr>
        </p:pic>
      </p:grpSp>
      <p:sp>
        <p:nvSpPr>
          <p:cNvPr id="10" name="Text Placeholder 1">
            <a:extLst>
              <a:ext uri="{FF2B5EF4-FFF2-40B4-BE49-F238E27FC236}">
                <a16:creationId xmlns:a16="http://schemas.microsoft.com/office/drawing/2014/main" id="{0B6381E0-F82F-4684-BBA5-74E499E3884A}"/>
              </a:ext>
            </a:extLst>
          </p:cNvPr>
          <p:cNvSpPr txBox="1">
            <a:spLocks/>
          </p:cNvSpPr>
          <p:nvPr/>
        </p:nvSpPr>
        <p:spPr>
          <a:xfrm>
            <a:off x="586740" y="1759228"/>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392"/>
              </a:spcBef>
              <a:spcAft>
                <a:spcPts val="588"/>
              </a:spcAft>
              <a:buClrTx/>
              <a:buSzPct val="90000"/>
              <a:buFont typeface="Wingdings" panose="05000000000000000000" pitchFamily="2" charset="2"/>
              <a:buNone/>
              <a:tabLst/>
              <a:defRPr/>
            </a:pPr>
            <a:r>
              <a:rPr kumimoji="0" lang="pt-BR" sz="2400" b="0" i="0" u="none" strike="noStrike" cap="none" normalizeH="0" baseline="0" noProof="0" dirty="0">
                <a:ln>
                  <a:noFill/>
                </a:ln>
                <a:gradFill>
                  <a:gsLst>
                    <a:gs pos="1250">
                      <a:srgbClr val="1A1A1A"/>
                    </a:gs>
                    <a:gs pos="100000">
                      <a:srgbClr val="1A1A1A"/>
                    </a:gs>
                  </a:gsLst>
                  <a:lin ang="5400000" scaled="0"/>
                </a:gradFill>
                <a:uLnTx/>
                <a:uFillTx/>
                <a:latin typeface="Segoe UI Semilight" panose="020B0402040204020203" pitchFamily="34" charset="0"/>
                <a:ea typeface="+mn-ea"/>
                <a:cs typeface="Segoe UI Semilight" panose="020B0402040204020203" pitchFamily="34" charset="0"/>
              </a:rPr>
              <a:t>Neste laboratório, você vai provisionar, configurar e consultar um Banco de Dados SQL do Azure.</a:t>
            </a:r>
          </a:p>
        </p:txBody>
      </p:sp>
    </p:spTree>
    <p:extLst>
      <p:ext uri="{BB962C8B-B14F-4D97-AF65-F5344CB8AC3E}">
        <p14:creationId xmlns:p14="http://schemas.microsoft.com/office/powerpoint/2010/main" val="2251313848"/>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pt-BR" dirty="0"/>
              <a:t>Lição 2: Verificação de conhecimento</a:t>
            </a:r>
          </a:p>
        </p:txBody>
      </p:sp>
      <p:sp>
        <p:nvSpPr>
          <p:cNvPr id="11" name="TextBox 10">
            <a:extLst>
              <a:ext uri="{FF2B5EF4-FFF2-40B4-BE49-F238E27FC236}">
                <a16:creationId xmlns:a16="http://schemas.microsoft.com/office/drawing/2014/main" id="{CD5BAD7D-8A31-476A-93E5-D716511B316B}"/>
              </a:ext>
            </a:extLst>
          </p:cNvPr>
          <p:cNvSpPr txBox="1">
            <a:spLocks/>
          </p:cNvSpPr>
          <p:nvPr/>
        </p:nvSpPr>
        <p:spPr>
          <a:xfrm>
            <a:off x="1642450" y="1773896"/>
            <a:ext cx="10450159" cy="1241365"/>
          </a:xfrm>
          <a:prstGeom prst="rect">
            <a:avLst/>
          </a:prstGeom>
          <a:noFill/>
        </p:spPr>
        <p:txBody>
          <a:bodyPr wrap="square" lIns="0" tIns="0" rIns="0" bIns="0">
            <a:spAutoFit/>
          </a:bodyPr>
          <a:lstStyle/>
          <a:p>
            <a:pPr marL="0" lvl="1" defTabSz="914192">
              <a:spcAft>
                <a:spcPts val="196"/>
              </a:spcAft>
            </a:pPr>
            <a:r>
              <a:rPr lang="pt-BR" sz="1600" dirty="0">
                <a:latin typeface="+mj-lt"/>
              </a:rPr>
              <a:t>Qual opção de implantação oferece a melhor compatibilidade ao migrar uma solução local do SQL Server?</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Banco de Dados SQL do Azure (banco de dados individual)</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Banco de Dados SQL do Azure (pool elástico)</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Instância Gerenciada de SQL do Azure</a:t>
            </a:r>
          </a:p>
        </p:txBody>
      </p:sp>
      <p:sp>
        <p:nvSpPr>
          <p:cNvPr id="4" name="Graphic 26">
            <a:extLst>
              <a:ext uri="{FF2B5EF4-FFF2-40B4-BE49-F238E27FC236}">
                <a16:creationId xmlns:a16="http://schemas.microsoft.com/office/drawing/2014/main" id="{81258162-3A32-4CC3-A42A-D9F924A39B62}"/>
              </a:ext>
              <a:ext uri="{C183D7F6-B498-43B3-948B-1728B52AA6E4}">
                <adec:decorative xmlns:adec="http://schemas.microsoft.com/office/drawing/2017/decorative" xmlns="" val="1"/>
              </a:ext>
            </a:extLst>
          </p:cNvPr>
          <p:cNvSpPr/>
          <p:nvPr/>
        </p:nvSpPr>
        <p:spPr>
          <a:xfrm>
            <a:off x="1625708" y="2546845"/>
            <a:ext cx="267883" cy="18815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pPr>
              <a:defRPr/>
            </a:pPr>
            <a:endParaRPr lang="en-US" dirty="0">
              <a:solidFill>
                <a:srgbClr val="000000"/>
              </a:solidFill>
              <a:latin typeface="Segoe UI"/>
            </a:endParaRPr>
          </a:p>
        </p:txBody>
      </p:sp>
      <p:cxnSp>
        <p:nvCxnSpPr>
          <p:cNvPr id="19" name="Straight Connector 18">
            <a:extLst>
              <a:ext uri="{FF2B5EF4-FFF2-40B4-BE49-F238E27FC236}">
                <a16:creationId xmlns:a16="http://schemas.microsoft.com/office/drawing/2014/main" id="{4A19714B-3C4F-42CF-9D33-D0C0625E8B06}"/>
              </a:ext>
              <a:ext uri="{C183D7F6-B498-43B3-948B-1728B52AA6E4}">
                <adec:decorative xmlns:adec="http://schemas.microsoft.com/office/drawing/2017/decorative" xmlns="" val="1"/>
              </a:ext>
            </a:extLst>
          </p:cNvPr>
          <p:cNvCxnSpPr>
            <a:cxnSpLocks/>
          </p:cNvCxnSpPr>
          <p:nvPr/>
        </p:nvCxnSpPr>
        <p:spPr>
          <a:xfrm>
            <a:off x="1642450" y="2963401"/>
            <a:ext cx="1011746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D76E5B3-0623-4849-9406-39469319E37A}"/>
              </a:ext>
            </a:extLst>
          </p:cNvPr>
          <p:cNvSpPr txBox="1">
            <a:spLocks/>
          </p:cNvSpPr>
          <p:nvPr/>
        </p:nvSpPr>
        <p:spPr>
          <a:xfrm>
            <a:off x="1642450" y="3401168"/>
            <a:ext cx="10117461" cy="995144"/>
          </a:xfrm>
          <a:prstGeom prst="rect">
            <a:avLst/>
          </a:prstGeom>
          <a:noFill/>
        </p:spPr>
        <p:txBody>
          <a:bodyPr wrap="square" lIns="0" tIns="0" rIns="0" bIns="0">
            <a:spAutoFit/>
          </a:bodyPr>
          <a:lstStyle/>
          <a:p>
            <a:pPr marL="0" lvl="1" defTabSz="914192">
              <a:spcAft>
                <a:spcPts val="196"/>
              </a:spcAft>
            </a:pPr>
            <a:r>
              <a:rPr lang="pt-BR" sz="1600" dirty="0">
                <a:latin typeface="+mj-lt"/>
              </a:rPr>
              <a:t>Qual destas afirmações é verdadeira sobre o Banco de Dados SQL do Azure?</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A maioria das tarefas de manutenção de banco de dados é automatizada</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Você deve adquirir uma licença do SQL Server</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Ele só é compatível com um banco de dados</a:t>
            </a:r>
          </a:p>
        </p:txBody>
      </p:sp>
      <p:sp>
        <p:nvSpPr>
          <p:cNvPr id="3" name="Graphic 27" descr="Marca de seleção em Você é responsável por toda a instalação e manutenção do software e por realizar backups">
            <a:extLst>
              <a:ext uri="{FF2B5EF4-FFF2-40B4-BE49-F238E27FC236}">
                <a16:creationId xmlns:a16="http://schemas.microsoft.com/office/drawing/2014/main" id="{D62FA0C1-39F9-478C-B737-197A2862D15B}"/>
              </a:ext>
            </a:extLst>
          </p:cNvPr>
          <p:cNvSpPr/>
          <p:nvPr/>
        </p:nvSpPr>
        <p:spPr>
          <a:xfrm>
            <a:off x="1625108" y="3666830"/>
            <a:ext cx="267883" cy="18815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pPr>
              <a:defRPr/>
            </a:pPr>
            <a:endParaRPr lang="en-US" dirty="0">
              <a:solidFill>
                <a:srgbClr val="000000"/>
              </a:solidFill>
              <a:latin typeface="Segoe UI"/>
            </a:endParaRPr>
          </a:p>
        </p:txBody>
      </p:sp>
      <p:cxnSp>
        <p:nvCxnSpPr>
          <p:cNvPr id="25" name="Straight Connector 24">
            <a:extLst>
              <a:ext uri="{FF2B5EF4-FFF2-40B4-BE49-F238E27FC236}">
                <a16:creationId xmlns:a16="http://schemas.microsoft.com/office/drawing/2014/main" id="{06B43C98-1988-4AC2-AC5A-9BCDDEE4B17C}"/>
              </a:ext>
              <a:ext uri="{C183D7F6-B498-43B3-948B-1728B52AA6E4}">
                <adec:decorative xmlns:adec="http://schemas.microsoft.com/office/drawing/2017/decorative" xmlns="" val="1"/>
              </a:ext>
            </a:extLst>
          </p:cNvPr>
          <p:cNvCxnSpPr>
            <a:cxnSpLocks/>
          </p:cNvCxnSpPr>
          <p:nvPr/>
        </p:nvCxnSpPr>
        <p:spPr>
          <a:xfrm>
            <a:off x="1642450" y="4578001"/>
            <a:ext cx="1011746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696E727-1D91-4D9E-9551-4810F693FF9B}"/>
              </a:ext>
            </a:extLst>
          </p:cNvPr>
          <p:cNvSpPr txBox="1">
            <a:spLocks/>
          </p:cNvSpPr>
          <p:nvPr/>
        </p:nvSpPr>
        <p:spPr>
          <a:xfrm>
            <a:off x="1642450" y="4813479"/>
            <a:ext cx="10117461" cy="995144"/>
          </a:xfrm>
          <a:prstGeom prst="rect">
            <a:avLst/>
          </a:prstGeom>
          <a:noFill/>
        </p:spPr>
        <p:txBody>
          <a:bodyPr wrap="square" lIns="0" tIns="0" rIns="0" bIns="0">
            <a:spAutoFit/>
          </a:bodyPr>
          <a:lstStyle/>
          <a:p>
            <a:pPr marL="0" lvl="1" defTabSz="914192">
              <a:spcAft>
                <a:spcPts val="196"/>
              </a:spcAft>
            </a:pPr>
            <a:r>
              <a:rPr lang="pt-BR" sz="1600" dirty="0">
                <a:latin typeface="+mj-lt"/>
              </a:rPr>
              <a:t>Qual serviço de banco de dados é a opção mais simples para migrar um aplicativo LAMP para o Azure?</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Instância Gerenciada de SQL do Azure</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Banco de Dados do Azure para MySQL</a:t>
            </a:r>
          </a:p>
          <a:p>
            <a:pPr marL="342834" lvl="1" indent="-342834" defTabSz="914192">
              <a:spcAft>
                <a:spcPts val="294"/>
              </a:spcAft>
              <a:buFont typeface="Wingdings" panose="05000000000000000000" pitchFamily="2" charset="2"/>
              <a:buChar char="q"/>
            </a:pPr>
            <a:r>
              <a:rPr lang="pt-BR" sz="1400" dirty="0">
                <a:latin typeface="Segoe UI" panose="020B0502040204020203" pitchFamily="34" charset="0"/>
              </a:rPr>
              <a:t>Banco de Dados do Azure para PostgreSQL</a:t>
            </a:r>
          </a:p>
        </p:txBody>
      </p:sp>
      <p:sp>
        <p:nvSpPr>
          <p:cNvPr id="2" name="Graphic 28" descr="Marca de seleção em O escalonamento vertical ou a expansão entrarão em vigor sem precisar reiniciar o Banco de Dados SQL">
            <a:extLst>
              <a:ext uri="{FF2B5EF4-FFF2-40B4-BE49-F238E27FC236}">
                <a16:creationId xmlns:a16="http://schemas.microsoft.com/office/drawing/2014/main" id="{BDC34667-CC23-441C-9CC4-AD1104D060A4}"/>
              </a:ext>
            </a:extLst>
          </p:cNvPr>
          <p:cNvSpPr/>
          <p:nvPr/>
        </p:nvSpPr>
        <p:spPr>
          <a:xfrm>
            <a:off x="1633817" y="5337178"/>
            <a:ext cx="267883" cy="188156"/>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pPr>
              <a:defRPr/>
            </a:pPr>
            <a:endParaRPr lang="en-US" dirty="0">
              <a:solidFill>
                <a:srgbClr val="000000"/>
              </a:solidFill>
              <a:latin typeface="Segoe UI"/>
            </a:endParaRPr>
          </a:p>
        </p:txBody>
      </p:sp>
      <p:pic>
        <p:nvPicPr>
          <p:cNvPr id="5" name="Graphic 4">
            <a:extLst>
              <a:ext uri="{FF2B5EF4-FFF2-40B4-BE49-F238E27FC236}">
                <a16:creationId xmlns:a16="http://schemas.microsoft.com/office/drawing/2014/main" id="{918929F8-B841-405B-A313-6460A90E03DC}"/>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79439" y="1605257"/>
            <a:ext cx="933775" cy="933775"/>
          </a:xfrm>
          <a:prstGeom prst="rect">
            <a:avLst/>
          </a:prstGeom>
        </p:spPr>
      </p:pic>
      <p:pic>
        <p:nvPicPr>
          <p:cNvPr id="6" name="Graphic 5">
            <a:extLst>
              <a:ext uri="{FF2B5EF4-FFF2-40B4-BE49-F238E27FC236}">
                <a16:creationId xmlns:a16="http://schemas.microsoft.com/office/drawing/2014/main" id="{6796B48B-0C8C-4A16-8D0A-4733580B6FC2}"/>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79438" y="3236210"/>
            <a:ext cx="933775" cy="933775"/>
          </a:xfrm>
          <a:prstGeom prst="rect">
            <a:avLst/>
          </a:prstGeom>
        </p:spPr>
      </p:pic>
      <p:pic>
        <p:nvPicPr>
          <p:cNvPr id="7" name="Graphic 6">
            <a:extLst>
              <a:ext uri="{FF2B5EF4-FFF2-40B4-BE49-F238E27FC236}">
                <a16:creationId xmlns:a16="http://schemas.microsoft.com/office/drawing/2014/main" id="{B9E8276C-AF64-4948-99C2-7AEF24974A99}"/>
              </a:ext>
              <a:ext uri="{C183D7F6-B498-43B3-948B-1728B52AA6E4}">
                <adec:decorative xmlns:adec="http://schemas.microsoft.com/office/drawing/2017/decorative" xmlns="" val="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79438" y="4628582"/>
            <a:ext cx="933775" cy="933775"/>
          </a:xfrm>
          <a:prstGeom prst="rect">
            <a:avLst/>
          </a:prstGeom>
        </p:spPr>
      </p:pic>
    </p:spTree>
    <p:extLst>
      <p:ext uri="{BB962C8B-B14F-4D97-AF65-F5344CB8AC3E}">
        <p14:creationId xmlns:p14="http://schemas.microsoft.com/office/powerpoint/2010/main" val="258128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948C55-432D-4917-9553-C2E5899045EB}"/>
              </a:ext>
            </a:extLst>
          </p:cNvPr>
          <p:cNvSpPr>
            <a:spLocks noGrp="1"/>
          </p:cNvSpPr>
          <p:nvPr>
            <p:ph type="title" idx="4294967295"/>
          </p:nvPr>
        </p:nvSpPr>
        <p:spPr>
          <a:xfrm>
            <a:off x="0" y="-663575"/>
            <a:ext cx="7454900" cy="384175"/>
          </a:xfrm>
        </p:spPr>
        <p:txBody>
          <a:bodyPr/>
          <a:lstStyle/>
          <a:p>
            <a:r>
              <a:rPr lang="pt-BR" sz="2800">
                <a:solidFill>
                  <a:schemeClr val="bg1"/>
                </a:solidFill>
              </a:rPr>
              <a:t>Slide de encerramento</a:t>
            </a:r>
          </a:p>
        </p:txBody>
      </p:sp>
    </p:spTree>
    <p:extLst>
      <p:ext uri="{BB962C8B-B14F-4D97-AF65-F5344CB8AC3E}">
        <p14:creationId xmlns:p14="http://schemas.microsoft.com/office/powerpoint/2010/main" val="4292661361"/>
      </p:ext>
    </p:extLst>
  </p:cSld>
  <p:clrMapOvr>
    <a:masterClrMapping/>
  </p:clrMapOvr>
  <p:transition>
    <p:fade/>
  </p:transition>
</p:sld>
</file>

<file path=ppt/theme/theme1.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52009352-A6C7-428C-AECB-265903B366D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3402</Words>
  <Application>Microsoft Office PowerPoint</Application>
  <PresentationFormat>Widescreen</PresentationFormat>
  <Paragraphs>373</Paragraphs>
  <Slides>17</Slides>
  <Notes>14</Notes>
  <HiddenSlides>0</HiddenSlides>
  <MMClips>0</MMClips>
  <ScaleCrop>false</ScaleCrop>
  <HeadingPairs>
    <vt:vector size="6" baseType="variant">
      <vt:variant>
        <vt:lpstr>Fontes usadas</vt:lpstr>
      </vt:variant>
      <vt:variant>
        <vt:i4>10</vt:i4>
      </vt:variant>
      <vt:variant>
        <vt:lpstr>Tema</vt:lpstr>
      </vt:variant>
      <vt:variant>
        <vt:i4>2</vt:i4>
      </vt:variant>
      <vt:variant>
        <vt:lpstr>Títulos de slides</vt:lpstr>
      </vt:variant>
      <vt:variant>
        <vt:i4>17</vt:i4>
      </vt:variant>
    </vt:vector>
  </HeadingPairs>
  <TitlesOfParts>
    <vt:vector size="29" baseType="lpstr">
      <vt:lpstr>Arial</vt:lpstr>
      <vt:lpstr>Calibri</vt:lpstr>
      <vt:lpstr>Consolas</vt:lpstr>
      <vt:lpstr>Courier New</vt:lpstr>
      <vt:lpstr>Montserrat</vt:lpstr>
      <vt:lpstr>Segoe UI</vt:lpstr>
      <vt:lpstr>Segoe UI Light</vt:lpstr>
      <vt:lpstr>Segoe UI Semibold</vt:lpstr>
      <vt:lpstr>Segoe UI Semilight</vt:lpstr>
      <vt:lpstr>Wingdings</vt:lpstr>
      <vt:lpstr>Microsoft Azure Template</vt:lpstr>
      <vt:lpstr>WHITE TEMPLATE</vt:lpstr>
      <vt:lpstr>Módulo 2: Explorar conceitos básicos dos dados relacionais no Azure</vt:lpstr>
      <vt:lpstr>Agenda</vt:lpstr>
      <vt:lpstr>Lição 1: Explorar conceitos de dados relacionais</vt:lpstr>
      <vt:lpstr>Apresentação do PowerPoint</vt:lpstr>
      <vt:lpstr>Tabelas relacionais</vt:lpstr>
      <vt:lpstr>Normalização</vt:lpstr>
      <vt:lpstr>Apresentação do PowerPoint</vt:lpstr>
      <vt:lpstr>Apresentação do PowerPoint</vt:lpstr>
      <vt:lpstr>Apresentação do PowerPoint</vt:lpstr>
      <vt:lpstr>Linguagem SQL</vt:lpstr>
      <vt:lpstr>Lição 1: Verificação de conhecimento</vt:lpstr>
      <vt:lpstr>Lição 2: Explorar serviços do Azure de dados relacionais</vt:lpstr>
      <vt:lpstr>SQL do Azure</vt:lpstr>
      <vt:lpstr>Serviços de Banco de Dados do Azure para código aberto</vt:lpstr>
      <vt:lpstr>Laboratório: Provisionar serviços de banco de dados relacional do Azure</vt:lpstr>
      <vt:lpstr>Lição 2: Verificação de conhecimento</vt:lpstr>
      <vt:lpstr>Slide de encerramento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2022-03-18T19:10:55Z</dcterms:created>
  <dcterms:modified xsi:type="dcterms:W3CDTF">2022-10-04T13:21:16Z</dcterms:modified>
</cp:coreProperties>
</file>