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372" r:id="rId3"/>
    <p:sldId id="329" r:id="rId4"/>
    <p:sldId id="354" r:id="rId5"/>
    <p:sldId id="344" r:id="rId6"/>
    <p:sldId id="384" r:id="rId7"/>
    <p:sldId id="373" r:id="rId8"/>
    <p:sldId id="374" r:id="rId9"/>
    <p:sldId id="375" r:id="rId10"/>
    <p:sldId id="376" r:id="rId11"/>
    <p:sldId id="387" r:id="rId12"/>
    <p:sldId id="391" r:id="rId13"/>
    <p:sldId id="377" r:id="rId14"/>
    <p:sldId id="378" r:id="rId15"/>
    <p:sldId id="388" r:id="rId16"/>
    <p:sldId id="389" r:id="rId17"/>
    <p:sldId id="379" r:id="rId18"/>
    <p:sldId id="380" r:id="rId19"/>
    <p:sldId id="381" r:id="rId20"/>
    <p:sldId id="386" r:id="rId21"/>
    <p:sldId id="382" r:id="rId22"/>
    <p:sldId id="383" r:id="rId23"/>
    <p:sldId id="390" r:id="rId24"/>
    <p:sldId id="385" r:id="rId2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525"/>
    <a:srgbClr val="A0C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7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5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 userDrawn="1"/>
        </p:nvGrpSpPr>
        <p:grpSpPr>
          <a:xfrm rot="6093728">
            <a:off x="4576147" y="-5034119"/>
            <a:ext cx="2927017" cy="12329825"/>
            <a:chOff x="2928939" y="196161"/>
            <a:chExt cx="4698400" cy="6463472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196161"/>
              <a:ext cx="1013847" cy="2581964"/>
            </a:xfrm>
            <a:custGeom>
              <a:avLst/>
              <a:gdLst>
                <a:gd name="connsiteX0" fmla="*/ 0 w 10000"/>
                <a:gd name="connsiteY0" fmla="*/ 9675 h 10000"/>
                <a:gd name="connsiteX1" fmla="*/ 3358 w 10000"/>
                <a:gd name="connsiteY1" fmla="*/ 10000 h 10000"/>
                <a:gd name="connsiteX2" fmla="*/ 10000 w 10000"/>
                <a:gd name="connsiteY2" fmla="*/ 0 h 10000"/>
                <a:gd name="connsiteX3" fmla="*/ 5953 w 10000"/>
                <a:gd name="connsiteY3" fmla="*/ 790 h 10000"/>
                <a:gd name="connsiteX4" fmla="*/ 0 w 10000"/>
                <a:gd name="connsiteY4" fmla="*/ 9675 h 10000"/>
                <a:gd name="connsiteX0" fmla="*/ 0 w 9532"/>
                <a:gd name="connsiteY0" fmla="*/ 8953 h 9278"/>
                <a:gd name="connsiteX1" fmla="*/ 3358 w 9532"/>
                <a:gd name="connsiteY1" fmla="*/ 9278 h 9278"/>
                <a:gd name="connsiteX2" fmla="*/ 9532 w 9532"/>
                <a:gd name="connsiteY2" fmla="*/ 0 h 9278"/>
                <a:gd name="connsiteX3" fmla="*/ 5953 w 9532"/>
                <a:gd name="connsiteY3" fmla="*/ 68 h 9278"/>
                <a:gd name="connsiteX4" fmla="*/ 0 w 9532"/>
                <a:gd name="connsiteY4" fmla="*/ 8953 h 9278"/>
                <a:gd name="connsiteX0" fmla="*/ 0 w 10000"/>
                <a:gd name="connsiteY0" fmla="*/ 9650 h 10000"/>
                <a:gd name="connsiteX1" fmla="*/ 3523 w 10000"/>
                <a:gd name="connsiteY1" fmla="*/ 10000 h 10000"/>
                <a:gd name="connsiteX2" fmla="*/ 10000 w 10000"/>
                <a:gd name="connsiteY2" fmla="*/ 0 h 10000"/>
                <a:gd name="connsiteX3" fmla="*/ 6223 w 10000"/>
                <a:gd name="connsiteY3" fmla="*/ 83 h 10000"/>
                <a:gd name="connsiteX4" fmla="*/ 0 w 10000"/>
                <a:gd name="connsiteY4" fmla="*/ 965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9650"/>
                  </a:moveTo>
                  <a:lnTo>
                    <a:pt x="3523" y="10000"/>
                  </a:lnTo>
                  <a:lnTo>
                    <a:pt x="10000" y="0"/>
                  </a:lnTo>
                  <a:lnTo>
                    <a:pt x="6223" y="83"/>
                  </a:lnTo>
                  <a:lnTo>
                    <a:pt x="0" y="96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9" y="228621"/>
              <a:ext cx="974499" cy="2439966"/>
            </a:xfrm>
            <a:custGeom>
              <a:avLst/>
              <a:gdLst>
                <a:gd name="connsiteX0" fmla="*/ 3451 w 9415"/>
                <a:gd name="connsiteY0" fmla="*/ 10000 h 10000"/>
                <a:gd name="connsiteX1" fmla="*/ 9415 w 9415"/>
                <a:gd name="connsiteY1" fmla="*/ 873 h 10000"/>
                <a:gd name="connsiteX2" fmla="*/ 6304 w 9415"/>
                <a:gd name="connsiteY2" fmla="*/ 0 h 10000"/>
                <a:gd name="connsiteX3" fmla="*/ 0 w 9415"/>
                <a:gd name="connsiteY3" fmla="*/ 9662 h 10000"/>
                <a:gd name="connsiteX4" fmla="*/ 3359 w 9415"/>
                <a:gd name="connsiteY4" fmla="*/ 9982 h 10000"/>
                <a:gd name="connsiteX5" fmla="*/ 3451 w 9415"/>
                <a:gd name="connsiteY5" fmla="*/ 10000 h 10000"/>
                <a:gd name="connsiteX0" fmla="*/ 3665 w 10000"/>
                <a:gd name="connsiteY0" fmla="*/ 9127 h 9127"/>
                <a:gd name="connsiteX1" fmla="*/ 10000 w 10000"/>
                <a:gd name="connsiteY1" fmla="*/ 0 h 9127"/>
                <a:gd name="connsiteX2" fmla="*/ 6040 w 10000"/>
                <a:gd name="connsiteY2" fmla="*/ 96 h 9127"/>
                <a:gd name="connsiteX3" fmla="*/ 0 w 10000"/>
                <a:gd name="connsiteY3" fmla="*/ 8789 h 9127"/>
                <a:gd name="connsiteX4" fmla="*/ 3568 w 10000"/>
                <a:gd name="connsiteY4" fmla="*/ 9109 h 9127"/>
                <a:gd name="connsiteX5" fmla="*/ 3665 w 10000"/>
                <a:gd name="connsiteY5" fmla="*/ 9127 h 9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9127">
                  <a:moveTo>
                    <a:pt x="3665" y="9127"/>
                  </a:moveTo>
                  <a:lnTo>
                    <a:pt x="10000" y="0"/>
                  </a:lnTo>
                  <a:lnTo>
                    <a:pt x="6040" y="96"/>
                  </a:lnTo>
                  <a:lnTo>
                    <a:pt x="0" y="8789"/>
                  </a:lnTo>
                  <a:lnTo>
                    <a:pt x="3568" y="9109"/>
                  </a:lnTo>
                  <a:lnTo>
                    <a:pt x="3665" y="9127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9" y="2582862"/>
              <a:ext cx="2556630" cy="4076771"/>
            </a:xfrm>
            <a:custGeom>
              <a:avLst/>
              <a:gdLst>
                <a:gd name="connsiteX0" fmla="*/ 0 w 9558"/>
                <a:gd name="connsiteY0" fmla="*/ 0 h 10000"/>
                <a:gd name="connsiteX1" fmla="*/ 9558 w 9558"/>
                <a:gd name="connsiteY1" fmla="*/ 10000 h 10000"/>
                <a:gd name="connsiteX2" fmla="*/ 9490 w 9558"/>
                <a:gd name="connsiteY2" fmla="*/ 9487 h 10000"/>
                <a:gd name="connsiteX3" fmla="*/ 0 w 9558"/>
                <a:gd name="connsiteY3" fmla="*/ 0 h 10000"/>
                <a:gd name="connsiteX0" fmla="*/ 0 w 9929"/>
                <a:gd name="connsiteY0" fmla="*/ 0 h 9536"/>
                <a:gd name="connsiteX1" fmla="*/ 9467 w 9929"/>
                <a:gd name="connsiteY1" fmla="*/ 9487 h 9536"/>
                <a:gd name="connsiteX2" fmla="*/ 9929 w 9929"/>
                <a:gd name="connsiteY2" fmla="*/ 9487 h 9536"/>
                <a:gd name="connsiteX3" fmla="*/ 0 w 9929"/>
                <a:gd name="connsiteY3" fmla="*/ 0 h 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29" h="9536">
                  <a:moveTo>
                    <a:pt x="0" y="0"/>
                  </a:moveTo>
                  <a:lnTo>
                    <a:pt x="9467" y="9487"/>
                  </a:lnTo>
                  <a:cubicBezTo>
                    <a:pt x="9443" y="9316"/>
                    <a:pt x="9953" y="9658"/>
                    <a:pt x="9929" y="948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122225" cy="3900251"/>
            </a:xfrm>
            <a:custGeom>
              <a:avLst/>
              <a:gdLst>
                <a:gd name="connsiteX0" fmla="*/ 9370 w 9628"/>
                <a:gd name="connsiteY0" fmla="*/ 9339 h 10000"/>
                <a:gd name="connsiteX1" fmla="*/ 0 w 9628"/>
                <a:gd name="connsiteY1" fmla="*/ 0 h 10000"/>
                <a:gd name="connsiteX2" fmla="*/ 9628 w 9628"/>
                <a:gd name="connsiteY2" fmla="*/ 10000 h 10000"/>
                <a:gd name="connsiteX3" fmla="*/ 9370 w 9628"/>
                <a:gd name="connsiteY3" fmla="*/ 9339 h 10000"/>
                <a:gd name="connsiteX0" fmla="*/ 9732 w 9732"/>
                <a:gd name="connsiteY0" fmla="*/ 9339 h 9363"/>
                <a:gd name="connsiteX1" fmla="*/ 0 w 9732"/>
                <a:gd name="connsiteY1" fmla="*/ 0 h 9363"/>
                <a:gd name="connsiteX2" fmla="*/ 9443 w 9732"/>
                <a:gd name="connsiteY2" fmla="*/ 9363 h 9363"/>
                <a:gd name="connsiteX3" fmla="*/ 9732 w 9732"/>
                <a:gd name="connsiteY3" fmla="*/ 9339 h 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32" h="9363">
                  <a:moveTo>
                    <a:pt x="9732" y="9339"/>
                  </a:moveTo>
                  <a:lnTo>
                    <a:pt x="0" y="0"/>
                  </a:lnTo>
                  <a:lnTo>
                    <a:pt x="9443" y="9363"/>
                  </a:lnTo>
                  <a:lnTo>
                    <a:pt x="9732" y="93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7" y="2687637"/>
              <a:ext cx="4260252" cy="3900155"/>
            </a:xfrm>
            <a:custGeom>
              <a:avLst/>
              <a:gdLst>
                <a:gd name="connsiteX0" fmla="*/ 0 w 10000"/>
                <a:gd name="connsiteY0" fmla="*/ 0 h 10000"/>
                <a:gd name="connsiteX1" fmla="*/ 10 w 10000"/>
                <a:gd name="connsiteY1" fmla="*/ 11 h 10000"/>
                <a:gd name="connsiteX2" fmla="*/ 6891 w 10000"/>
                <a:gd name="connsiteY2" fmla="*/ 9418 h 10000"/>
                <a:gd name="connsiteX3" fmla="*/ 10000 w 10000"/>
                <a:gd name="connsiteY3" fmla="*/ 10000 h 10000"/>
                <a:gd name="connsiteX4" fmla="*/ 780 w 10000"/>
                <a:gd name="connsiteY4" fmla="*/ 217 h 10000"/>
                <a:gd name="connsiteX5" fmla="*/ 0 w 10000"/>
                <a:gd name="connsiteY5" fmla="*/ 0 h 10000"/>
                <a:gd name="connsiteX0" fmla="*/ 0 w 9375"/>
                <a:gd name="connsiteY0" fmla="*/ 0 h 9418"/>
                <a:gd name="connsiteX1" fmla="*/ 10 w 9375"/>
                <a:gd name="connsiteY1" fmla="*/ 11 h 9418"/>
                <a:gd name="connsiteX2" fmla="*/ 6891 w 9375"/>
                <a:gd name="connsiteY2" fmla="*/ 9418 h 9418"/>
                <a:gd name="connsiteX3" fmla="*/ 9375 w 9375"/>
                <a:gd name="connsiteY3" fmla="*/ 9264 h 9418"/>
                <a:gd name="connsiteX4" fmla="*/ 780 w 9375"/>
                <a:gd name="connsiteY4" fmla="*/ 217 h 9418"/>
                <a:gd name="connsiteX5" fmla="*/ 0 w 9375"/>
                <a:gd name="connsiteY5" fmla="*/ 0 h 9418"/>
                <a:gd name="connsiteX0" fmla="*/ 0 w 9929"/>
                <a:gd name="connsiteY0" fmla="*/ 0 h 10000"/>
                <a:gd name="connsiteX1" fmla="*/ 11 w 9929"/>
                <a:gd name="connsiteY1" fmla="*/ 12 h 10000"/>
                <a:gd name="connsiteX2" fmla="*/ 7350 w 9929"/>
                <a:gd name="connsiteY2" fmla="*/ 10000 h 10000"/>
                <a:gd name="connsiteX3" fmla="*/ 9929 w 9929"/>
                <a:gd name="connsiteY3" fmla="*/ 9711 h 10000"/>
                <a:gd name="connsiteX4" fmla="*/ 832 w 9929"/>
                <a:gd name="connsiteY4" fmla="*/ 230 h 10000"/>
                <a:gd name="connsiteX5" fmla="*/ 0 w 9929"/>
                <a:gd name="connsiteY5" fmla="*/ 0 h 10000"/>
                <a:gd name="connsiteX0" fmla="*/ 0 w 10000"/>
                <a:gd name="connsiteY0" fmla="*/ 0 h 9930"/>
                <a:gd name="connsiteX1" fmla="*/ 11 w 10000"/>
                <a:gd name="connsiteY1" fmla="*/ 12 h 9930"/>
                <a:gd name="connsiteX2" fmla="*/ 7290 w 10000"/>
                <a:gd name="connsiteY2" fmla="*/ 9930 h 9930"/>
                <a:gd name="connsiteX3" fmla="*/ 10000 w 10000"/>
                <a:gd name="connsiteY3" fmla="*/ 9711 h 9930"/>
                <a:gd name="connsiteX4" fmla="*/ 838 w 10000"/>
                <a:gd name="connsiteY4" fmla="*/ 230 h 9930"/>
                <a:gd name="connsiteX5" fmla="*/ 0 w 10000"/>
                <a:gd name="connsiteY5" fmla="*/ 0 h 9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9930">
                  <a:moveTo>
                    <a:pt x="0" y="0"/>
                  </a:moveTo>
                  <a:cubicBezTo>
                    <a:pt x="3" y="4"/>
                    <a:pt x="7" y="7"/>
                    <a:pt x="11" y="12"/>
                  </a:cubicBezTo>
                  <a:lnTo>
                    <a:pt x="7290" y="9930"/>
                  </a:lnTo>
                  <a:lnTo>
                    <a:pt x="10000" y="9711"/>
                  </a:lnTo>
                  <a:lnTo>
                    <a:pt x="838" y="2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9" y="2578100"/>
              <a:ext cx="3345841" cy="4068473"/>
            </a:xfrm>
            <a:custGeom>
              <a:avLst/>
              <a:gdLst>
                <a:gd name="connsiteX0" fmla="*/ 9334 w 9334"/>
                <a:gd name="connsiteY0" fmla="*/ 9389 h 10000"/>
                <a:gd name="connsiteX1" fmla="*/ 1169 w 9334"/>
                <a:gd name="connsiteY1" fmla="*/ 412 h 10000"/>
                <a:gd name="connsiteX2" fmla="*/ 1010 w 9334"/>
                <a:gd name="connsiteY2" fmla="*/ 223 h 10000"/>
                <a:gd name="connsiteX3" fmla="*/ 996 w 9334"/>
                <a:gd name="connsiteY3" fmla="*/ 211 h 10000"/>
                <a:gd name="connsiteX4" fmla="*/ 0 w 9334"/>
                <a:gd name="connsiteY4" fmla="*/ 0 h 10000"/>
                <a:gd name="connsiteX5" fmla="*/ 0 w 9334"/>
                <a:gd name="connsiteY5" fmla="*/ 11 h 10000"/>
                <a:gd name="connsiteX6" fmla="*/ 7516 w 9334"/>
                <a:gd name="connsiteY6" fmla="*/ 10000 h 10000"/>
                <a:gd name="connsiteX7" fmla="*/ 9334 w 9334"/>
                <a:gd name="connsiteY7" fmla="*/ 9389 h 10000"/>
                <a:gd name="connsiteX0" fmla="*/ 10000 w 10000"/>
                <a:gd name="connsiteY0" fmla="*/ 9389 h 9506"/>
                <a:gd name="connsiteX1" fmla="*/ 1252 w 10000"/>
                <a:gd name="connsiteY1" fmla="*/ 412 h 9506"/>
                <a:gd name="connsiteX2" fmla="*/ 1082 w 10000"/>
                <a:gd name="connsiteY2" fmla="*/ 223 h 9506"/>
                <a:gd name="connsiteX3" fmla="*/ 1067 w 10000"/>
                <a:gd name="connsiteY3" fmla="*/ 211 h 9506"/>
                <a:gd name="connsiteX4" fmla="*/ 0 w 10000"/>
                <a:gd name="connsiteY4" fmla="*/ 0 h 9506"/>
                <a:gd name="connsiteX5" fmla="*/ 0 w 10000"/>
                <a:gd name="connsiteY5" fmla="*/ 11 h 9506"/>
                <a:gd name="connsiteX6" fmla="*/ 7656 w 10000"/>
                <a:gd name="connsiteY6" fmla="*/ 9506 h 9506"/>
                <a:gd name="connsiteX7" fmla="*/ 10000 w 10000"/>
                <a:gd name="connsiteY7" fmla="*/ 9389 h 9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00" h="9506">
                  <a:moveTo>
                    <a:pt x="10000" y="9389"/>
                  </a:moveTo>
                  <a:lnTo>
                    <a:pt x="1252" y="412"/>
                  </a:lnTo>
                  <a:lnTo>
                    <a:pt x="1082" y="223"/>
                  </a:lnTo>
                  <a:lnTo>
                    <a:pt x="1067" y="211"/>
                  </a:lnTo>
                  <a:lnTo>
                    <a:pt x="0" y="0"/>
                  </a:lnTo>
                  <a:lnTo>
                    <a:pt x="0" y="11"/>
                  </a:lnTo>
                  <a:lnTo>
                    <a:pt x="7656" y="9506"/>
                  </a:lnTo>
                  <a:lnTo>
                    <a:pt x="10000" y="9389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6C9B0-5123-4BBA-ABBB-98C818F5A1A8}" type="datetimeFigureOut">
              <a:rPr lang="pt-BR" smtClean="0"/>
              <a:t>10/09/2022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B403-909B-4CDC-B13D-41F432307764}" type="slidenum">
              <a:rPr lang="pt-BR" smtClean="0"/>
              <a:t>‹nº›</a:t>
            </a:fld>
            <a:endParaRPr lang="pt-BR"/>
          </a:p>
        </p:txBody>
      </p:sp>
      <p:grpSp>
        <p:nvGrpSpPr>
          <p:cNvPr id="35" name="Group 18"/>
          <p:cNvGrpSpPr/>
          <p:nvPr userDrawn="1"/>
        </p:nvGrpSpPr>
        <p:grpSpPr>
          <a:xfrm rot="16865565">
            <a:off x="4691646" y="-421173"/>
            <a:ext cx="2927017" cy="12329825"/>
            <a:chOff x="2928939" y="196161"/>
            <a:chExt cx="4698400" cy="6463472"/>
          </a:xfrm>
        </p:grpSpPr>
        <p:sp>
          <p:nvSpPr>
            <p:cNvPr id="36" name="Freeform 6"/>
            <p:cNvSpPr/>
            <p:nvPr/>
          </p:nvSpPr>
          <p:spPr bwMode="auto">
            <a:xfrm>
              <a:off x="3367088" y="196161"/>
              <a:ext cx="1013847" cy="2581964"/>
            </a:xfrm>
            <a:custGeom>
              <a:avLst/>
              <a:gdLst>
                <a:gd name="connsiteX0" fmla="*/ 0 w 10000"/>
                <a:gd name="connsiteY0" fmla="*/ 9675 h 10000"/>
                <a:gd name="connsiteX1" fmla="*/ 3358 w 10000"/>
                <a:gd name="connsiteY1" fmla="*/ 10000 h 10000"/>
                <a:gd name="connsiteX2" fmla="*/ 10000 w 10000"/>
                <a:gd name="connsiteY2" fmla="*/ 0 h 10000"/>
                <a:gd name="connsiteX3" fmla="*/ 5953 w 10000"/>
                <a:gd name="connsiteY3" fmla="*/ 790 h 10000"/>
                <a:gd name="connsiteX4" fmla="*/ 0 w 10000"/>
                <a:gd name="connsiteY4" fmla="*/ 9675 h 10000"/>
                <a:gd name="connsiteX0" fmla="*/ 0 w 9532"/>
                <a:gd name="connsiteY0" fmla="*/ 8953 h 9278"/>
                <a:gd name="connsiteX1" fmla="*/ 3358 w 9532"/>
                <a:gd name="connsiteY1" fmla="*/ 9278 h 9278"/>
                <a:gd name="connsiteX2" fmla="*/ 9532 w 9532"/>
                <a:gd name="connsiteY2" fmla="*/ 0 h 9278"/>
                <a:gd name="connsiteX3" fmla="*/ 5953 w 9532"/>
                <a:gd name="connsiteY3" fmla="*/ 68 h 9278"/>
                <a:gd name="connsiteX4" fmla="*/ 0 w 9532"/>
                <a:gd name="connsiteY4" fmla="*/ 8953 h 9278"/>
                <a:gd name="connsiteX0" fmla="*/ 0 w 10000"/>
                <a:gd name="connsiteY0" fmla="*/ 9650 h 10000"/>
                <a:gd name="connsiteX1" fmla="*/ 3523 w 10000"/>
                <a:gd name="connsiteY1" fmla="*/ 10000 h 10000"/>
                <a:gd name="connsiteX2" fmla="*/ 10000 w 10000"/>
                <a:gd name="connsiteY2" fmla="*/ 0 h 10000"/>
                <a:gd name="connsiteX3" fmla="*/ 6223 w 10000"/>
                <a:gd name="connsiteY3" fmla="*/ 83 h 10000"/>
                <a:gd name="connsiteX4" fmla="*/ 0 w 10000"/>
                <a:gd name="connsiteY4" fmla="*/ 965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9650"/>
                  </a:moveTo>
                  <a:lnTo>
                    <a:pt x="3523" y="10000"/>
                  </a:lnTo>
                  <a:lnTo>
                    <a:pt x="10000" y="0"/>
                  </a:lnTo>
                  <a:lnTo>
                    <a:pt x="6223" y="83"/>
                  </a:lnTo>
                  <a:lnTo>
                    <a:pt x="0" y="96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7" name="Freeform 7"/>
            <p:cNvSpPr/>
            <p:nvPr/>
          </p:nvSpPr>
          <p:spPr bwMode="auto">
            <a:xfrm>
              <a:off x="2928939" y="228621"/>
              <a:ext cx="974499" cy="2439966"/>
            </a:xfrm>
            <a:custGeom>
              <a:avLst/>
              <a:gdLst>
                <a:gd name="connsiteX0" fmla="*/ 3451 w 9415"/>
                <a:gd name="connsiteY0" fmla="*/ 10000 h 10000"/>
                <a:gd name="connsiteX1" fmla="*/ 9415 w 9415"/>
                <a:gd name="connsiteY1" fmla="*/ 873 h 10000"/>
                <a:gd name="connsiteX2" fmla="*/ 6304 w 9415"/>
                <a:gd name="connsiteY2" fmla="*/ 0 h 10000"/>
                <a:gd name="connsiteX3" fmla="*/ 0 w 9415"/>
                <a:gd name="connsiteY3" fmla="*/ 9662 h 10000"/>
                <a:gd name="connsiteX4" fmla="*/ 3359 w 9415"/>
                <a:gd name="connsiteY4" fmla="*/ 9982 h 10000"/>
                <a:gd name="connsiteX5" fmla="*/ 3451 w 9415"/>
                <a:gd name="connsiteY5" fmla="*/ 10000 h 10000"/>
                <a:gd name="connsiteX0" fmla="*/ 3665 w 10000"/>
                <a:gd name="connsiteY0" fmla="*/ 9127 h 9127"/>
                <a:gd name="connsiteX1" fmla="*/ 10000 w 10000"/>
                <a:gd name="connsiteY1" fmla="*/ 0 h 9127"/>
                <a:gd name="connsiteX2" fmla="*/ 6040 w 10000"/>
                <a:gd name="connsiteY2" fmla="*/ 96 h 9127"/>
                <a:gd name="connsiteX3" fmla="*/ 0 w 10000"/>
                <a:gd name="connsiteY3" fmla="*/ 8789 h 9127"/>
                <a:gd name="connsiteX4" fmla="*/ 3568 w 10000"/>
                <a:gd name="connsiteY4" fmla="*/ 9109 h 9127"/>
                <a:gd name="connsiteX5" fmla="*/ 3665 w 10000"/>
                <a:gd name="connsiteY5" fmla="*/ 9127 h 9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9127">
                  <a:moveTo>
                    <a:pt x="3665" y="9127"/>
                  </a:moveTo>
                  <a:lnTo>
                    <a:pt x="10000" y="0"/>
                  </a:lnTo>
                  <a:lnTo>
                    <a:pt x="6040" y="96"/>
                  </a:lnTo>
                  <a:lnTo>
                    <a:pt x="0" y="8789"/>
                  </a:lnTo>
                  <a:lnTo>
                    <a:pt x="3568" y="9109"/>
                  </a:lnTo>
                  <a:lnTo>
                    <a:pt x="3665" y="9127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38" name="Freeform 9"/>
            <p:cNvSpPr/>
            <p:nvPr/>
          </p:nvSpPr>
          <p:spPr bwMode="auto">
            <a:xfrm>
              <a:off x="2928939" y="2582862"/>
              <a:ext cx="2556630" cy="4076771"/>
            </a:xfrm>
            <a:custGeom>
              <a:avLst/>
              <a:gdLst>
                <a:gd name="connsiteX0" fmla="*/ 0 w 9558"/>
                <a:gd name="connsiteY0" fmla="*/ 0 h 10000"/>
                <a:gd name="connsiteX1" fmla="*/ 9558 w 9558"/>
                <a:gd name="connsiteY1" fmla="*/ 10000 h 10000"/>
                <a:gd name="connsiteX2" fmla="*/ 9490 w 9558"/>
                <a:gd name="connsiteY2" fmla="*/ 9487 h 10000"/>
                <a:gd name="connsiteX3" fmla="*/ 0 w 9558"/>
                <a:gd name="connsiteY3" fmla="*/ 0 h 10000"/>
                <a:gd name="connsiteX0" fmla="*/ 0 w 9929"/>
                <a:gd name="connsiteY0" fmla="*/ 0 h 9536"/>
                <a:gd name="connsiteX1" fmla="*/ 9467 w 9929"/>
                <a:gd name="connsiteY1" fmla="*/ 9487 h 9536"/>
                <a:gd name="connsiteX2" fmla="*/ 9929 w 9929"/>
                <a:gd name="connsiteY2" fmla="*/ 9487 h 9536"/>
                <a:gd name="connsiteX3" fmla="*/ 0 w 9929"/>
                <a:gd name="connsiteY3" fmla="*/ 0 h 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29" h="9536">
                  <a:moveTo>
                    <a:pt x="0" y="0"/>
                  </a:moveTo>
                  <a:lnTo>
                    <a:pt x="9467" y="9487"/>
                  </a:lnTo>
                  <a:cubicBezTo>
                    <a:pt x="9443" y="9316"/>
                    <a:pt x="9953" y="9658"/>
                    <a:pt x="9929" y="948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39" name="Freeform 10"/>
            <p:cNvSpPr/>
            <p:nvPr/>
          </p:nvSpPr>
          <p:spPr bwMode="auto">
            <a:xfrm>
              <a:off x="3371850" y="2692400"/>
              <a:ext cx="3122225" cy="3900251"/>
            </a:xfrm>
            <a:custGeom>
              <a:avLst/>
              <a:gdLst>
                <a:gd name="connsiteX0" fmla="*/ 9370 w 9628"/>
                <a:gd name="connsiteY0" fmla="*/ 9339 h 10000"/>
                <a:gd name="connsiteX1" fmla="*/ 0 w 9628"/>
                <a:gd name="connsiteY1" fmla="*/ 0 h 10000"/>
                <a:gd name="connsiteX2" fmla="*/ 9628 w 9628"/>
                <a:gd name="connsiteY2" fmla="*/ 10000 h 10000"/>
                <a:gd name="connsiteX3" fmla="*/ 9370 w 9628"/>
                <a:gd name="connsiteY3" fmla="*/ 9339 h 10000"/>
                <a:gd name="connsiteX0" fmla="*/ 9732 w 9732"/>
                <a:gd name="connsiteY0" fmla="*/ 9339 h 9363"/>
                <a:gd name="connsiteX1" fmla="*/ 0 w 9732"/>
                <a:gd name="connsiteY1" fmla="*/ 0 h 9363"/>
                <a:gd name="connsiteX2" fmla="*/ 9443 w 9732"/>
                <a:gd name="connsiteY2" fmla="*/ 9363 h 9363"/>
                <a:gd name="connsiteX3" fmla="*/ 9732 w 9732"/>
                <a:gd name="connsiteY3" fmla="*/ 9339 h 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32" h="9363">
                  <a:moveTo>
                    <a:pt x="9732" y="9339"/>
                  </a:moveTo>
                  <a:lnTo>
                    <a:pt x="0" y="0"/>
                  </a:lnTo>
                  <a:lnTo>
                    <a:pt x="9443" y="9363"/>
                  </a:lnTo>
                  <a:lnTo>
                    <a:pt x="9732" y="93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40" name="Freeform 11"/>
            <p:cNvSpPr/>
            <p:nvPr/>
          </p:nvSpPr>
          <p:spPr bwMode="auto">
            <a:xfrm>
              <a:off x="3367087" y="2687637"/>
              <a:ext cx="4260252" cy="3900155"/>
            </a:xfrm>
            <a:custGeom>
              <a:avLst/>
              <a:gdLst>
                <a:gd name="connsiteX0" fmla="*/ 0 w 10000"/>
                <a:gd name="connsiteY0" fmla="*/ 0 h 10000"/>
                <a:gd name="connsiteX1" fmla="*/ 10 w 10000"/>
                <a:gd name="connsiteY1" fmla="*/ 11 h 10000"/>
                <a:gd name="connsiteX2" fmla="*/ 6891 w 10000"/>
                <a:gd name="connsiteY2" fmla="*/ 9418 h 10000"/>
                <a:gd name="connsiteX3" fmla="*/ 10000 w 10000"/>
                <a:gd name="connsiteY3" fmla="*/ 10000 h 10000"/>
                <a:gd name="connsiteX4" fmla="*/ 780 w 10000"/>
                <a:gd name="connsiteY4" fmla="*/ 217 h 10000"/>
                <a:gd name="connsiteX5" fmla="*/ 0 w 10000"/>
                <a:gd name="connsiteY5" fmla="*/ 0 h 10000"/>
                <a:gd name="connsiteX0" fmla="*/ 0 w 9375"/>
                <a:gd name="connsiteY0" fmla="*/ 0 h 9418"/>
                <a:gd name="connsiteX1" fmla="*/ 10 w 9375"/>
                <a:gd name="connsiteY1" fmla="*/ 11 h 9418"/>
                <a:gd name="connsiteX2" fmla="*/ 6891 w 9375"/>
                <a:gd name="connsiteY2" fmla="*/ 9418 h 9418"/>
                <a:gd name="connsiteX3" fmla="*/ 9375 w 9375"/>
                <a:gd name="connsiteY3" fmla="*/ 9264 h 9418"/>
                <a:gd name="connsiteX4" fmla="*/ 780 w 9375"/>
                <a:gd name="connsiteY4" fmla="*/ 217 h 9418"/>
                <a:gd name="connsiteX5" fmla="*/ 0 w 9375"/>
                <a:gd name="connsiteY5" fmla="*/ 0 h 9418"/>
                <a:gd name="connsiteX0" fmla="*/ 0 w 9929"/>
                <a:gd name="connsiteY0" fmla="*/ 0 h 10000"/>
                <a:gd name="connsiteX1" fmla="*/ 11 w 9929"/>
                <a:gd name="connsiteY1" fmla="*/ 12 h 10000"/>
                <a:gd name="connsiteX2" fmla="*/ 7350 w 9929"/>
                <a:gd name="connsiteY2" fmla="*/ 10000 h 10000"/>
                <a:gd name="connsiteX3" fmla="*/ 9929 w 9929"/>
                <a:gd name="connsiteY3" fmla="*/ 9711 h 10000"/>
                <a:gd name="connsiteX4" fmla="*/ 832 w 9929"/>
                <a:gd name="connsiteY4" fmla="*/ 230 h 10000"/>
                <a:gd name="connsiteX5" fmla="*/ 0 w 9929"/>
                <a:gd name="connsiteY5" fmla="*/ 0 h 10000"/>
                <a:gd name="connsiteX0" fmla="*/ 0 w 10000"/>
                <a:gd name="connsiteY0" fmla="*/ 0 h 9930"/>
                <a:gd name="connsiteX1" fmla="*/ 11 w 10000"/>
                <a:gd name="connsiteY1" fmla="*/ 12 h 9930"/>
                <a:gd name="connsiteX2" fmla="*/ 7290 w 10000"/>
                <a:gd name="connsiteY2" fmla="*/ 9930 h 9930"/>
                <a:gd name="connsiteX3" fmla="*/ 10000 w 10000"/>
                <a:gd name="connsiteY3" fmla="*/ 9711 h 9930"/>
                <a:gd name="connsiteX4" fmla="*/ 838 w 10000"/>
                <a:gd name="connsiteY4" fmla="*/ 230 h 9930"/>
                <a:gd name="connsiteX5" fmla="*/ 0 w 10000"/>
                <a:gd name="connsiteY5" fmla="*/ 0 h 9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9930">
                  <a:moveTo>
                    <a:pt x="0" y="0"/>
                  </a:moveTo>
                  <a:cubicBezTo>
                    <a:pt x="3" y="4"/>
                    <a:pt x="7" y="7"/>
                    <a:pt x="11" y="12"/>
                  </a:cubicBezTo>
                  <a:lnTo>
                    <a:pt x="7290" y="9930"/>
                  </a:lnTo>
                  <a:lnTo>
                    <a:pt x="10000" y="9711"/>
                  </a:lnTo>
                  <a:lnTo>
                    <a:pt x="838" y="2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41" name="Freeform 12"/>
            <p:cNvSpPr/>
            <p:nvPr/>
          </p:nvSpPr>
          <p:spPr bwMode="auto">
            <a:xfrm>
              <a:off x="2928939" y="2578100"/>
              <a:ext cx="3345841" cy="4068473"/>
            </a:xfrm>
            <a:custGeom>
              <a:avLst/>
              <a:gdLst>
                <a:gd name="connsiteX0" fmla="*/ 9334 w 9334"/>
                <a:gd name="connsiteY0" fmla="*/ 9389 h 10000"/>
                <a:gd name="connsiteX1" fmla="*/ 1169 w 9334"/>
                <a:gd name="connsiteY1" fmla="*/ 412 h 10000"/>
                <a:gd name="connsiteX2" fmla="*/ 1010 w 9334"/>
                <a:gd name="connsiteY2" fmla="*/ 223 h 10000"/>
                <a:gd name="connsiteX3" fmla="*/ 996 w 9334"/>
                <a:gd name="connsiteY3" fmla="*/ 211 h 10000"/>
                <a:gd name="connsiteX4" fmla="*/ 0 w 9334"/>
                <a:gd name="connsiteY4" fmla="*/ 0 h 10000"/>
                <a:gd name="connsiteX5" fmla="*/ 0 w 9334"/>
                <a:gd name="connsiteY5" fmla="*/ 11 h 10000"/>
                <a:gd name="connsiteX6" fmla="*/ 7516 w 9334"/>
                <a:gd name="connsiteY6" fmla="*/ 10000 h 10000"/>
                <a:gd name="connsiteX7" fmla="*/ 9334 w 9334"/>
                <a:gd name="connsiteY7" fmla="*/ 9389 h 10000"/>
                <a:gd name="connsiteX0" fmla="*/ 10000 w 10000"/>
                <a:gd name="connsiteY0" fmla="*/ 9389 h 9506"/>
                <a:gd name="connsiteX1" fmla="*/ 1252 w 10000"/>
                <a:gd name="connsiteY1" fmla="*/ 412 h 9506"/>
                <a:gd name="connsiteX2" fmla="*/ 1082 w 10000"/>
                <a:gd name="connsiteY2" fmla="*/ 223 h 9506"/>
                <a:gd name="connsiteX3" fmla="*/ 1067 w 10000"/>
                <a:gd name="connsiteY3" fmla="*/ 211 h 9506"/>
                <a:gd name="connsiteX4" fmla="*/ 0 w 10000"/>
                <a:gd name="connsiteY4" fmla="*/ 0 h 9506"/>
                <a:gd name="connsiteX5" fmla="*/ 0 w 10000"/>
                <a:gd name="connsiteY5" fmla="*/ 11 h 9506"/>
                <a:gd name="connsiteX6" fmla="*/ 7656 w 10000"/>
                <a:gd name="connsiteY6" fmla="*/ 9506 h 9506"/>
                <a:gd name="connsiteX7" fmla="*/ 10000 w 10000"/>
                <a:gd name="connsiteY7" fmla="*/ 9389 h 9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00" h="9506">
                  <a:moveTo>
                    <a:pt x="10000" y="9389"/>
                  </a:moveTo>
                  <a:lnTo>
                    <a:pt x="1252" y="412"/>
                  </a:lnTo>
                  <a:lnTo>
                    <a:pt x="1082" y="223"/>
                  </a:lnTo>
                  <a:lnTo>
                    <a:pt x="1067" y="211"/>
                  </a:lnTo>
                  <a:lnTo>
                    <a:pt x="0" y="0"/>
                  </a:lnTo>
                  <a:lnTo>
                    <a:pt x="0" y="11"/>
                  </a:lnTo>
                  <a:lnTo>
                    <a:pt x="7656" y="9506"/>
                  </a:lnTo>
                  <a:lnTo>
                    <a:pt x="10000" y="9389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</p:spTree>
    <p:extLst>
      <p:ext uri="{BB962C8B-B14F-4D97-AF65-F5344CB8AC3E}">
        <p14:creationId xmlns:p14="http://schemas.microsoft.com/office/powerpoint/2010/main" val="1702137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099" y="720725"/>
            <a:ext cx="11353801" cy="137477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2301876"/>
            <a:ext cx="11353800" cy="3430451"/>
          </a:xfrm>
        </p:spPr>
        <p:txBody>
          <a:bodyPr anchor="ctr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6C9B0-5123-4BBA-ABBB-98C818F5A1A8}" type="datetimeFigureOut">
              <a:rPr lang="pt-BR" smtClean="0"/>
              <a:t>10/09/2022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28DBB403-909B-4CDC-B13D-41F4323077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9861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6C9B0-5123-4BBA-ABBB-98C818F5A1A8}" type="datetimeFigureOut">
              <a:rPr lang="pt-BR" smtClean="0"/>
              <a:t>10/09/2022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B403-909B-4CDC-B13D-41F4323077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3723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6C9B0-5123-4BBA-ABBB-98C818F5A1A8}" type="datetimeFigureOut">
              <a:rPr lang="pt-BR" smtClean="0"/>
              <a:t>10/09/2022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B403-909B-4CDC-B13D-41F4323077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6812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6C9B0-5123-4BBA-ABBB-98C818F5A1A8}" type="datetimeFigureOut">
              <a:rPr lang="pt-BR" smtClean="0"/>
              <a:t>10/09/2022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B403-909B-4CDC-B13D-41F4323077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8790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6C9B0-5123-4BBA-ABBB-98C818F5A1A8}" type="datetimeFigureOut">
              <a:rPr lang="pt-BR" smtClean="0"/>
              <a:t>10/09/2022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B403-909B-4CDC-B13D-41F4323077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8916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6C9B0-5123-4BBA-ABBB-98C818F5A1A8}" type="datetimeFigureOut">
              <a:rPr lang="pt-BR" smtClean="0"/>
              <a:t>10/09/2022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B403-909B-4CDC-B13D-41F4323077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2841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6C9B0-5123-4BBA-ABBB-98C818F5A1A8}" type="datetimeFigureOut">
              <a:rPr lang="pt-BR" smtClean="0"/>
              <a:t>10/09/2022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B403-909B-4CDC-B13D-41F4323077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9336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6C9B0-5123-4BBA-ABBB-98C818F5A1A8}" type="datetimeFigureOut">
              <a:rPr lang="pt-BR" smtClean="0"/>
              <a:t>10/09/2022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B403-909B-4CDC-B13D-41F4323077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0115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6C9B0-5123-4BBA-ABBB-98C818F5A1A8}" type="datetimeFigureOut">
              <a:rPr lang="pt-BR" smtClean="0"/>
              <a:t>10/09/2022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B403-909B-4CDC-B13D-41F4323077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6304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6C9B0-5123-4BBA-ABBB-98C818F5A1A8}" type="datetimeFigureOut">
              <a:rPr lang="pt-BR" smtClean="0"/>
              <a:t>10/09/2022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B403-909B-4CDC-B13D-41F4323077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3721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6C9B0-5123-4BBA-ABBB-98C818F5A1A8}" type="datetimeFigureOut">
              <a:rPr lang="pt-BR" smtClean="0"/>
              <a:t>10/09/2022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B403-909B-4CDC-B13D-41F4323077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73789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6C9B0-5123-4BBA-ABBB-98C818F5A1A8}" type="datetimeFigureOut">
              <a:rPr lang="pt-BR" smtClean="0"/>
              <a:t>10/09/2022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B403-909B-4CDC-B13D-41F4323077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41663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6C9B0-5123-4BBA-ABBB-98C818F5A1A8}" type="datetimeFigureOut">
              <a:rPr lang="pt-BR" smtClean="0"/>
              <a:t>10/09/2022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B403-909B-4CDC-B13D-41F4323077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5575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6C9B0-5123-4BBA-ABBB-98C818F5A1A8}" type="datetimeFigureOut">
              <a:rPr lang="pt-BR" smtClean="0"/>
              <a:t>10/09/2022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B403-909B-4CDC-B13D-41F4323077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9349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6C9B0-5123-4BBA-ABBB-98C818F5A1A8}" type="datetimeFigureOut">
              <a:rPr lang="pt-BR" smtClean="0"/>
              <a:t>10/09/2022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B403-909B-4CDC-B13D-41F4323077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64688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6C9B0-5123-4BBA-ABBB-98C818F5A1A8}" type="datetimeFigureOut">
              <a:rPr lang="pt-BR" smtClean="0"/>
              <a:t>10/09/2022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B403-909B-4CDC-B13D-41F4323077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3277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 rot="5400000">
            <a:off x="5553473" y="-5495528"/>
            <a:ext cx="1085056" cy="12192000"/>
            <a:chOff x="1320800" y="0"/>
            <a:chExt cx="2436813" cy="6858001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9F6C9B0-5123-4BBA-ABBB-98C818F5A1A8}" type="datetimeFigureOut">
              <a:rPr lang="pt-BR" smtClean="0"/>
              <a:t>10/09/2022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8DBB403-909B-4CDC-B13D-41F432307764}" type="slidenum">
              <a:rPr lang="pt-BR" smtClean="0"/>
              <a:t>‹nº›</a:t>
            </a:fld>
            <a:endParaRPr lang="pt-BR"/>
          </a:p>
        </p:txBody>
      </p:sp>
      <p:grpSp>
        <p:nvGrpSpPr>
          <p:cNvPr id="14" name="Group 6"/>
          <p:cNvGrpSpPr/>
          <p:nvPr userDrawn="1"/>
        </p:nvGrpSpPr>
        <p:grpSpPr>
          <a:xfrm rot="16200000">
            <a:off x="5534423" y="240863"/>
            <a:ext cx="1085056" cy="12192000"/>
            <a:chOff x="1320800" y="0"/>
            <a:chExt cx="2436813" cy="6858001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</p:grpSpPr>
        <p:sp>
          <p:nvSpPr>
            <p:cNvPr id="15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grpFill/>
            <a:ln>
              <a:noFill/>
            </a:ln>
          </p:spPr>
        </p:sp>
      </p:grpSp>
    </p:spTree>
    <p:extLst>
      <p:ext uri="{BB962C8B-B14F-4D97-AF65-F5344CB8AC3E}">
        <p14:creationId xmlns:p14="http://schemas.microsoft.com/office/powerpoint/2010/main" val="856097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97025" y="1394885"/>
            <a:ext cx="10348747" cy="2616199"/>
          </a:xfrm>
        </p:spPr>
        <p:txBody>
          <a:bodyPr anchor="ctr">
            <a:normAutofit/>
          </a:bodyPr>
          <a:lstStyle/>
          <a:p>
            <a:r>
              <a:rPr lang="pt-BR" sz="8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Linguagem </a:t>
            </a:r>
            <a:r>
              <a:rPr lang="pt-BR" sz="80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SQL</a:t>
            </a:r>
            <a:endParaRPr lang="pt-BR" sz="80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658127" y="4011084"/>
            <a:ext cx="6987645" cy="594783"/>
          </a:xfrm>
        </p:spPr>
        <p:txBody>
          <a:bodyPr anchor="ctr">
            <a:normAutofit/>
          </a:bodyPr>
          <a:lstStyle/>
          <a:p>
            <a:r>
              <a:rPr lang="pt-BR" sz="2800" b="1" dirty="0"/>
              <a:t>Criação e manipulação de banco de dados</a:t>
            </a:r>
          </a:p>
        </p:txBody>
      </p:sp>
      <p:pic>
        <p:nvPicPr>
          <p:cNvPr id="4" name="Imagem 3" descr="logo-senai-cor.png"/>
          <p:cNvPicPr>
            <a:picLocks noChangeAspect="1"/>
          </p:cNvPicPr>
          <p:nvPr/>
        </p:nvPicPr>
        <p:blipFill>
          <a:blip r:embed="rId2" cstate="print"/>
          <a:srcRect l="23612"/>
          <a:stretch>
            <a:fillRect/>
          </a:stretch>
        </p:blipFill>
        <p:spPr>
          <a:xfrm>
            <a:off x="297025" y="3950012"/>
            <a:ext cx="2567614" cy="65585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1260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Arredondado 2"/>
          <p:cNvSpPr/>
          <p:nvPr/>
        </p:nvSpPr>
        <p:spPr>
          <a:xfrm>
            <a:off x="339652" y="1559677"/>
            <a:ext cx="11512695" cy="334079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anchor="ctr">
            <a:noAutofit/>
          </a:bodyPr>
          <a:lstStyle/>
          <a:p>
            <a:pPr algn="just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O Modelo Relacional prevê, desde sua concepção, a existência de uma linguagem baseada em caracteres que suporte a definição do esquema físico (tabelas, restrições, etc.), e sua manipulação (inserção, consulta, atualização e remoção)</a:t>
            </a:r>
          </a:p>
        </p:txBody>
      </p:sp>
    </p:spTree>
    <p:extLst>
      <p:ext uri="{BB962C8B-B14F-4D97-AF65-F5344CB8AC3E}">
        <p14:creationId xmlns:p14="http://schemas.microsoft.com/office/powerpoint/2010/main" val="3586035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"/>
          <p:cNvSpPr txBox="1">
            <a:spLocks/>
          </p:cNvSpPr>
          <p:nvPr/>
        </p:nvSpPr>
        <p:spPr>
          <a:xfrm>
            <a:off x="605282" y="486126"/>
            <a:ext cx="11353801" cy="1376229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altLang="pt-BR" dirty="0"/>
              <a:t>A Linguagem SQL pode ser dividida em 5 conjuntos de comandos</a:t>
            </a:r>
            <a:endParaRPr lang="pt-BR" dirty="0"/>
          </a:p>
          <a:p>
            <a:endParaRPr lang="pt-BR" dirty="0"/>
          </a:p>
        </p:txBody>
      </p:sp>
      <p:grpSp>
        <p:nvGrpSpPr>
          <p:cNvPr id="3" name="Agrupar 2"/>
          <p:cNvGrpSpPr/>
          <p:nvPr/>
        </p:nvGrpSpPr>
        <p:grpSpPr>
          <a:xfrm>
            <a:off x="931178" y="1918202"/>
            <a:ext cx="10519792" cy="4502250"/>
            <a:chOff x="931178" y="1918202"/>
            <a:chExt cx="10519792" cy="4502250"/>
          </a:xfrm>
        </p:grpSpPr>
        <p:sp>
          <p:nvSpPr>
            <p:cNvPr id="4" name="Forma Livre 3"/>
            <p:cNvSpPr/>
            <p:nvPr/>
          </p:nvSpPr>
          <p:spPr>
            <a:xfrm>
              <a:off x="931178" y="2139602"/>
              <a:ext cx="10519792" cy="614250"/>
            </a:xfrm>
            <a:custGeom>
              <a:avLst/>
              <a:gdLst>
                <a:gd name="connsiteX0" fmla="*/ 0 w 10519792"/>
                <a:gd name="connsiteY0" fmla="*/ 0 h 614250"/>
                <a:gd name="connsiteX1" fmla="*/ 10519792 w 10519792"/>
                <a:gd name="connsiteY1" fmla="*/ 0 h 614250"/>
                <a:gd name="connsiteX2" fmla="*/ 10519792 w 10519792"/>
                <a:gd name="connsiteY2" fmla="*/ 614250 h 614250"/>
                <a:gd name="connsiteX3" fmla="*/ 0 w 10519792"/>
                <a:gd name="connsiteY3" fmla="*/ 614250 h 614250"/>
                <a:gd name="connsiteX4" fmla="*/ 0 w 10519792"/>
                <a:gd name="connsiteY4" fmla="*/ 0 h 61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9792" h="614250">
                  <a:moveTo>
                    <a:pt x="0" y="0"/>
                  </a:moveTo>
                  <a:lnTo>
                    <a:pt x="10519792" y="0"/>
                  </a:lnTo>
                  <a:lnTo>
                    <a:pt x="10519792" y="614250"/>
                  </a:lnTo>
                  <a:lnTo>
                    <a:pt x="0" y="61425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16453" tIns="312420" rIns="816453" bIns="99568" numCol="1" spcCol="1270" anchor="t" anchorCtr="0">
              <a:noAutofit/>
            </a:bodyPr>
            <a:lstStyle/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pt-BR" altLang="pt-BR" sz="1400" kern="1200" dirty="0"/>
                <a:t>Comandos para criação e manutenção de objetos do banco de dados: CREATE, ALTER, DROP, RENAME e TRUNCATE</a:t>
              </a:r>
              <a:endParaRPr lang="pt-BR" sz="1400" kern="1200" dirty="0"/>
            </a:p>
          </p:txBody>
        </p:sp>
        <p:sp>
          <p:nvSpPr>
            <p:cNvPr id="5" name="Forma Livre 4"/>
            <p:cNvSpPr/>
            <p:nvPr/>
          </p:nvSpPr>
          <p:spPr>
            <a:xfrm>
              <a:off x="1457167" y="1918202"/>
              <a:ext cx="7363855" cy="442800"/>
            </a:xfrm>
            <a:custGeom>
              <a:avLst/>
              <a:gdLst>
                <a:gd name="connsiteX0" fmla="*/ 0 w 7363855"/>
                <a:gd name="connsiteY0" fmla="*/ 73801 h 442800"/>
                <a:gd name="connsiteX1" fmla="*/ 73801 w 7363855"/>
                <a:gd name="connsiteY1" fmla="*/ 0 h 442800"/>
                <a:gd name="connsiteX2" fmla="*/ 7290054 w 7363855"/>
                <a:gd name="connsiteY2" fmla="*/ 0 h 442800"/>
                <a:gd name="connsiteX3" fmla="*/ 7363855 w 7363855"/>
                <a:gd name="connsiteY3" fmla="*/ 73801 h 442800"/>
                <a:gd name="connsiteX4" fmla="*/ 7363855 w 7363855"/>
                <a:gd name="connsiteY4" fmla="*/ 368999 h 442800"/>
                <a:gd name="connsiteX5" fmla="*/ 7290054 w 7363855"/>
                <a:gd name="connsiteY5" fmla="*/ 442800 h 442800"/>
                <a:gd name="connsiteX6" fmla="*/ 73801 w 7363855"/>
                <a:gd name="connsiteY6" fmla="*/ 442800 h 442800"/>
                <a:gd name="connsiteX7" fmla="*/ 0 w 7363855"/>
                <a:gd name="connsiteY7" fmla="*/ 368999 h 442800"/>
                <a:gd name="connsiteX8" fmla="*/ 0 w 7363855"/>
                <a:gd name="connsiteY8" fmla="*/ 73801 h 44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63855" h="442800">
                  <a:moveTo>
                    <a:pt x="0" y="73801"/>
                  </a:moveTo>
                  <a:cubicBezTo>
                    <a:pt x="0" y="33042"/>
                    <a:pt x="33042" y="0"/>
                    <a:pt x="73801" y="0"/>
                  </a:cubicBezTo>
                  <a:lnTo>
                    <a:pt x="7290054" y="0"/>
                  </a:lnTo>
                  <a:cubicBezTo>
                    <a:pt x="7330813" y="0"/>
                    <a:pt x="7363855" y="33042"/>
                    <a:pt x="7363855" y="73801"/>
                  </a:cubicBezTo>
                  <a:lnTo>
                    <a:pt x="7363855" y="368999"/>
                  </a:lnTo>
                  <a:cubicBezTo>
                    <a:pt x="7363855" y="409758"/>
                    <a:pt x="7330813" y="442800"/>
                    <a:pt x="7290054" y="442800"/>
                  </a:cubicBezTo>
                  <a:lnTo>
                    <a:pt x="73801" y="442800"/>
                  </a:lnTo>
                  <a:cubicBezTo>
                    <a:pt x="33042" y="442800"/>
                    <a:pt x="0" y="409758"/>
                    <a:pt x="0" y="368999"/>
                  </a:cubicBezTo>
                  <a:lnTo>
                    <a:pt x="0" y="73801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99952" tIns="21616" rIns="299952" bIns="21616" numCol="1" spcCol="1270" anchor="ctr" anchorCtr="0">
              <a:noAutofit/>
            </a:bodyPr>
            <a:lstStyle/>
            <a:p>
              <a:pPr lvl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pt-BR" altLang="pt-BR" sz="1400" kern="1200" dirty="0"/>
                <a:t>Linguagem de definição de dados (DDL - Data </a:t>
              </a:r>
              <a:r>
                <a:rPr lang="pt-BR" altLang="pt-BR" sz="1400" kern="1200" dirty="0" err="1"/>
                <a:t>Definition</a:t>
              </a:r>
              <a:r>
                <a:rPr lang="pt-BR" altLang="pt-BR" sz="1400" kern="1200" dirty="0"/>
                <a:t> </a:t>
              </a:r>
              <a:r>
                <a:rPr lang="pt-BR" altLang="pt-BR" sz="1400" kern="1200" dirty="0" err="1"/>
                <a:t>Language</a:t>
              </a:r>
              <a:r>
                <a:rPr lang="pt-BR" altLang="pt-BR" sz="1400" kern="1200" dirty="0"/>
                <a:t>)</a:t>
              </a:r>
              <a:endParaRPr lang="pt-BR" sz="1400" kern="1200" dirty="0"/>
            </a:p>
          </p:txBody>
        </p:sp>
        <p:sp>
          <p:nvSpPr>
            <p:cNvPr id="6" name="Forma Livre 5"/>
            <p:cNvSpPr/>
            <p:nvPr/>
          </p:nvSpPr>
          <p:spPr>
            <a:xfrm>
              <a:off x="931178" y="3056252"/>
              <a:ext cx="10519792" cy="614250"/>
            </a:xfrm>
            <a:custGeom>
              <a:avLst/>
              <a:gdLst>
                <a:gd name="connsiteX0" fmla="*/ 0 w 10519792"/>
                <a:gd name="connsiteY0" fmla="*/ 0 h 614250"/>
                <a:gd name="connsiteX1" fmla="*/ 10519792 w 10519792"/>
                <a:gd name="connsiteY1" fmla="*/ 0 h 614250"/>
                <a:gd name="connsiteX2" fmla="*/ 10519792 w 10519792"/>
                <a:gd name="connsiteY2" fmla="*/ 614250 h 614250"/>
                <a:gd name="connsiteX3" fmla="*/ 0 w 10519792"/>
                <a:gd name="connsiteY3" fmla="*/ 614250 h 614250"/>
                <a:gd name="connsiteX4" fmla="*/ 0 w 10519792"/>
                <a:gd name="connsiteY4" fmla="*/ 0 h 61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9792" h="614250">
                  <a:moveTo>
                    <a:pt x="0" y="0"/>
                  </a:moveTo>
                  <a:lnTo>
                    <a:pt x="10519792" y="0"/>
                  </a:lnTo>
                  <a:lnTo>
                    <a:pt x="10519792" y="614250"/>
                  </a:lnTo>
                  <a:lnTo>
                    <a:pt x="0" y="61425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16453" tIns="312420" rIns="816453" bIns="99568" numCol="1" spcCol="1270" anchor="t" anchorCtr="0">
              <a:noAutofit/>
            </a:bodyPr>
            <a:lstStyle/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pt-BR" altLang="pt-BR" sz="1400" kern="1200" dirty="0"/>
                <a:t>Comandos para inserções (INSERT), atualizações (UPDATE) e exclusões (DELETE)</a:t>
              </a:r>
              <a:endParaRPr lang="pt-BR" sz="1400" kern="1200" dirty="0"/>
            </a:p>
          </p:txBody>
        </p:sp>
        <p:sp>
          <p:nvSpPr>
            <p:cNvPr id="7" name="Forma Livre 6"/>
            <p:cNvSpPr/>
            <p:nvPr/>
          </p:nvSpPr>
          <p:spPr>
            <a:xfrm>
              <a:off x="1457167" y="2834852"/>
              <a:ext cx="7363855" cy="442800"/>
            </a:xfrm>
            <a:custGeom>
              <a:avLst/>
              <a:gdLst>
                <a:gd name="connsiteX0" fmla="*/ 0 w 7363855"/>
                <a:gd name="connsiteY0" fmla="*/ 73801 h 442800"/>
                <a:gd name="connsiteX1" fmla="*/ 73801 w 7363855"/>
                <a:gd name="connsiteY1" fmla="*/ 0 h 442800"/>
                <a:gd name="connsiteX2" fmla="*/ 7290054 w 7363855"/>
                <a:gd name="connsiteY2" fmla="*/ 0 h 442800"/>
                <a:gd name="connsiteX3" fmla="*/ 7363855 w 7363855"/>
                <a:gd name="connsiteY3" fmla="*/ 73801 h 442800"/>
                <a:gd name="connsiteX4" fmla="*/ 7363855 w 7363855"/>
                <a:gd name="connsiteY4" fmla="*/ 368999 h 442800"/>
                <a:gd name="connsiteX5" fmla="*/ 7290054 w 7363855"/>
                <a:gd name="connsiteY5" fmla="*/ 442800 h 442800"/>
                <a:gd name="connsiteX6" fmla="*/ 73801 w 7363855"/>
                <a:gd name="connsiteY6" fmla="*/ 442800 h 442800"/>
                <a:gd name="connsiteX7" fmla="*/ 0 w 7363855"/>
                <a:gd name="connsiteY7" fmla="*/ 368999 h 442800"/>
                <a:gd name="connsiteX8" fmla="*/ 0 w 7363855"/>
                <a:gd name="connsiteY8" fmla="*/ 73801 h 44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63855" h="442800">
                  <a:moveTo>
                    <a:pt x="0" y="73801"/>
                  </a:moveTo>
                  <a:cubicBezTo>
                    <a:pt x="0" y="33042"/>
                    <a:pt x="33042" y="0"/>
                    <a:pt x="73801" y="0"/>
                  </a:cubicBezTo>
                  <a:lnTo>
                    <a:pt x="7290054" y="0"/>
                  </a:lnTo>
                  <a:cubicBezTo>
                    <a:pt x="7330813" y="0"/>
                    <a:pt x="7363855" y="33042"/>
                    <a:pt x="7363855" y="73801"/>
                  </a:cubicBezTo>
                  <a:lnTo>
                    <a:pt x="7363855" y="368999"/>
                  </a:lnTo>
                  <a:cubicBezTo>
                    <a:pt x="7363855" y="409758"/>
                    <a:pt x="7330813" y="442800"/>
                    <a:pt x="7290054" y="442800"/>
                  </a:cubicBezTo>
                  <a:lnTo>
                    <a:pt x="73801" y="442800"/>
                  </a:lnTo>
                  <a:cubicBezTo>
                    <a:pt x="33042" y="442800"/>
                    <a:pt x="0" y="409758"/>
                    <a:pt x="0" y="368999"/>
                  </a:cubicBezTo>
                  <a:lnTo>
                    <a:pt x="0" y="73801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99952" tIns="21616" rIns="299952" bIns="21616" numCol="1" spcCol="1270" anchor="ctr" anchorCtr="0">
              <a:noAutofit/>
            </a:bodyPr>
            <a:lstStyle/>
            <a:p>
              <a:pPr lvl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pt-BR" altLang="pt-BR" sz="1400" kern="1200" dirty="0"/>
                <a:t>Linguagem de manipulação de dados (DML - Data </a:t>
              </a:r>
              <a:r>
                <a:rPr lang="pt-BR" altLang="pt-BR" sz="1400" kern="1200" dirty="0" err="1"/>
                <a:t>Manipulation</a:t>
              </a:r>
              <a:r>
                <a:rPr lang="pt-BR" altLang="pt-BR" sz="1400" kern="1200" dirty="0"/>
                <a:t> </a:t>
              </a:r>
              <a:r>
                <a:rPr lang="pt-BR" altLang="pt-BR" sz="1400" kern="1200" dirty="0" err="1"/>
                <a:t>Language</a:t>
              </a:r>
              <a:r>
                <a:rPr lang="pt-BR" altLang="pt-BR" sz="1400" kern="1200" dirty="0"/>
                <a:t>)</a:t>
              </a:r>
              <a:endParaRPr lang="pt-BR" sz="1400" kern="1200" dirty="0"/>
            </a:p>
          </p:txBody>
        </p:sp>
        <p:sp>
          <p:nvSpPr>
            <p:cNvPr id="8" name="Forma Livre 7"/>
            <p:cNvSpPr/>
            <p:nvPr/>
          </p:nvSpPr>
          <p:spPr>
            <a:xfrm>
              <a:off x="931178" y="3972902"/>
              <a:ext cx="10519792" cy="614250"/>
            </a:xfrm>
            <a:custGeom>
              <a:avLst/>
              <a:gdLst>
                <a:gd name="connsiteX0" fmla="*/ 0 w 10519792"/>
                <a:gd name="connsiteY0" fmla="*/ 0 h 614250"/>
                <a:gd name="connsiteX1" fmla="*/ 10519792 w 10519792"/>
                <a:gd name="connsiteY1" fmla="*/ 0 h 614250"/>
                <a:gd name="connsiteX2" fmla="*/ 10519792 w 10519792"/>
                <a:gd name="connsiteY2" fmla="*/ 614250 h 614250"/>
                <a:gd name="connsiteX3" fmla="*/ 0 w 10519792"/>
                <a:gd name="connsiteY3" fmla="*/ 614250 h 614250"/>
                <a:gd name="connsiteX4" fmla="*/ 0 w 10519792"/>
                <a:gd name="connsiteY4" fmla="*/ 0 h 61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9792" h="614250">
                  <a:moveTo>
                    <a:pt x="0" y="0"/>
                  </a:moveTo>
                  <a:lnTo>
                    <a:pt x="10519792" y="0"/>
                  </a:lnTo>
                  <a:lnTo>
                    <a:pt x="10519792" y="614250"/>
                  </a:lnTo>
                  <a:lnTo>
                    <a:pt x="0" y="61425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16453" tIns="312420" rIns="816453" bIns="99568" numCol="1" spcCol="1270" anchor="t" anchorCtr="0">
              <a:noAutofit/>
            </a:bodyPr>
            <a:lstStyle/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pt-BR" altLang="pt-BR" sz="1400" kern="1200" dirty="0"/>
                <a:t>Comando SELECT</a:t>
              </a:r>
              <a:endParaRPr lang="pt-BR" sz="1400" kern="1200" dirty="0"/>
            </a:p>
          </p:txBody>
        </p:sp>
        <p:sp>
          <p:nvSpPr>
            <p:cNvPr id="9" name="Forma Livre 8"/>
            <p:cNvSpPr/>
            <p:nvPr/>
          </p:nvSpPr>
          <p:spPr>
            <a:xfrm>
              <a:off x="1457167" y="3751502"/>
              <a:ext cx="7363855" cy="442800"/>
            </a:xfrm>
            <a:custGeom>
              <a:avLst/>
              <a:gdLst>
                <a:gd name="connsiteX0" fmla="*/ 0 w 7363855"/>
                <a:gd name="connsiteY0" fmla="*/ 73801 h 442800"/>
                <a:gd name="connsiteX1" fmla="*/ 73801 w 7363855"/>
                <a:gd name="connsiteY1" fmla="*/ 0 h 442800"/>
                <a:gd name="connsiteX2" fmla="*/ 7290054 w 7363855"/>
                <a:gd name="connsiteY2" fmla="*/ 0 h 442800"/>
                <a:gd name="connsiteX3" fmla="*/ 7363855 w 7363855"/>
                <a:gd name="connsiteY3" fmla="*/ 73801 h 442800"/>
                <a:gd name="connsiteX4" fmla="*/ 7363855 w 7363855"/>
                <a:gd name="connsiteY4" fmla="*/ 368999 h 442800"/>
                <a:gd name="connsiteX5" fmla="*/ 7290054 w 7363855"/>
                <a:gd name="connsiteY5" fmla="*/ 442800 h 442800"/>
                <a:gd name="connsiteX6" fmla="*/ 73801 w 7363855"/>
                <a:gd name="connsiteY6" fmla="*/ 442800 h 442800"/>
                <a:gd name="connsiteX7" fmla="*/ 0 w 7363855"/>
                <a:gd name="connsiteY7" fmla="*/ 368999 h 442800"/>
                <a:gd name="connsiteX8" fmla="*/ 0 w 7363855"/>
                <a:gd name="connsiteY8" fmla="*/ 73801 h 44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63855" h="442800">
                  <a:moveTo>
                    <a:pt x="0" y="73801"/>
                  </a:moveTo>
                  <a:cubicBezTo>
                    <a:pt x="0" y="33042"/>
                    <a:pt x="33042" y="0"/>
                    <a:pt x="73801" y="0"/>
                  </a:cubicBezTo>
                  <a:lnTo>
                    <a:pt x="7290054" y="0"/>
                  </a:lnTo>
                  <a:cubicBezTo>
                    <a:pt x="7330813" y="0"/>
                    <a:pt x="7363855" y="33042"/>
                    <a:pt x="7363855" y="73801"/>
                  </a:cubicBezTo>
                  <a:lnTo>
                    <a:pt x="7363855" y="368999"/>
                  </a:lnTo>
                  <a:cubicBezTo>
                    <a:pt x="7363855" y="409758"/>
                    <a:pt x="7330813" y="442800"/>
                    <a:pt x="7290054" y="442800"/>
                  </a:cubicBezTo>
                  <a:lnTo>
                    <a:pt x="73801" y="442800"/>
                  </a:lnTo>
                  <a:cubicBezTo>
                    <a:pt x="33042" y="442800"/>
                    <a:pt x="0" y="409758"/>
                    <a:pt x="0" y="368999"/>
                  </a:cubicBezTo>
                  <a:lnTo>
                    <a:pt x="0" y="73801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99952" tIns="21616" rIns="299952" bIns="21616" numCol="1" spcCol="1270" anchor="ctr" anchorCtr="0">
              <a:noAutofit/>
            </a:bodyPr>
            <a:lstStyle/>
            <a:p>
              <a:pPr lvl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pt-BR" altLang="pt-BR" sz="1400" kern="1200" dirty="0"/>
                <a:t>Recuperação de dados (DQL – Data Query </a:t>
              </a:r>
              <a:r>
                <a:rPr lang="pt-BR" altLang="pt-BR" sz="1400" kern="1200" dirty="0" err="1"/>
                <a:t>Language</a:t>
              </a:r>
              <a:r>
                <a:rPr lang="pt-BR" altLang="pt-BR" sz="1400" kern="1200" dirty="0" smtClean="0"/>
                <a:t>) (Atualmente faz parte do DML)</a:t>
              </a:r>
              <a:endParaRPr lang="pt-BR" sz="1400" kern="1200" dirty="0"/>
            </a:p>
          </p:txBody>
        </p:sp>
        <p:sp>
          <p:nvSpPr>
            <p:cNvPr id="10" name="Forma Livre 9"/>
            <p:cNvSpPr/>
            <p:nvPr/>
          </p:nvSpPr>
          <p:spPr>
            <a:xfrm>
              <a:off x="931178" y="4889552"/>
              <a:ext cx="10519792" cy="614250"/>
            </a:xfrm>
            <a:custGeom>
              <a:avLst/>
              <a:gdLst>
                <a:gd name="connsiteX0" fmla="*/ 0 w 10519792"/>
                <a:gd name="connsiteY0" fmla="*/ 0 h 614250"/>
                <a:gd name="connsiteX1" fmla="*/ 10519792 w 10519792"/>
                <a:gd name="connsiteY1" fmla="*/ 0 h 614250"/>
                <a:gd name="connsiteX2" fmla="*/ 10519792 w 10519792"/>
                <a:gd name="connsiteY2" fmla="*/ 614250 h 614250"/>
                <a:gd name="connsiteX3" fmla="*/ 0 w 10519792"/>
                <a:gd name="connsiteY3" fmla="*/ 614250 h 614250"/>
                <a:gd name="connsiteX4" fmla="*/ 0 w 10519792"/>
                <a:gd name="connsiteY4" fmla="*/ 0 h 61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9792" h="614250">
                  <a:moveTo>
                    <a:pt x="0" y="0"/>
                  </a:moveTo>
                  <a:lnTo>
                    <a:pt x="10519792" y="0"/>
                  </a:lnTo>
                  <a:lnTo>
                    <a:pt x="10519792" y="614250"/>
                  </a:lnTo>
                  <a:lnTo>
                    <a:pt x="0" y="61425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16453" tIns="312420" rIns="816453" bIns="99568" numCol="1" spcCol="1270" anchor="t" anchorCtr="0">
              <a:noAutofit/>
            </a:bodyPr>
            <a:lstStyle/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pt-BR" altLang="pt-BR" sz="1400" kern="1200" dirty="0"/>
                <a:t>COMMIT, ROLLBACK e SAVEPOINT</a:t>
              </a:r>
              <a:endParaRPr lang="pt-BR" sz="1400" kern="1200" dirty="0"/>
            </a:p>
          </p:txBody>
        </p:sp>
        <p:sp>
          <p:nvSpPr>
            <p:cNvPr id="11" name="Forma Livre 10"/>
            <p:cNvSpPr/>
            <p:nvPr/>
          </p:nvSpPr>
          <p:spPr>
            <a:xfrm>
              <a:off x="1457167" y="4668152"/>
              <a:ext cx="7363855" cy="442800"/>
            </a:xfrm>
            <a:custGeom>
              <a:avLst/>
              <a:gdLst>
                <a:gd name="connsiteX0" fmla="*/ 0 w 7363855"/>
                <a:gd name="connsiteY0" fmla="*/ 73801 h 442800"/>
                <a:gd name="connsiteX1" fmla="*/ 73801 w 7363855"/>
                <a:gd name="connsiteY1" fmla="*/ 0 h 442800"/>
                <a:gd name="connsiteX2" fmla="*/ 7290054 w 7363855"/>
                <a:gd name="connsiteY2" fmla="*/ 0 h 442800"/>
                <a:gd name="connsiteX3" fmla="*/ 7363855 w 7363855"/>
                <a:gd name="connsiteY3" fmla="*/ 73801 h 442800"/>
                <a:gd name="connsiteX4" fmla="*/ 7363855 w 7363855"/>
                <a:gd name="connsiteY4" fmla="*/ 368999 h 442800"/>
                <a:gd name="connsiteX5" fmla="*/ 7290054 w 7363855"/>
                <a:gd name="connsiteY5" fmla="*/ 442800 h 442800"/>
                <a:gd name="connsiteX6" fmla="*/ 73801 w 7363855"/>
                <a:gd name="connsiteY6" fmla="*/ 442800 h 442800"/>
                <a:gd name="connsiteX7" fmla="*/ 0 w 7363855"/>
                <a:gd name="connsiteY7" fmla="*/ 368999 h 442800"/>
                <a:gd name="connsiteX8" fmla="*/ 0 w 7363855"/>
                <a:gd name="connsiteY8" fmla="*/ 73801 h 44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63855" h="442800">
                  <a:moveTo>
                    <a:pt x="0" y="73801"/>
                  </a:moveTo>
                  <a:cubicBezTo>
                    <a:pt x="0" y="33042"/>
                    <a:pt x="33042" y="0"/>
                    <a:pt x="73801" y="0"/>
                  </a:cubicBezTo>
                  <a:lnTo>
                    <a:pt x="7290054" y="0"/>
                  </a:lnTo>
                  <a:cubicBezTo>
                    <a:pt x="7330813" y="0"/>
                    <a:pt x="7363855" y="33042"/>
                    <a:pt x="7363855" y="73801"/>
                  </a:cubicBezTo>
                  <a:lnTo>
                    <a:pt x="7363855" y="368999"/>
                  </a:lnTo>
                  <a:cubicBezTo>
                    <a:pt x="7363855" y="409758"/>
                    <a:pt x="7330813" y="442800"/>
                    <a:pt x="7290054" y="442800"/>
                  </a:cubicBezTo>
                  <a:lnTo>
                    <a:pt x="73801" y="442800"/>
                  </a:lnTo>
                  <a:cubicBezTo>
                    <a:pt x="33042" y="442800"/>
                    <a:pt x="0" y="409758"/>
                    <a:pt x="0" y="368999"/>
                  </a:cubicBezTo>
                  <a:lnTo>
                    <a:pt x="0" y="73801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99952" tIns="21616" rIns="299952" bIns="21616" numCol="1" spcCol="1270" anchor="ctr" anchorCtr="0">
              <a:noAutofit/>
            </a:bodyPr>
            <a:lstStyle/>
            <a:p>
              <a:pPr lvl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pt-BR" altLang="pt-BR" sz="1400" kern="1200" dirty="0"/>
                <a:t>Linguagem para controle de transações (DTL – Data </a:t>
              </a:r>
              <a:r>
                <a:rPr lang="pt-BR" altLang="pt-BR" sz="1400" kern="1200" dirty="0" err="1"/>
                <a:t>Transaction</a:t>
              </a:r>
              <a:r>
                <a:rPr lang="pt-BR" altLang="pt-BR" sz="1400" kern="1200" dirty="0"/>
                <a:t> </a:t>
              </a:r>
              <a:r>
                <a:rPr lang="pt-BR" altLang="pt-BR" sz="1400" kern="1200" dirty="0" err="1"/>
                <a:t>Language</a:t>
              </a:r>
              <a:r>
                <a:rPr lang="pt-BR" altLang="pt-BR" sz="1400" kern="1200" dirty="0"/>
                <a:t>)</a:t>
              </a:r>
              <a:endParaRPr lang="pt-BR" sz="1400" kern="1200" dirty="0"/>
            </a:p>
          </p:txBody>
        </p:sp>
        <p:sp>
          <p:nvSpPr>
            <p:cNvPr id="12" name="Forma Livre 11"/>
            <p:cNvSpPr/>
            <p:nvPr/>
          </p:nvSpPr>
          <p:spPr>
            <a:xfrm>
              <a:off x="931178" y="5806202"/>
              <a:ext cx="10519792" cy="614250"/>
            </a:xfrm>
            <a:custGeom>
              <a:avLst/>
              <a:gdLst>
                <a:gd name="connsiteX0" fmla="*/ 0 w 10519792"/>
                <a:gd name="connsiteY0" fmla="*/ 0 h 614250"/>
                <a:gd name="connsiteX1" fmla="*/ 10519792 w 10519792"/>
                <a:gd name="connsiteY1" fmla="*/ 0 h 614250"/>
                <a:gd name="connsiteX2" fmla="*/ 10519792 w 10519792"/>
                <a:gd name="connsiteY2" fmla="*/ 614250 h 614250"/>
                <a:gd name="connsiteX3" fmla="*/ 0 w 10519792"/>
                <a:gd name="connsiteY3" fmla="*/ 614250 h 614250"/>
                <a:gd name="connsiteX4" fmla="*/ 0 w 10519792"/>
                <a:gd name="connsiteY4" fmla="*/ 0 h 61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9792" h="614250">
                  <a:moveTo>
                    <a:pt x="0" y="0"/>
                  </a:moveTo>
                  <a:lnTo>
                    <a:pt x="10519792" y="0"/>
                  </a:lnTo>
                  <a:lnTo>
                    <a:pt x="10519792" y="614250"/>
                  </a:lnTo>
                  <a:lnTo>
                    <a:pt x="0" y="61425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16453" tIns="312420" rIns="816453" bIns="99568" numCol="1" spcCol="1270" anchor="t" anchorCtr="0">
              <a:noAutofit/>
            </a:bodyPr>
            <a:lstStyle/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pt-BR" altLang="pt-BR" sz="1400" kern="1200"/>
                <a:t>GRANT e REVOKE</a:t>
              </a:r>
              <a:endParaRPr lang="pt-BR" sz="1400" kern="1200" dirty="0"/>
            </a:p>
          </p:txBody>
        </p:sp>
        <p:sp>
          <p:nvSpPr>
            <p:cNvPr id="13" name="Forma Livre 12"/>
            <p:cNvSpPr/>
            <p:nvPr/>
          </p:nvSpPr>
          <p:spPr>
            <a:xfrm>
              <a:off x="1457167" y="5584802"/>
              <a:ext cx="7363855" cy="442800"/>
            </a:xfrm>
            <a:custGeom>
              <a:avLst/>
              <a:gdLst>
                <a:gd name="connsiteX0" fmla="*/ 0 w 7363855"/>
                <a:gd name="connsiteY0" fmla="*/ 73801 h 442800"/>
                <a:gd name="connsiteX1" fmla="*/ 73801 w 7363855"/>
                <a:gd name="connsiteY1" fmla="*/ 0 h 442800"/>
                <a:gd name="connsiteX2" fmla="*/ 7290054 w 7363855"/>
                <a:gd name="connsiteY2" fmla="*/ 0 h 442800"/>
                <a:gd name="connsiteX3" fmla="*/ 7363855 w 7363855"/>
                <a:gd name="connsiteY3" fmla="*/ 73801 h 442800"/>
                <a:gd name="connsiteX4" fmla="*/ 7363855 w 7363855"/>
                <a:gd name="connsiteY4" fmla="*/ 368999 h 442800"/>
                <a:gd name="connsiteX5" fmla="*/ 7290054 w 7363855"/>
                <a:gd name="connsiteY5" fmla="*/ 442800 h 442800"/>
                <a:gd name="connsiteX6" fmla="*/ 73801 w 7363855"/>
                <a:gd name="connsiteY6" fmla="*/ 442800 h 442800"/>
                <a:gd name="connsiteX7" fmla="*/ 0 w 7363855"/>
                <a:gd name="connsiteY7" fmla="*/ 368999 h 442800"/>
                <a:gd name="connsiteX8" fmla="*/ 0 w 7363855"/>
                <a:gd name="connsiteY8" fmla="*/ 73801 h 44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63855" h="442800">
                  <a:moveTo>
                    <a:pt x="0" y="73801"/>
                  </a:moveTo>
                  <a:cubicBezTo>
                    <a:pt x="0" y="33042"/>
                    <a:pt x="33042" y="0"/>
                    <a:pt x="73801" y="0"/>
                  </a:cubicBezTo>
                  <a:lnTo>
                    <a:pt x="7290054" y="0"/>
                  </a:lnTo>
                  <a:cubicBezTo>
                    <a:pt x="7330813" y="0"/>
                    <a:pt x="7363855" y="33042"/>
                    <a:pt x="7363855" y="73801"/>
                  </a:cubicBezTo>
                  <a:lnTo>
                    <a:pt x="7363855" y="368999"/>
                  </a:lnTo>
                  <a:cubicBezTo>
                    <a:pt x="7363855" y="409758"/>
                    <a:pt x="7330813" y="442800"/>
                    <a:pt x="7290054" y="442800"/>
                  </a:cubicBezTo>
                  <a:lnTo>
                    <a:pt x="73801" y="442800"/>
                  </a:lnTo>
                  <a:cubicBezTo>
                    <a:pt x="33042" y="442800"/>
                    <a:pt x="0" y="409758"/>
                    <a:pt x="0" y="368999"/>
                  </a:cubicBezTo>
                  <a:lnTo>
                    <a:pt x="0" y="73801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99952" tIns="21616" rIns="299952" bIns="21616" numCol="1" spcCol="1270" anchor="ctr" anchorCtr="0">
              <a:noAutofit/>
            </a:bodyPr>
            <a:lstStyle/>
            <a:p>
              <a:pPr lvl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pt-BR" altLang="pt-BR" sz="1400" kern="1200" dirty="0"/>
                <a:t>Linguagem para controle de acesso a dados (DCL – Data </a:t>
              </a:r>
              <a:r>
                <a:rPr lang="pt-BR" altLang="pt-BR" sz="1400" kern="1200" dirty="0" err="1"/>
                <a:t>Control</a:t>
              </a:r>
              <a:r>
                <a:rPr lang="pt-BR" altLang="pt-BR" sz="1400" kern="1200" dirty="0"/>
                <a:t> </a:t>
              </a:r>
              <a:r>
                <a:rPr lang="pt-BR" altLang="pt-BR" sz="1400" kern="1200" dirty="0" err="1"/>
                <a:t>Language</a:t>
              </a:r>
              <a:r>
                <a:rPr lang="pt-BR" altLang="pt-BR" sz="1400" kern="1200" dirty="0"/>
                <a:t>)</a:t>
              </a:r>
              <a:endParaRPr lang="pt-BR" sz="14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34621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/>
          </p:cNvSpPr>
          <p:nvPr/>
        </p:nvSpPr>
        <p:spPr>
          <a:xfrm>
            <a:off x="1028545" y="1825959"/>
            <a:ext cx="10348747" cy="2616199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pt-BR" altLang="pt-BR" sz="8000" dirty="0"/>
              <a:t>DDL</a:t>
            </a:r>
          </a:p>
          <a:p>
            <a:pPr lvl="0"/>
            <a:r>
              <a:rPr lang="pt-BR" altLang="pt-BR" sz="7100" dirty="0"/>
              <a:t>Data </a:t>
            </a:r>
            <a:r>
              <a:rPr lang="pt-BR" altLang="pt-BR" sz="7100" dirty="0" err="1"/>
              <a:t>Definition</a:t>
            </a:r>
            <a:r>
              <a:rPr lang="pt-BR" altLang="pt-BR" sz="7100" dirty="0"/>
              <a:t> </a:t>
            </a:r>
            <a:r>
              <a:rPr lang="pt-BR" altLang="pt-BR" sz="7100" dirty="0" err="1"/>
              <a:t>Language</a:t>
            </a:r>
            <a:endParaRPr lang="pt-BR" sz="7100" dirty="0"/>
          </a:p>
        </p:txBody>
      </p:sp>
    </p:spTree>
    <p:extLst>
      <p:ext uri="{BB962C8B-B14F-4D97-AF65-F5344CB8AC3E}">
        <p14:creationId xmlns:p14="http://schemas.microsoft.com/office/powerpoint/2010/main" val="2927327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 txBox="1">
            <a:spLocks/>
          </p:cNvSpPr>
          <p:nvPr/>
        </p:nvSpPr>
        <p:spPr>
          <a:xfrm>
            <a:off x="465946" y="239217"/>
            <a:ext cx="11353801" cy="859602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Criando uma </a:t>
            </a:r>
            <a:r>
              <a:rPr lang="pt-BR" dirty="0" err="1"/>
              <a:t>database</a:t>
            </a:r>
            <a:endParaRPr lang="pt-BR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2389E10A-A7F9-4E6A-BC7B-30D0BAB05272}"/>
              </a:ext>
            </a:extLst>
          </p:cNvPr>
          <p:cNvGrpSpPr/>
          <p:nvPr/>
        </p:nvGrpSpPr>
        <p:grpSpPr>
          <a:xfrm>
            <a:off x="293933" y="1408851"/>
            <a:ext cx="11697826" cy="1248814"/>
            <a:chOff x="382391" y="1879458"/>
            <a:chExt cx="6971997" cy="711392"/>
          </a:xfrm>
        </p:grpSpPr>
        <p:sp>
          <p:nvSpPr>
            <p:cNvPr id="6" name="Rectangle 1">
              <a:extLst>
                <a:ext uri="{FF2B5EF4-FFF2-40B4-BE49-F238E27FC236}">
                  <a16:creationId xmlns:a16="http://schemas.microsoft.com/office/drawing/2014/main" id="{21D0BA82-318B-4037-A269-49587C5EC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391" y="2338679"/>
              <a:ext cx="6971997" cy="252171"/>
            </a:xfrm>
            <a:prstGeom prst="roundRect">
              <a:avLst/>
            </a:prstGeom>
            <a:gradFill>
              <a:gsLst>
                <a:gs pos="0">
                  <a:schemeClr val="accent3">
                    <a:tint val="60000"/>
                    <a:lumMod val="104000"/>
                    <a:alpha val="96000"/>
                  </a:schemeClr>
                </a:gs>
                <a:gs pos="100000">
                  <a:schemeClr val="accent3">
                    <a:tint val="84000"/>
                  </a:schemeClr>
                </a:gs>
              </a:gsLst>
            </a:gradFill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36000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pt-BR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CREATE DATABASE </a:t>
              </a:r>
              <a:r>
                <a:rPr lang="pt-BR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nome_do_banco</a:t>
              </a:r>
              <a:r>
                <a:rPr lang="pt-BR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;</a:t>
              </a:r>
              <a:endParaRPr lang="en-US" altLang="pt-BR" sz="2000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endParaRPr>
            </a:p>
          </p:txBody>
        </p:sp>
        <p:sp>
          <p:nvSpPr>
            <p:cNvPr id="8" name="Título 1">
              <a:extLst>
                <a:ext uri="{FF2B5EF4-FFF2-40B4-BE49-F238E27FC236}">
                  <a16:creationId xmlns:a16="http://schemas.microsoft.com/office/drawing/2014/main" id="{84D61E1D-7D18-47EA-BE74-C74020F8BEE3}"/>
                </a:ext>
              </a:extLst>
            </p:cNvPr>
            <p:cNvSpPr txBox="1">
              <a:spLocks/>
            </p:cNvSpPr>
            <p:nvPr/>
          </p:nvSpPr>
          <p:spPr>
            <a:xfrm>
              <a:off x="2882925" y="1879458"/>
              <a:ext cx="1970929" cy="420426"/>
            </a:xfrm>
            <a:prstGeom prst="rect">
              <a:avLst/>
            </a:prstGeom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000" kern="1200" cap="none">
                  <a:ln w="3175" cmpd="sng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pt-BR" sz="3200" dirty="0"/>
                <a:t>Sintaxe</a:t>
              </a:r>
              <a:endParaRPr lang="pt-BR" sz="2000" dirty="0"/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0B3F1FC3-4039-4B38-9EC1-7B25A7B83E31}"/>
              </a:ext>
            </a:extLst>
          </p:cNvPr>
          <p:cNvGrpSpPr/>
          <p:nvPr/>
        </p:nvGrpSpPr>
        <p:grpSpPr>
          <a:xfrm>
            <a:off x="293933" y="3004158"/>
            <a:ext cx="11697826" cy="1248814"/>
            <a:chOff x="382391" y="1879458"/>
            <a:chExt cx="6971997" cy="711392"/>
          </a:xfrm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941DEB5E-6362-475C-80AC-C447A996C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391" y="2338679"/>
              <a:ext cx="6971997" cy="252171"/>
            </a:xfrm>
            <a:prstGeom prst="roundRect">
              <a:avLst/>
            </a:prstGeom>
            <a:ln/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36000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pt-BR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CREATE DATABASE </a:t>
              </a:r>
              <a:r>
                <a:rPr lang="pt-BR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escola</a:t>
              </a:r>
              <a:r>
                <a:rPr lang="pt-BR" altLang="pt-BR" sz="2000" b="1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;</a:t>
              </a:r>
              <a:endParaRPr lang="en-US" altLang="pt-BR" sz="2000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endParaRPr>
            </a:p>
          </p:txBody>
        </p:sp>
        <p:sp>
          <p:nvSpPr>
            <p:cNvPr id="11" name="Título 1">
              <a:extLst>
                <a:ext uri="{FF2B5EF4-FFF2-40B4-BE49-F238E27FC236}">
                  <a16:creationId xmlns:a16="http://schemas.microsoft.com/office/drawing/2014/main" id="{285DFF7F-77F8-45DC-9E92-5AC1C8C17C71}"/>
                </a:ext>
              </a:extLst>
            </p:cNvPr>
            <p:cNvSpPr txBox="1">
              <a:spLocks/>
            </p:cNvSpPr>
            <p:nvPr/>
          </p:nvSpPr>
          <p:spPr>
            <a:xfrm>
              <a:off x="2882925" y="1879458"/>
              <a:ext cx="1970929" cy="420426"/>
            </a:xfrm>
            <a:prstGeom prst="rect">
              <a:avLst/>
            </a:prstGeom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000" kern="1200" cap="none">
                  <a:ln w="3175" cmpd="sng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pt-BR" sz="3200" dirty="0"/>
                <a:t>Exemplo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3370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 txBox="1">
            <a:spLocks/>
          </p:cNvSpPr>
          <p:nvPr/>
        </p:nvSpPr>
        <p:spPr>
          <a:xfrm>
            <a:off x="465946" y="239217"/>
            <a:ext cx="11353801" cy="859602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Selecionando uma </a:t>
            </a:r>
            <a:r>
              <a:rPr lang="pt-BR" dirty="0" err="1"/>
              <a:t>database</a:t>
            </a:r>
            <a:endParaRPr lang="pt-BR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2389E10A-A7F9-4E6A-BC7B-30D0BAB05272}"/>
              </a:ext>
            </a:extLst>
          </p:cNvPr>
          <p:cNvGrpSpPr/>
          <p:nvPr/>
        </p:nvGrpSpPr>
        <p:grpSpPr>
          <a:xfrm>
            <a:off x="247087" y="2915060"/>
            <a:ext cx="11697826" cy="1248814"/>
            <a:chOff x="382391" y="1879458"/>
            <a:chExt cx="6971997" cy="711392"/>
          </a:xfrm>
        </p:grpSpPr>
        <p:sp>
          <p:nvSpPr>
            <p:cNvPr id="6" name="Rectangle 1">
              <a:extLst>
                <a:ext uri="{FF2B5EF4-FFF2-40B4-BE49-F238E27FC236}">
                  <a16:creationId xmlns:a16="http://schemas.microsoft.com/office/drawing/2014/main" id="{21D0BA82-318B-4037-A269-49587C5EC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391" y="2338679"/>
              <a:ext cx="6971997" cy="252171"/>
            </a:xfrm>
            <a:prstGeom prst="roundRect">
              <a:avLst/>
            </a:prstGeom>
            <a:gradFill>
              <a:gsLst>
                <a:gs pos="0">
                  <a:schemeClr val="accent3">
                    <a:tint val="60000"/>
                    <a:lumMod val="104000"/>
                    <a:alpha val="96000"/>
                  </a:schemeClr>
                </a:gs>
                <a:gs pos="100000">
                  <a:schemeClr val="accent3">
                    <a:tint val="84000"/>
                  </a:schemeClr>
                </a:gs>
              </a:gsLst>
            </a:gradFill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36000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pt-BR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USE </a:t>
              </a:r>
              <a:r>
                <a:rPr lang="pt-BR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nome_do_banco</a:t>
              </a:r>
              <a:r>
                <a:rPr lang="pt-BR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;</a:t>
              </a:r>
              <a:endParaRPr lang="en-US" altLang="pt-BR" sz="2000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endParaRPr>
            </a:p>
          </p:txBody>
        </p:sp>
        <p:sp>
          <p:nvSpPr>
            <p:cNvPr id="8" name="Título 1">
              <a:extLst>
                <a:ext uri="{FF2B5EF4-FFF2-40B4-BE49-F238E27FC236}">
                  <a16:creationId xmlns:a16="http://schemas.microsoft.com/office/drawing/2014/main" id="{84D61E1D-7D18-47EA-BE74-C74020F8BEE3}"/>
                </a:ext>
              </a:extLst>
            </p:cNvPr>
            <p:cNvSpPr txBox="1">
              <a:spLocks/>
            </p:cNvSpPr>
            <p:nvPr/>
          </p:nvSpPr>
          <p:spPr>
            <a:xfrm>
              <a:off x="2882925" y="1879458"/>
              <a:ext cx="1970929" cy="420426"/>
            </a:xfrm>
            <a:prstGeom prst="rect">
              <a:avLst/>
            </a:prstGeom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000" kern="1200" cap="none">
                  <a:ln w="3175" cmpd="sng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pt-BR" sz="3200" dirty="0"/>
                <a:t>Sintaxe</a:t>
              </a:r>
              <a:endParaRPr lang="pt-BR" sz="2000" dirty="0"/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0B3F1FC3-4039-4B38-9EC1-7B25A7B83E31}"/>
              </a:ext>
            </a:extLst>
          </p:cNvPr>
          <p:cNvGrpSpPr/>
          <p:nvPr/>
        </p:nvGrpSpPr>
        <p:grpSpPr>
          <a:xfrm>
            <a:off x="247087" y="4510367"/>
            <a:ext cx="11697826" cy="1248814"/>
            <a:chOff x="382391" y="1879458"/>
            <a:chExt cx="6971997" cy="711392"/>
          </a:xfrm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941DEB5E-6362-475C-80AC-C447A996C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391" y="2338679"/>
              <a:ext cx="6971997" cy="252171"/>
            </a:xfrm>
            <a:prstGeom prst="roundRect">
              <a:avLst/>
            </a:prstGeom>
            <a:ln/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36000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pt-BR" altLang="pt-BR" sz="2000" b="1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USE </a:t>
              </a:r>
              <a:r>
                <a:rPr lang="pt-BR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escola</a:t>
              </a:r>
              <a:r>
                <a:rPr lang="pt-BR" altLang="pt-BR" sz="2000" b="1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;</a:t>
              </a:r>
              <a:endParaRPr lang="en-US" altLang="pt-BR" sz="2000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endParaRPr>
            </a:p>
          </p:txBody>
        </p:sp>
        <p:sp>
          <p:nvSpPr>
            <p:cNvPr id="11" name="Título 1">
              <a:extLst>
                <a:ext uri="{FF2B5EF4-FFF2-40B4-BE49-F238E27FC236}">
                  <a16:creationId xmlns:a16="http://schemas.microsoft.com/office/drawing/2014/main" id="{285DFF7F-77F8-45DC-9E92-5AC1C8C17C71}"/>
                </a:ext>
              </a:extLst>
            </p:cNvPr>
            <p:cNvSpPr txBox="1">
              <a:spLocks/>
            </p:cNvSpPr>
            <p:nvPr/>
          </p:nvSpPr>
          <p:spPr>
            <a:xfrm>
              <a:off x="2882925" y="1879458"/>
              <a:ext cx="1970929" cy="420426"/>
            </a:xfrm>
            <a:prstGeom prst="rect">
              <a:avLst/>
            </a:prstGeom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000" kern="1200" cap="none">
                  <a:ln w="3175" cmpd="sng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pt-BR" sz="3200" dirty="0"/>
                <a:t>Exemplo</a:t>
              </a:r>
            </a:p>
          </p:txBody>
        </p:sp>
      </p:grpSp>
      <p:sp>
        <p:nvSpPr>
          <p:cNvPr id="12" name="Retângulo Arredondado 2">
            <a:extLst>
              <a:ext uri="{FF2B5EF4-FFF2-40B4-BE49-F238E27FC236}">
                <a16:creationId xmlns:a16="http://schemas.microsoft.com/office/drawing/2014/main" id="{83132F0E-7D9F-4F9C-A3A7-73AB50AEC9DF}"/>
              </a:ext>
            </a:extLst>
          </p:cNvPr>
          <p:cNvSpPr/>
          <p:nvPr/>
        </p:nvSpPr>
        <p:spPr>
          <a:xfrm>
            <a:off x="386498" y="1098819"/>
            <a:ext cx="11512695" cy="125063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anchor="ctr">
            <a:noAutofit/>
          </a:bodyPr>
          <a:lstStyle/>
          <a:p>
            <a:pPr algn="just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Antes de começar a criar suas tabelas ou realizar consultas, é necessário selecionar a </a:t>
            </a:r>
            <a:r>
              <a:rPr lang="pt-BR" sz="3200" dirty="0" err="1"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que será utilizada.</a:t>
            </a:r>
          </a:p>
        </p:txBody>
      </p:sp>
    </p:spTree>
    <p:extLst>
      <p:ext uri="{BB962C8B-B14F-4D97-AF65-F5344CB8AC3E}">
        <p14:creationId xmlns:p14="http://schemas.microsoft.com/office/powerpoint/2010/main" val="4249898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 txBox="1">
            <a:spLocks/>
          </p:cNvSpPr>
          <p:nvPr/>
        </p:nvSpPr>
        <p:spPr>
          <a:xfrm>
            <a:off x="465946" y="239217"/>
            <a:ext cx="11353801" cy="859602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Criando tabelas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2389E10A-A7F9-4E6A-BC7B-30D0BAB05272}"/>
              </a:ext>
            </a:extLst>
          </p:cNvPr>
          <p:cNvGrpSpPr/>
          <p:nvPr/>
        </p:nvGrpSpPr>
        <p:grpSpPr>
          <a:xfrm>
            <a:off x="293933" y="1098818"/>
            <a:ext cx="11697826" cy="2069624"/>
            <a:chOff x="382391" y="1702847"/>
            <a:chExt cx="6971997" cy="1178970"/>
          </a:xfrm>
        </p:grpSpPr>
        <p:sp>
          <p:nvSpPr>
            <p:cNvPr id="6" name="Rectangle 1">
              <a:extLst>
                <a:ext uri="{FF2B5EF4-FFF2-40B4-BE49-F238E27FC236}">
                  <a16:creationId xmlns:a16="http://schemas.microsoft.com/office/drawing/2014/main" id="{21D0BA82-318B-4037-A269-49587C5EC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391" y="2047712"/>
              <a:ext cx="6971997" cy="834105"/>
            </a:xfrm>
            <a:prstGeom prst="roundRect">
              <a:avLst/>
            </a:prstGeom>
            <a:gradFill>
              <a:gsLst>
                <a:gs pos="0">
                  <a:schemeClr val="accent3">
                    <a:tint val="60000"/>
                    <a:lumMod val="104000"/>
                    <a:alpha val="96000"/>
                  </a:schemeClr>
                </a:gs>
                <a:gs pos="100000">
                  <a:schemeClr val="accent3">
                    <a:tint val="84000"/>
                  </a:schemeClr>
                </a:gs>
              </a:gsLst>
            </a:gradFill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36000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CREATE TABLE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nome_tabela</a:t>
              </a:r>
              <a:endParaRPr lang="en-US" altLang="pt-BR" sz="2000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(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primeiro_campo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	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tipo_do_campo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(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tamanho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),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segundo_campo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tipo_do_campo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(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tamanho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)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);</a:t>
              </a:r>
            </a:p>
          </p:txBody>
        </p:sp>
        <p:sp>
          <p:nvSpPr>
            <p:cNvPr id="8" name="Título 1">
              <a:extLst>
                <a:ext uri="{FF2B5EF4-FFF2-40B4-BE49-F238E27FC236}">
                  <a16:creationId xmlns:a16="http://schemas.microsoft.com/office/drawing/2014/main" id="{84D61E1D-7D18-47EA-BE74-C74020F8BEE3}"/>
                </a:ext>
              </a:extLst>
            </p:cNvPr>
            <p:cNvSpPr txBox="1">
              <a:spLocks/>
            </p:cNvSpPr>
            <p:nvPr/>
          </p:nvSpPr>
          <p:spPr>
            <a:xfrm>
              <a:off x="2882925" y="1702847"/>
              <a:ext cx="1970929" cy="420426"/>
            </a:xfrm>
            <a:prstGeom prst="rect">
              <a:avLst/>
            </a:prstGeom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000" kern="1200" cap="none">
                  <a:ln w="3175" cmpd="sng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pt-BR" sz="3200" dirty="0"/>
                <a:t>Sintaxe</a:t>
              </a:r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0B3F1FC3-4039-4B38-9EC1-7B25A7B83E31}"/>
              </a:ext>
            </a:extLst>
          </p:cNvPr>
          <p:cNvGrpSpPr/>
          <p:nvPr/>
        </p:nvGrpSpPr>
        <p:grpSpPr>
          <a:xfrm>
            <a:off x="293933" y="3594679"/>
            <a:ext cx="11697826" cy="2234453"/>
            <a:chOff x="382391" y="1705941"/>
            <a:chExt cx="6971997" cy="1272866"/>
          </a:xfrm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941DEB5E-6362-475C-80AC-C447A996C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391" y="1950724"/>
              <a:ext cx="6971997" cy="1028083"/>
            </a:xfrm>
            <a:prstGeom prst="roundRect">
              <a:avLst/>
            </a:prstGeom>
            <a:ln/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36000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CREATE TABLE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alunos</a:t>
              </a:r>
              <a:endParaRPr lang="en-US" altLang="pt-BR" sz="2000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(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matricula	 int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,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nome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varchar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(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45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),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turma_idturma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int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);</a:t>
              </a:r>
            </a:p>
          </p:txBody>
        </p:sp>
        <p:sp>
          <p:nvSpPr>
            <p:cNvPr id="11" name="Título 1">
              <a:extLst>
                <a:ext uri="{FF2B5EF4-FFF2-40B4-BE49-F238E27FC236}">
                  <a16:creationId xmlns:a16="http://schemas.microsoft.com/office/drawing/2014/main" id="{285DFF7F-77F8-45DC-9E92-5AC1C8C17C71}"/>
                </a:ext>
              </a:extLst>
            </p:cNvPr>
            <p:cNvSpPr txBox="1">
              <a:spLocks/>
            </p:cNvSpPr>
            <p:nvPr/>
          </p:nvSpPr>
          <p:spPr>
            <a:xfrm>
              <a:off x="2882925" y="1705941"/>
              <a:ext cx="1970929" cy="420426"/>
            </a:xfrm>
            <a:prstGeom prst="rect">
              <a:avLst/>
            </a:prstGeom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000" kern="1200" cap="none">
                  <a:ln w="3175" cmpd="sng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pt-BR" sz="3200" dirty="0"/>
                <a:t>Exemplo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2938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 txBox="1">
            <a:spLocks/>
          </p:cNvSpPr>
          <p:nvPr/>
        </p:nvSpPr>
        <p:spPr>
          <a:xfrm>
            <a:off x="465946" y="239217"/>
            <a:ext cx="11353801" cy="859602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Criando tabelas com CHAVE PRIMARIA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2389E10A-A7F9-4E6A-BC7B-30D0BAB05272}"/>
              </a:ext>
            </a:extLst>
          </p:cNvPr>
          <p:cNvGrpSpPr/>
          <p:nvPr/>
        </p:nvGrpSpPr>
        <p:grpSpPr>
          <a:xfrm>
            <a:off x="293933" y="1014162"/>
            <a:ext cx="11697826" cy="2385608"/>
            <a:chOff x="382391" y="1619834"/>
            <a:chExt cx="6971997" cy="1358972"/>
          </a:xfrm>
        </p:grpSpPr>
        <p:sp>
          <p:nvSpPr>
            <p:cNvPr id="6" name="Rectangle 1">
              <a:extLst>
                <a:ext uri="{FF2B5EF4-FFF2-40B4-BE49-F238E27FC236}">
                  <a16:creationId xmlns:a16="http://schemas.microsoft.com/office/drawing/2014/main" id="{21D0BA82-318B-4037-A269-49587C5EC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391" y="1950723"/>
              <a:ext cx="6971997" cy="1028083"/>
            </a:xfrm>
            <a:prstGeom prst="roundRect">
              <a:avLst/>
            </a:prstGeom>
            <a:gradFill>
              <a:gsLst>
                <a:gs pos="0">
                  <a:schemeClr val="accent3">
                    <a:tint val="60000"/>
                    <a:lumMod val="104000"/>
                    <a:alpha val="96000"/>
                  </a:schemeClr>
                </a:gs>
                <a:gs pos="100000">
                  <a:schemeClr val="accent3">
                    <a:tint val="84000"/>
                  </a:schemeClr>
                </a:gs>
              </a:gsLst>
            </a:gradFill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36000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CREATE TABLE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nome_tabela</a:t>
              </a:r>
              <a:endParaRPr lang="en-US" altLang="pt-BR" sz="2000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(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primeiro_campo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	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tipo_do_campo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(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tamanho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),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segundo_campo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tipo_do_campo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(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tamanho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),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PRIMARY KEY (`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primeiro_campo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`)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);</a:t>
              </a:r>
            </a:p>
          </p:txBody>
        </p:sp>
        <p:sp>
          <p:nvSpPr>
            <p:cNvPr id="8" name="Título 1">
              <a:extLst>
                <a:ext uri="{FF2B5EF4-FFF2-40B4-BE49-F238E27FC236}">
                  <a16:creationId xmlns:a16="http://schemas.microsoft.com/office/drawing/2014/main" id="{84D61E1D-7D18-47EA-BE74-C74020F8BEE3}"/>
                </a:ext>
              </a:extLst>
            </p:cNvPr>
            <p:cNvSpPr txBox="1">
              <a:spLocks/>
            </p:cNvSpPr>
            <p:nvPr/>
          </p:nvSpPr>
          <p:spPr>
            <a:xfrm>
              <a:off x="2882925" y="1619834"/>
              <a:ext cx="1970929" cy="420426"/>
            </a:xfrm>
            <a:prstGeom prst="rect">
              <a:avLst/>
            </a:prstGeom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000" kern="1200" cap="none">
                  <a:ln w="3175" cmpd="sng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pt-BR" sz="3200" dirty="0"/>
                <a:t>Sintaxe</a:t>
              </a:r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0B3F1FC3-4039-4B38-9EC1-7B25A7B83E31}"/>
              </a:ext>
            </a:extLst>
          </p:cNvPr>
          <p:cNvGrpSpPr/>
          <p:nvPr/>
        </p:nvGrpSpPr>
        <p:grpSpPr>
          <a:xfrm>
            <a:off x="293933" y="3657482"/>
            <a:ext cx="11697826" cy="2660694"/>
            <a:chOff x="382391" y="1560121"/>
            <a:chExt cx="6971997" cy="1515676"/>
          </a:xfrm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941DEB5E-6362-475C-80AC-C447A996C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391" y="1853735"/>
              <a:ext cx="6971997" cy="1222062"/>
            </a:xfrm>
            <a:prstGeom prst="roundRect">
              <a:avLst/>
            </a:prstGeom>
            <a:ln/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36000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CREATE TABLE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alunos</a:t>
              </a:r>
              <a:endParaRPr lang="en-US" altLang="pt-BR" sz="2000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(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matricula	 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INT,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nome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VARCHAR(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45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),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turma_idturma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int,</a:t>
              </a:r>
              <a:endParaRPr lang="en-US" altLang="pt-BR" sz="2000" b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PRIMARY KEY (`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matricula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`)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);</a:t>
              </a:r>
            </a:p>
          </p:txBody>
        </p:sp>
        <p:sp>
          <p:nvSpPr>
            <p:cNvPr id="11" name="Título 1">
              <a:extLst>
                <a:ext uri="{FF2B5EF4-FFF2-40B4-BE49-F238E27FC236}">
                  <a16:creationId xmlns:a16="http://schemas.microsoft.com/office/drawing/2014/main" id="{285DFF7F-77F8-45DC-9E92-5AC1C8C17C71}"/>
                </a:ext>
              </a:extLst>
            </p:cNvPr>
            <p:cNvSpPr txBox="1">
              <a:spLocks/>
            </p:cNvSpPr>
            <p:nvPr/>
          </p:nvSpPr>
          <p:spPr>
            <a:xfrm>
              <a:off x="2855004" y="1560121"/>
              <a:ext cx="1970929" cy="420426"/>
            </a:xfrm>
            <a:prstGeom prst="rect">
              <a:avLst/>
            </a:prstGeom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000" kern="1200" cap="none">
                  <a:ln w="3175" cmpd="sng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pt-BR" sz="3200" dirty="0"/>
                <a:t>Exemplo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00114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 txBox="1">
            <a:spLocks/>
          </p:cNvSpPr>
          <p:nvPr/>
        </p:nvSpPr>
        <p:spPr>
          <a:xfrm>
            <a:off x="465946" y="239217"/>
            <a:ext cx="11353801" cy="859602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Criando tabelas com CHAVE ESTRANGEIRA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2389E10A-A7F9-4E6A-BC7B-30D0BAB05272}"/>
              </a:ext>
            </a:extLst>
          </p:cNvPr>
          <p:cNvGrpSpPr/>
          <p:nvPr/>
        </p:nvGrpSpPr>
        <p:grpSpPr>
          <a:xfrm>
            <a:off x="293933" y="1098816"/>
            <a:ext cx="11697826" cy="2740661"/>
            <a:chOff x="382391" y="1702847"/>
            <a:chExt cx="6971997" cy="1561230"/>
          </a:xfrm>
        </p:grpSpPr>
        <p:sp>
          <p:nvSpPr>
            <p:cNvPr id="6" name="Rectangle 1">
              <a:extLst>
                <a:ext uri="{FF2B5EF4-FFF2-40B4-BE49-F238E27FC236}">
                  <a16:creationId xmlns:a16="http://schemas.microsoft.com/office/drawing/2014/main" id="{21D0BA82-318B-4037-A269-49587C5EC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391" y="1983822"/>
              <a:ext cx="6971997" cy="1280255"/>
            </a:xfrm>
            <a:prstGeom prst="roundRect">
              <a:avLst/>
            </a:prstGeom>
            <a:gradFill>
              <a:gsLst>
                <a:gs pos="0">
                  <a:schemeClr val="accent3">
                    <a:tint val="60000"/>
                    <a:lumMod val="104000"/>
                    <a:alpha val="96000"/>
                  </a:schemeClr>
                </a:gs>
                <a:gs pos="100000">
                  <a:schemeClr val="accent3">
                    <a:tint val="84000"/>
                  </a:schemeClr>
                </a:gs>
              </a:gsLst>
            </a:gradFill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36000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CREATE TABLE </a:t>
              </a:r>
              <a:r>
                <a:rPr lang="en-US" altLang="pt-BR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nome_tabela</a:t>
              </a:r>
              <a:endParaRPr lang="en-US" altLang="pt-BR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(</a:t>
              </a:r>
              <a:r>
                <a:rPr lang="en-US" altLang="pt-BR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primeiro_campo</a:t>
              </a:r>
              <a:r>
                <a:rPr lang="en-US" altLang="pt-BR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	 </a:t>
              </a:r>
              <a:r>
                <a:rPr lang="en-US" altLang="pt-BR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tipo_do_campo</a:t>
              </a:r>
              <a:r>
                <a:rPr lang="en-US" altLang="pt-BR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(</a:t>
              </a:r>
              <a:r>
                <a:rPr lang="en-US" altLang="pt-BR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tamanho</a:t>
              </a:r>
              <a:r>
                <a:rPr lang="en-US" altLang="pt-BR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),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</a:t>
              </a:r>
              <a:r>
                <a:rPr lang="en-US" altLang="pt-BR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segundo_campo</a:t>
              </a:r>
              <a:r>
                <a:rPr lang="en-US" altLang="pt-BR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</a:t>
              </a:r>
              <a:r>
                <a:rPr lang="en-US" altLang="pt-BR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tipo_do_campo</a:t>
              </a:r>
              <a:r>
                <a:rPr lang="en-US" altLang="pt-BR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(</a:t>
              </a:r>
              <a:r>
                <a:rPr lang="en-US" altLang="pt-BR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tamanho</a:t>
              </a:r>
              <a:r>
                <a:rPr lang="en-US" altLang="pt-BR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),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PRIMARY KEY (</a:t>
              </a:r>
              <a:r>
                <a:rPr lang="en-US" altLang="pt-BR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primeiro_campo</a:t>
              </a:r>
              <a:r>
                <a:rPr lang="en-US" altLang="pt-BR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),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pt-BR" altLang="pt-BR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CONSTRAINT </a:t>
              </a:r>
              <a:r>
                <a:rPr lang="pt-BR" altLang="pt-BR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nome_da_regra</a:t>
              </a:r>
              <a:r>
                <a:rPr lang="pt-BR" altLang="pt-BR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</a:t>
              </a:r>
              <a:r>
                <a:rPr lang="pt-BR" altLang="pt-BR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FOREIGN KEY (</a:t>
              </a:r>
              <a:r>
                <a:rPr lang="pt-BR" altLang="pt-BR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campo_desta_tabela</a:t>
              </a:r>
              <a:r>
                <a:rPr lang="pt-BR" altLang="pt-BR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)    REFERENCES </a:t>
              </a:r>
              <a:r>
                <a:rPr lang="pt-BR" altLang="pt-BR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nome_da_segunda_tabela</a:t>
              </a:r>
              <a:r>
                <a:rPr lang="pt-BR" altLang="pt-BR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(</a:t>
              </a:r>
              <a:r>
                <a:rPr lang="pt-BR" altLang="pt-BR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chave_primaria_da_segunda_tabela</a:t>
              </a:r>
              <a:r>
                <a:rPr lang="pt-BR" altLang="pt-BR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)</a:t>
              </a:r>
              <a:endParaRPr lang="en-US" altLang="pt-BR" b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);</a:t>
              </a:r>
            </a:p>
          </p:txBody>
        </p:sp>
        <p:sp>
          <p:nvSpPr>
            <p:cNvPr id="8" name="Título 1">
              <a:extLst>
                <a:ext uri="{FF2B5EF4-FFF2-40B4-BE49-F238E27FC236}">
                  <a16:creationId xmlns:a16="http://schemas.microsoft.com/office/drawing/2014/main" id="{84D61E1D-7D18-47EA-BE74-C74020F8BEE3}"/>
                </a:ext>
              </a:extLst>
            </p:cNvPr>
            <p:cNvSpPr txBox="1">
              <a:spLocks/>
            </p:cNvSpPr>
            <p:nvPr/>
          </p:nvSpPr>
          <p:spPr>
            <a:xfrm>
              <a:off x="2882925" y="1702847"/>
              <a:ext cx="1970929" cy="420426"/>
            </a:xfrm>
            <a:prstGeom prst="rect">
              <a:avLst/>
            </a:prstGeom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000" kern="1200" cap="none">
                  <a:ln w="3175" cmpd="sng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pt-BR" sz="3200" dirty="0"/>
                <a:t>Sintaxe</a:t>
              </a:r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0B3F1FC3-4039-4B38-9EC1-7B25A7B83E31}"/>
              </a:ext>
            </a:extLst>
          </p:cNvPr>
          <p:cNvGrpSpPr/>
          <p:nvPr/>
        </p:nvGrpSpPr>
        <p:grpSpPr>
          <a:xfrm>
            <a:off x="377823" y="4064953"/>
            <a:ext cx="11697826" cy="2401985"/>
            <a:chOff x="382391" y="1705941"/>
            <a:chExt cx="6971997" cy="1368302"/>
          </a:xfrm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941DEB5E-6362-475C-80AC-C447A996C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391" y="2065557"/>
              <a:ext cx="6971997" cy="1008686"/>
            </a:xfrm>
            <a:prstGeom prst="roundRect">
              <a:avLst/>
            </a:prstGeom>
            <a:ln/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36000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14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CREATE TABLE </a:t>
              </a:r>
              <a:r>
                <a:rPr lang="en-US" altLang="pt-BR" sz="14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alunos</a:t>
              </a:r>
              <a:endParaRPr lang="en-US" altLang="pt-BR" sz="1400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14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(</a:t>
              </a:r>
              <a:r>
                <a:rPr lang="en-US" altLang="pt-BR" sz="14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matricula	 </a:t>
              </a:r>
              <a:r>
                <a:rPr lang="en-US" altLang="pt-BR" sz="14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INT,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14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</a:t>
              </a:r>
              <a:r>
                <a:rPr lang="en-US" altLang="pt-BR" sz="14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nome</a:t>
              </a:r>
              <a:r>
                <a:rPr lang="en-US" altLang="pt-BR" sz="14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</a:t>
              </a:r>
              <a:r>
                <a:rPr lang="en-US" altLang="pt-BR" sz="14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VARCHAR(</a:t>
              </a:r>
              <a:r>
                <a:rPr lang="en-US" altLang="pt-BR" sz="14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45</a:t>
              </a:r>
              <a:r>
                <a:rPr lang="en-US" altLang="pt-BR" sz="14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),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14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</a:t>
              </a:r>
              <a:r>
                <a:rPr lang="en-US" altLang="pt-BR" sz="14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turma_idturma</a:t>
              </a:r>
              <a:r>
                <a:rPr lang="en-US" altLang="pt-BR" sz="14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int,</a:t>
              </a:r>
              <a:endParaRPr lang="en-US" altLang="pt-BR" sz="1400" b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14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PRIMARY KEY (`</a:t>
              </a:r>
              <a:r>
                <a:rPr lang="en-US" altLang="pt-BR" sz="14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matricula</a:t>
              </a:r>
              <a:r>
                <a:rPr lang="en-US" altLang="pt-BR" sz="14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`),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pt-BR" altLang="pt-BR" sz="14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CONSTRAINT </a:t>
              </a:r>
              <a:r>
                <a:rPr lang="pt-BR" altLang="pt-BR" sz="14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fk_alunos_turma</a:t>
              </a:r>
              <a:r>
                <a:rPr lang="pt-BR" altLang="pt-BR" sz="14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</a:t>
              </a:r>
              <a:r>
                <a:rPr lang="pt-BR" altLang="pt-BR" sz="14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FOREIGN KEY (</a:t>
              </a:r>
              <a:r>
                <a:rPr lang="pt-BR" altLang="pt-BR" sz="14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turma_idturma</a:t>
              </a:r>
              <a:r>
                <a:rPr lang="pt-BR" altLang="pt-BR" sz="14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) REFERENCES </a:t>
              </a:r>
              <a:r>
                <a:rPr lang="pt-BR" altLang="pt-BR" sz="14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turma</a:t>
              </a:r>
              <a:r>
                <a:rPr lang="pt-BR" altLang="pt-BR" sz="14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(</a:t>
              </a:r>
              <a:r>
                <a:rPr lang="pt-BR" altLang="pt-BR" sz="14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idturma</a:t>
              </a:r>
              <a:r>
                <a:rPr lang="pt-BR" altLang="pt-BR" sz="14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)</a:t>
              </a:r>
              <a:endParaRPr lang="en-US" altLang="pt-BR" sz="1400" b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14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);</a:t>
              </a:r>
            </a:p>
          </p:txBody>
        </p:sp>
        <p:sp>
          <p:nvSpPr>
            <p:cNvPr id="11" name="Título 1">
              <a:extLst>
                <a:ext uri="{FF2B5EF4-FFF2-40B4-BE49-F238E27FC236}">
                  <a16:creationId xmlns:a16="http://schemas.microsoft.com/office/drawing/2014/main" id="{285DFF7F-77F8-45DC-9E92-5AC1C8C17C71}"/>
                </a:ext>
              </a:extLst>
            </p:cNvPr>
            <p:cNvSpPr txBox="1">
              <a:spLocks/>
            </p:cNvSpPr>
            <p:nvPr/>
          </p:nvSpPr>
          <p:spPr>
            <a:xfrm>
              <a:off x="2882925" y="1705941"/>
              <a:ext cx="1970929" cy="420426"/>
            </a:xfrm>
            <a:prstGeom prst="rect">
              <a:avLst/>
            </a:prstGeom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000" kern="1200" cap="none">
                  <a:ln w="3175" cmpd="sng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pt-BR" sz="3200" dirty="0"/>
                <a:t>Exemplo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34776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 txBox="1">
            <a:spLocks/>
          </p:cNvSpPr>
          <p:nvPr/>
        </p:nvSpPr>
        <p:spPr>
          <a:xfrm>
            <a:off x="465946" y="239217"/>
            <a:ext cx="11353801" cy="859602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Incluindo CHAVE ESTRANGEIRA</a:t>
            </a:r>
          </a:p>
          <a:p>
            <a:r>
              <a:rPr lang="pt-BR" dirty="0"/>
              <a:t>depois da tabela criada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2389E10A-A7F9-4E6A-BC7B-30D0BAB05272}"/>
              </a:ext>
            </a:extLst>
          </p:cNvPr>
          <p:cNvGrpSpPr/>
          <p:nvPr/>
        </p:nvGrpSpPr>
        <p:grpSpPr>
          <a:xfrm>
            <a:off x="293933" y="1882010"/>
            <a:ext cx="11697826" cy="1622022"/>
            <a:chOff x="382391" y="1990925"/>
            <a:chExt cx="6971997" cy="923992"/>
          </a:xfrm>
        </p:grpSpPr>
        <p:sp>
          <p:nvSpPr>
            <p:cNvPr id="6" name="Rectangle 1">
              <a:extLst>
                <a:ext uri="{FF2B5EF4-FFF2-40B4-BE49-F238E27FC236}">
                  <a16:creationId xmlns:a16="http://schemas.microsoft.com/office/drawing/2014/main" id="{21D0BA82-318B-4037-A269-49587C5EC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391" y="2332983"/>
              <a:ext cx="6971997" cy="581934"/>
            </a:xfrm>
            <a:prstGeom prst="roundRect">
              <a:avLst/>
            </a:prstGeom>
            <a:gradFill>
              <a:gsLst>
                <a:gs pos="0">
                  <a:schemeClr val="accent3">
                    <a:tint val="60000"/>
                    <a:lumMod val="104000"/>
                    <a:alpha val="96000"/>
                  </a:schemeClr>
                </a:gs>
                <a:gs pos="100000">
                  <a:schemeClr val="accent3">
                    <a:tint val="84000"/>
                  </a:schemeClr>
                </a:gs>
              </a:gsLst>
            </a:gradFill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36000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pt-BR" altLang="pt-BR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ALTER TABLE </a:t>
              </a:r>
              <a:r>
                <a:rPr lang="pt-BR" altLang="pt-BR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nome_tabela</a:t>
              </a:r>
              <a:endParaRPr lang="pt-BR" altLang="pt-BR" b="1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pt-BR" altLang="pt-BR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ADD CONSTRAINT </a:t>
              </a:r>
              <a:r>
                <a:rPr lang="pt-BR" altLang="pt-BR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nome_da_regra</a:t>
              </a:r>
              <a:r>
                <a:rPr lang="pt-BR" altLang="pt-BR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</a:t>
              </a:r>
              <a:r>
                <a:rPr lang="pt-BR" altLang="pt-BR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FOREIGN KEY (</a:t>
              </a:r>
              <a:r>
                <a:rPr lang="pt-BR" altLang="pt-BR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campo_desta_tabela</a:t>
              </a:r>
              <a:r>
                <a:rPr lang="pt-BR" altLang="pt-BR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) REFERENCES </a:t>
              </a:r>
              <a:r>
                <a:rPr lang="pt-BR" altLang="pt-BR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nome_da_segunda_tabela</a:t>
              </a:r>
              <a:r>
                <a:rPr lang="pt-BR" altLang="pt-BR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(</a:t>
              </a:r>
              <a:r>
                <a:rPr lang="pt-BR" altLang="pt-BR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chave_primaria_da_segunda_tabela</a:t>
              </a:r>
              <a:r>
                <a:rPr lang="pt-BR" altLang="pt-BR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);</a:t>
              </a:r>
              <a:endParaRPr lang="en-US" altLang="pt-BR" b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endParaRPr>
            </a:p>
          </p:txBody>
        </p:sp>
        <p:sp>
          <p:nvSpPr>
            <p:cNvPr id="8" name="Título 1">
              <a:extLst>
                <a:ext uri="{FF2B5EF4-FFF2-40B4-BE49-F238E27FC236}">
                  <a16:creationId xmlns:a16="http://schemas.microsoft.com/office/drawing/2014/main" id="{84D61E1D-7D18-47EA-BE74-C74020F8BEE3}"/>
                </a:ext>
              </a:extLst>
            </p:cNvPr>
            <p:cNvSpPr txBox="1">
              <a:spLocks/>
            </p:cNvSpPr>
            <p:nvPr/>
          </p:nvSpPr>
          <p:spPr>
            <a:xfrm>
              <a:off x="2882925" y="1990925"/>
              <a:ext cx="1970929" cy="420426"/>
            </a:xfrm>
            <a:prstGeom prst="rect">
              <a:avLst/>
            </a:prstGeom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000" kern="1200" cap="none">
                  <a:ln w="3175" cmpd="sng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pt-BR" sz="3200" dirty="0"/>
                <a:t>Sintaxe</a:t>
              </a:r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0B3F1FC3-4039-4B38-9EC1-7B25A7B83E31}"/>
              </a:ext>
            </a:extLst>
          </p:cNvPr>
          <p:cNvGrpSpPr/>
          <p:nvPr/>
        </p:nvGrpSpPr>
        <p:grpSpPr>
          <a:xfrm>
            <a:off x="377823" y="4064952"/>
            <a:ext cx="11697826" cy="1864490"/>
            <a:chOff x="382391" y="1705941"/>
            <a:chExt cx="6971997" cy="1062116"/>
          </a:xfrm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941DEB5E-6362-475C-80AC-C447A996C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391" y="2127929"/>
              <a:ext cx="6971997" cy="640128"/>
            </a:xfrm>
            <a:prstGeom prst="roundRect">
              <a:avLst/>
            </a:prstGeom>
            <a:ln/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36000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pt-BR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ALTER TABLE </a:t>
              </a:r>
              <a:r>
                <a:rPr lang="pt-BR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nome_tabela</a:t>
              </a:r>
              <a:endParaRPr lang="pt-BR" altLang="pt-BR" sz="2000" b="1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pt-BR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ADD CONSTRAINT </a:t>
              </a:r>
              <a:r>
                <a:rPr lang="pt-BR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fk_alunos_turma</a:t>
              </a:r>
              <a:r>
                <a:rPr lang="pt-BR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</a:t>
              </a:r>
              <a:r>
                <a:rPr lang="pt-BR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FOREIGN KEY (</a:t>
              </a:r>
              <a:r>
                <a:rPr lang="pt-BR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turma_idturma</a:t>
              </a:r>
              <a:r>
                <a:rPr lang="pt-BR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) REFERENCES </a:t>
              </a:r>
              <a:r>
                <a:rPr lang="pt-BR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turma</a:t>
              </a:r>
              <a:r>
                <a:rPr lang="pt-BR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(</a:t>
              </a:r>
              <a:r>
                <a:rPr lang="pt-BR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idturma</a:t>
              </a:r>
              <a:r>
                <a:rPr lang="pt-BR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)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;</a:t>
              </a:r>
            </a:p>
          </p:txBody>
        </p:sp>
        <p:sp>
          <p:nvSpPr>
            <p:cNvPr id="11" name="Título 1">
              <a:extLst>
                <a:ext uri="{FF2B5EF4-FFF2-40B4-BE49-F238E27FC236}">
                  <a16:creationId xmlns:a16="http://schemas.microsoft.com/office/drawing/2014/main" id="{285DFF7F-77F8-45DC-9E92-5AC1C8C17C71}"/>
                </a:ext>
              </a:extLst>
            </p:cNvPr>
            <p:cNvSpPr txBox="1">
              <a:spLocks/>
            </p:cNvSpPr>
            <p:nvPr/>
          </p:nvSpPr>
          <p:spPr>
            <a:xfrm>
              <a:off x="2882925" y="1705941"/>
              <a:ext cx="1970929" cy="420426"/>
            </a:xfrm>
            <a:prstGeom prst="rect">
              <a:avLst/>
            </a:prstGeom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000" kern="1200" cap="none">
                  <a:ln w="3175" cmpd="sng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pt-BR" sz="3200" dirty="0"/>
                <a:t>Exemplo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63304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 txBox="1">
            <a:spLocks/>
          </p:cNvSpPr>
          <p:nvPr/>
        </p:nvSpPr>
        <p:spPr>
          <a:xfrm>
            <a:off x="549835" y="457094"/>
            <a:ext cx="11353801" cy="859602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Incluindo novos campos na tabela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2389E10A-A7F9-4E6A-BC7B-30D0BAB05272}"/>
              </a:ext>
            </a:extLst>
          </p:cNvPr>
          <p:cNvGrpSpPr/>
          <p:nvPr/>
        </p:nvGrpSpPr>
        <p:grpSpPr>
          <a:xfrm>
            <a:off x="293933" y="1882010"/>
            <a:ext cx="11697826" cy="1622022"/>
            <a:chOff x="382391" y="1990925"/>
            <a:chExt cx="6971997" cy="923992"/>
          </a:xfrm>
        </p:grpSpPr>
        <p:sp>
          <p:nvSpPr>
            <p:cNvPr id="6" name="Rectangle 1">
              <a:extLst>
                <a:ext uri="{FF2B5EF4-FFF2-40B4-BE49-F238E27FC236}">
                  <a16:creationId xmlns:a16="http://schemas.microsoft.com/office/drawing/2014/main" id="{21D0BA82-318B-4037-A269-49587C5EC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391" y="2332983"/>
              <a:ext cx="6971997" cy="581934"/>
            </a:xfrm>
            <a:prstGeom prst="roundRect">
              <a:avLst/>
            </a:prstGeom>
            <a:gradFill>
              <a:gsLst>
                <a:gs pos="0">
                  <a:schemeClr val="accent3">
                    <a:tint val="60000"/>
                    <a:lumMod val="104000"/>
                    <a:alpha val="96000"/>
                  </a:schemeClr>
                </a:gs>
                <a:gs pos="100000">
                  <a:schemeClr val="accent3">
                    <a:tint val="84000"/>
                  </a:schemeClr>
                </a:gs>
              </a:gsLst>
            </a:gradFill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36000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pt-BR" altLang="pt-BR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ALTER TABLE </a:t>
              </a:r>
              <a:r>
                <a:rPr lang="pt-BR" altLang="pt-BR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nome_tabela</a:t>
              </a:r>
              <a:endParaRPr lang="pt-BR" altLang="pt-BR" b="1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pt-BR" altLang="pt-BR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ADD </a:t>
              </a:r>
              <a:r>
                <a:rPr lang="pt-BR" altLang="pt-BR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novo_campo_1 </a:t>
              </a:r>
              <a:r>
                <a:rPr lang="pt-BR" altLang="pt-BR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integer</a:t>
              </a:r>
              <a:r>
                <a:rPr lang="pt-BR" altLang="pt-BR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,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pt-BR" altLang="pt-BR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ADD</a:t>
              </a:r>
              <a:r>
                <a:rPr lang="pt-BR" altLang="pt-BR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novo_campo_2 </a:t>
              </a:r>
              <a:r>
                <a:rPr lang="pt-BR" altLang="pt-BR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varchar</a:t>
              </a:r>
              <a:r>
                <a:rPr lang="pt-BR" altLang="pt-BR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(45);</a:t>
              </a:r>
              <a:endParaRPr lang="en-US" altLang="pt-BR" b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endParaRPr>
            </a:p>
          </p:txBody>
        </p:sp>
        <p:sp>
          <p:nvSpPr>
            <p:cNvPr id="8" name="Título 1">
              <a:extLst>
                <a:ext uri="{FF2B5EF4-FFF2-40B4-BE49-F238E27FC236}">
                  <a16:creationId xmlns:a16="http://schemas.microsoft.com/office/drawing/2014/main" id="{84D61E1D-7D18-47EA-BE74-C74020F8BEE3}"/>
                </a:ext>
              </a:extLst>
            </p:cNvPr>
            <p:cNvSpPr txBox="1">
              <a:spLocks/>
            </p:cNvSpPr>
            <p:nvPr/>
          </p:nvSpPr>
          <p:spPr>
            <a:xfrm>
              <a:off x="2882925" y="1990925"/>
              <a:ext cx="1970929" cy="420426"/>
            </a:xfrm>
            <a:prstGeom prst="rect">
              <a:avLst/>
            </a:prstGeom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000" kern="1200" cap="none">
                  <a:ln w="3175" cmpd="sng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pt-BR" sz="3200" dirty="0"/>
                <a:t>Sintaxe</a:t>
              </a:r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0B3F1FC3-4039-4B38-9EC1-7B25A7B83E31}"/>
              </a:ext>
            </a:extLst>
          </p:cNvPr>
          <p:cNvGrpSpPr/>
          <p:nvPr/>
        </p:nvGrpSpPr>
        <p:grpSpPr>
          <a:xfrm>
            <a:off x="377823" y="4064952"/>
            <a:ext cx="11697826" cy="1864490"/>
            <a:chOff x="382391" y="1705941"/>
            <a:chExt cx="6971997" cy="1062116"/>
          </a:xfrm>
          <a:effectLst/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941DEB5E-6362-475C-80AC-C447A996C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391" y="2127929"/>
              <a:ext cx="6971997" cy="640128"/>
            </a:xfrm>
            <a:prstGeom prst="roundRect">
              <a:avLst/>
            </a:prstGeom>
            <a:ln/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36000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pt-BR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ALTER TABLE </a:t>
              </a:r>
              <a:r>
                <a:rPr lang="pt-BR" altLang="pt-BR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alunos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pt-BR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ADD </a:t>
              </a:r>
              <a:r>
                <a:rPr lang="pt-BR" altLang="pt-BR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idade </a:t>
              </a:r>
              <a:r>
                <a:rPr lang="pt-BR" altLang="pt-BR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integer</a:t>
              </a:r>
              <a:r>
                <a:rPr lang="pt-BR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,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pt-BR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ADD </a:t>
              </a:r>
              <a:r>
                <a:rPr lang="pt-BR" altLang="pt-BR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tamanho_uniforme</a:t>
              </a:r>
              <a:r>
                <a:rPr lang="pt-BR" altLang="pt-BR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</a:t>
              </a:r>
              <a:r>
                <a:rPr lang="pt-BR" altLang="pt-BR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varchar</a:t>
              </a:r>
              <a:r>
                <a:rPr lang="pt-BR" altLang="pt-BR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(3)</a:t>
              </a:r>
              <a:r>
                <a:rPr lang="pt-BR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;</a:t>
              </a:r>
            </a:p>
          </p:txBody>
        </p:sp>
        <p:sp>
          <p:nvSpPr>
            <p:cNvPr id="11" name="Título 1">
              <a:extLst>
                <a:ext uri="{FF2B5EF4-FFF2-40B4-BE49-F238E27FC236}">
                  <a16:creationId xmlns:a16="http://schemas.microsoft.com/office/drawing/2014/main" id="{285DFF7F-77F8-45DC-9E92-5AC1C8C17C71}"/>
                </a:ext>
              </a:extLst>
            </p:cNvPr>
            <p:cNvSpPr txBox="1">
              <a:spLocks/>
            </p:cNvSpPr>
            <p:nvPr/>
          </p:nvSpPr>
          <p:spPr>
            <a:xfrm>
              <a:off x="2882925" y="1705941"/>
              <a:ext cx="1970929" cy="420426"/>
            </a:xfrm>
            <a:prstGeom prst="rect">
              <a:avLst/>
            </a:prstGeom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000" kern="1200" cap="none">
                  <a:ln w="3175" cmpd="sng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pt-BR" sz="3200" dirty="0"/>
                <a:t>Exemplo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4380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 txBox="1">
            <a:spLocks/>
          </p:cNvSpPr>
          <p:nvPr/>
        </p:nvSpPr>
        <p:spPr>
          <a:xfrm>
            <a:off x="465946" y="239217"/>
            <a:ext cx="11353801" cy="859602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Criando uma VIEW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2389E10A-A7F9-4E6A-BC7B-30D0BAB05272}"/>
              </a:ext>
            </a:extLst>
          </p:cNvPr>
          <p:cNvGrpSpPr/>
          <p:nvPr/>
        </p:nvGrpSpPr>
        <p:grpSpPr>
          <a:xfrm>
            <a:off x="307052" y="2878280"/>
            <a:ext cx="11592141" cy="1269742"/>
            <a:chOff x="445380" y="1844167"/>
            <a:chExt cx="6909008" cy="723314"/>
          </a:xfrm>
        </p:grpSpPr>
        <p:sp>
          <p:nvSpPr>
            <p:cNvPr id="6" name="Rectangle 1">
              <a:extLst>
                <a:ext uri="{FF2B5EF4-FFF2-40B4-BE49-F238E27FC236}">
                  <a16:creationId xmlns:a16="http://schemas.microsoft.com/office/drawing/2014/main" id="{21D0BA82-318B-4037-A269-49587C5EC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380" y="2121332"/>
              <a:ext cx="6909008" cy="446149"/>
            </a:xfrm>
            <a:prstGeom prst="roundRect">
              <a:avLst/>
            </a:prstGeom>
            <a:gradFill>
              <a:gsLst>
                <a:gs pos="0">
                  <a:schemeClr val="accent3">
                    <a:tint val="60000"/>
                    <a:lumMod val="104000"/>
                    <a:alpha val="96000"/>
                  </a:schemeClr>
                </a:gs>
                <a:gs pos="100000">
                  <a:schemeClr val="accent3">
                    <a:tint val="84000"/>
                  </a:schemeClr>
                </a:gs>
              </a:gsLst>
            </a:gradFill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36000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CREATE VIEW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nome_da_view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AS</a:t>
              </a:r>
              <a:endParaRPr lang="en-US" altLang="pt-BR" sz="2000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código_da_consulta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;</a:t>
              </a:r>
            </a:p>
          </p:txBody>
        </p:sp>
        <p:sp>
          <p:nvSpPr>
            <p:cNvPr id="8" name="Título 1">
              <a:extLst>
                <a:ext uri="{FF2B5EF4-FFF2-40B4-BE49-F238E27FC236}">
                  <a16:creationId xmlns:a16="http://schemas.microsoft.com/office/drawing/2014/main" id="{84D61E1D-7D18-47EA-BE74-C74020F8BEE3}"/>
                </a:ext>
              </a:extLst>
            </p:cNvPr>
            <p:cNvSpPr txBox="1">
              <a:spLocks/>
            </p:cNvSpPr>
            <p:nvPr/>
          </p:nvSpPr>
          <p:spPr>
            <a:xfrm>
              <a:off x="2882925" y="1844167"/>
              <a:ext cx="1970929" cy="420426"/>
            </a:xfrm>
            <a:prstGeom prst="rect">
              <a:avLst/>
            </a:prstGeom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000" kern="1200" cap="none">
                  <a:ln w="3175" cmpd="sng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pt-BR" sz="3200" dirty="0"/>
                <a:t>Sintaxe</a:t>
              </a:r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0B3F1FC3-4039-4B38-9EC1-7B25A7B83E31}"/>
              </a:ext>
            </a:extLst>
          </p:cNvPr>
          <p:cNvGrpSpPr/>
          <p:nvPr/>
        </p:nvGrpSpPr>
        <p:grpSpPr>
          <a:xfrm>
            <a:off x="247087" y="4366068"/>
            <a:ext cx="11697826" cy="1457892"/>
            <a:chOff x="382391" y="1857345"/>
            <a:chExt cx="6971997" cy="830495"/>
          </a:xfrm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941DEB5E-6362-475C-80AC-C447A996C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391" y="2241691"/>
              <a:ext cx="6971997" cy="446149"/>
            </a:xfrm>
            <a:prstGeom prst="roundRect">
              <a:avLst/>
            </a:prstGeom>
            <a:ln/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36000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CREATE VIEW </a:t>
              </a:r>
              <a:r>
                <a:rPr lang="en-US" altLang="pt-BR" sz="2000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aluno_completo</a:t>
              </a:r>
              <a:r>
                <a:rPr lang="en-US" altLang="pt-BR" sz="2000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AS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pt-BR" sz="2000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endParaRPr>
            </a:p>
          </p:txBody>
        </p:sp>
        <p:sp>
          <p:nvSpPr>
            <p:cNvPr id="11" name="Título 1">
              <a:extLst>
                <a:ext uri="{FF2B5EF4-FFF2-40B4-BE49-F238E27FC236}">
                  <a16:creationId xmlns:a16="http://schemas.microsoft.com/office/drawing/2014/main" id="{285DFF7F-77F8-45DC-9E92-5AC1C8C17C71}"/>
                </a:ext>
              </a:extLst>
            </p:cNvPr>
            <p:cNvSpPr txBox="1">
              <a:spLocks/>
            </p:cNvSpPr>
            <p:nvPr/>
          </p:nvSpPr>
          <p:spPr>
            <a:xfrm>
              <a:off x="2800863" y="1857345"/>
              <a:ext cx="1970929" cy="420426"/>
            </a:xfrm>
            <a:prstGeom prst="rect">
              <a:avLst/>
            </a:prstGeom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000" kern="1200" cap="none">
                  <a:ln w="3175" cmpd="sng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pt-BR" sz="3200" dirty="0"/>
                <a:t>Exemplo</a:t>
              </a:r>
            </a:p>
          </p:txBody>
        </p:sp>
      </p:grpSp>
      <p:sp>
        <p:nvSpPr>
          <p:cNvPr id="12" name="Retângulo Arredondado 2">
            <a:extLst>
              <a:ext uri="{FF2B5EF4-FFF2-40B4-BE49-F238E27FC236}">
                <a16:creationId xmlns:a16="http://schemas.microsoft.com/office/drawing/2014/main" id="{1EC1EE18-1603-4669-A1AF-7C7E8D0916E8}"/>
              </a:ext>
            </a:extLst>
          </p:cNvPr>
          <p:cNvSpPr/>
          <p:nvPr/>
        </p:nvSpPr>
        <p:spPr>
          <a:xfrm>
            <a:off x="386498" y="1098819"/>
            <a:ext cx="11512695" cy="139311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anchor="ctr">
            <a:noAutofit/>
          </a:bodyPr>
          <a:lstStyle/>
          <a:p>
            <a:pPr algn="just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Uma </a:t>
            </a:r>
            <a:r>
              <a:rPr lang="pt-BR" sz="2800" dirty="0" err="1">
                <a:latin typeface="Arial" panose="020B0604020202020204" pitchFamily="34" charset="0"/>
                <a:cs typeface="Arial" panose="020B0604020202020204" pitchFamily="34" charset="0"/>
              </a:rPr>
              <a:t>view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pode ser definida como uma tabela virtual criada a partir de uma consulta (query) pré-definida.</a:t>
            </a:r>
          </a:p>
          <a:p>
            <a:pPr algn="just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Ela facilita a visualização das informações do banco de dados</a:t>
            </a:r>
          </a:p>
        </p:txBody>
      </p:sp>
      <p:sp>
        <p:nvSpPr>
          <p:cNvPr id="2" name="Explosão: 14 Pontos 1">
            <a:extLst>
              <a:ext uri="{FF2B5EF4-FFF2-40B4-BE49-F238E27FC236}">
                <a16:creationId xmlns:a16="http://schemas.microsoft.com/office/drawing/2014/main" id="{A7217781-972B-40B6-8409-69B7810EC6E5}"/>
              </a:ext>
            </a:extLst>
          </p:cNvPr>
          <p:cNvSpPr/>
          <p:nvPr/>
        </p:nvSpPr>
        <p:spPr>
          <a:xfrm>
            <a:off x="8320135" y="2850196"/>
            <a:ext cx="4033256" cy="3031743"/>
          </a:xfrm>
          <a:prstGeom prst="irregularSeal2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2000" dirty="0">
                <a:solidFill>
                  <a:schemeClr val="tx1"/>
                </a:solidFill>
              </a:rPr>
              <a:t>Vá estudar um pouco sobre DQL e só depois volte aqui!</a:t>
            </a:r>
          </a:p>
        </p:txBody>
      </p:sp>
    </p:spTree>
    <p:extLst>
      <p:ext uri="{BB962C8B-B14F-4D97-AF65-F5344CB8AC3E}">
        <p14:creationId xmlns:p14="http://schemas.microsoft.com/office/powerpoint/2010/main" val="458963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/>
          </p:cNvSpPr>
          <p:nvPr/>
        </p:nvSpPr>
        <p:spPr>
          <a:xfrm>
            <a:off x="1028545" y="1825959"/>
            <a:ext cx="10348747" cy="2616199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pt-BR" altLang="pt-BR" sz="8000" dirty="0"/>
              <a:t>DML</a:t>
            </a:r>
          </a:p>
          <a:p>
            <a:pPr lvl="0"/>
            <a:r>
              <a:rPr lang="pt-BR" altLang="pt-BR" sz="7100" dirty="0"/>
              <a:t>Data </a:t>
            </a:r>
            <a:r>
              <a:rPr lang="pt-BR" altLang="pt-BR" sz="7100" dirty="0" err="1"/>
              <a:t>Manipulation</a:t>
            </a:r>
            <a:r>
              <a:rPr lang="pt-BR" altLang="pt-BR" sz="7100" dirty="0"/>
              <a:t> </a:t>
            </a:r>
            <a:r>
              <a:rPr lang="pt-BR" altLang="pt-BR" sz="7100" dirty="0" err="1"/>
              <a:t>Language</a:t>
            </a:r>
            <a:endParaRPr lang="pt-BR" sz="7100" dirty="0"/>
          </a:p>
        </p:txBody>
      </p:sp>
    </p:spTree>
    <p:extLst>
      <p:ext uri="{BB962C8B-B14F-4D97-AF65-F5344CB8AC3E}">
        <p14:creationId xmlns:p14="http://schemas.microsoft.com/office/powerpoint/2010/main" val="3218320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 txBox="1">
            <a:spLocks/>
          </p:cNvSpPr>
          <p:nvPr/>
        </p:nvSpPr>
        <p:spPr>
          <a:xfrm>
            <a:off x="465946" y="239217"/>
            <a:ext cx="11353801" cy="859602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Inserindo registros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2389E10A-A7F9-4E6A-BC7B-30D0BAB05272}"/>
              </a:ext>
            </a:extLst>
          </p:cNvPr>
          <p:cNvGrpSpPr/>
          <p:nvPr/>
        </p:nvGrpSpPr>
        <p:grpSpPr>
          <a:xfrm>
            <a:off x="293933" y="1098820"/>
            <a:ext cx="11697826" cy="1729106"/>
            <a:chOff x="382391" y="1702847"/>
            <a:chExt cx="6971997" cy="984992"/>
          </a:xfrm>
        </p:grpSpPr>
        <p:sp>
          <p:nvSpPr>
            <p:cNvPr id="6" name="Rectangle 1">
              <a:extLst>
                <a:ext uri="{FF2B5EF4-FFF2-40B4-BE49-F238E27FC236}">
                  <a16:creationId xmlns:a16="http://schemas.microsoft.com/office/drawing/2014/main" id="{21D0BA82-318B-4037-A269-49587C5EC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391" y="2241690"/>
              <a:ext cx="6971997" cy="446149"/>
            </a:xfrm>
            <a:prstGeom prst="roundRect">
              <a:avLst/>
            </a:prstGeom>
            <a:gradFill>
              <a:gsLst>
                <a:gs pos="0">
                  <a:schemeClr val="accent3">
                    <a:tint val="60000"/>
                    <a:lumMod val="104000"/>
                    <a:alpha val="96000"/>
                  </a:schemeClr>
                </a:gs>
                <a:gs pos="100000">
                  <a:schemeClr val="accent3">
                    <a:tint val="84000"/>
                  </a:schemeClr>
                </a:gs>
              </a:gsLst>
            </a:gradFill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36000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INSERT INTO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nome_tabela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(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campo_1, campo_2, campo_3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)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VALUES(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valor_1, valor_2, valor_3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);</a:t>
              </a:r>
            </a:p>
          </p:txBody>
        </p:sp>
        <p:sp>
          <p:nvSpPr>
            <p:cNvPr id="8" name="Título 1">
              <a:extLst>
                <a:ext uri="{FF2B5EF4-FFF2-40B4-BE49-F238E27FC236}">
                  <a16:creationId xmlns:a16="http://schemas.microsoft.com/office/drawing/2014/main" id="{84D61E1D-7D18-47EA-BE74-C74020F8BEE3}"/>
                </a:ext>
              </a:extLst>
            </p:cNvPr>
            <p:cNvSpPr txBox="1">
              <a:spLocks/>
            </p:cNvSpPr>
            <p:nvPr/>
          </p:nvSpPr>
          <p:spPr>
            <a:xfrm>
              <a:off x="2882925" y="1702847"/>
              <a:ext cx="1970929" cy="420426"/>
            </a:xfrm>
            <a:prstGeom prst="rect">
              <a:avLst/>
            </a:prstGeom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000" kern="1200" cap="none">
                  <a:ln w="3175" cmpd="sng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pt-BR" sz="3200" dirty="0"/>
                <a:t>Sintaxe</a:t>
              </a:r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0B3F1FC3-4039-4B38-9EC1-7B25A7B83E31}"/>
              </a:ext>
            </a:extLst>
          </p:cNvPr>
          <p:cNvGrpSpPr/>
          <p:nvPr/>
        </p:nvGrpSpPr>
        <p:grpSpPr>
          <a:xfrm>
            <a:off x="293933" y="3429000"/>
            <a:ext cx="11697826" cy="1309501"/>
            <a:chOff x="382391" y="1705941"/>
            <a:chExt cx="6971997" cy="745963"/>
          </a:xfrm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941DEB5E-6362-475C-80AC-C447A996C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391" y="2005755"/>
              <a:ext cx="6971997" cy="446149"/>
            </a:xfrm>
            <a:prstGeom prst="roundRect">
              <a:avLst/>
            </a:prstGeom>
            <a:ln/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36000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INSERT INTO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alunos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(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matricula,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nome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,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turma_idturma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)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VALUES(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101, “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Godofredo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”, 8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);</a:t>
              </a:r>
            </a:p>
          </p:txBody>
        </p:sp>
        <p:sp>
          <p:nvSpPr>
            <p:cNvPr id="11" name="Título 1">
              <a:extLst>
                <a:ext uri="{FF2B5EF4-FFF2-40B4-BE49-F238E27FC236}">
                  <a16:creationId xmlns:a16="http://schemas.microsoft.com/office/drawing/2014/main" id="{285DFF7F-77F8-45DC-9E92-5AC1C8C17C71}"/>
                </a:ext>
              </a:extLst>
            </p:cNvPr>
            <p:cNvSpPr txBox="1">
              <a:spLocks/>
            </p:cNvSpPr>
            <p:nvPr/>
          </p:nvSpPr>
          <p:spPr>
            <a:xfrm>
              <a:off x="2882925" y="1705941"/>
              <a:ext cx="1970929" cy="420426"/>
            </a:xfrm>
            <a:prstGeom prst="rect">
              <a:avLst/>
            </a:prstGeom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000" kern="1200" cap="none">
                  <a:ln w="3175" cmpd="sng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pt-BR" sz="3200" dirty="0"/>
                <a:t>Exemplo</a:t>
              </a:r>
            </a:p>
          </p:txBody>
        </p: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1DCC4BB3-556D-4605-8836-1C3D393BC2A2}"/>
              </a:ext>
            </a:extLst>
          </p:cNvPr>
          <p:cNvGrpSpPr/>
          <p:nvPr/>
        </p:nvGrpSpPr>
        <p:grpSpPr>
          <a:xfrm>
            <a:off x="247087" y="4621086"/>
            <a:ext cx="11697826" cy="1287447"/>
            <a:chOff x="382391" y="1954440"/>
            <a:chExt cx="6971997" cy="733400"/>
          </a:xfrm>
        </p:grpSpPr>
        <p:sp>
          <p:nvSpPr>
            <p:cNvPr id="13" name="Rectangle 1">
              <a:extLst>
                <a:ext uri="{FF2B5EF4-FFF2-40B4-BE49-F238E27FC236}">
                  <a16:creationId xmlns:a16="http://schemas.microsoft.com/office/drawing/2014/main" id="{56D7C9A8-D8B7-474A-AA42-DCAE89D08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391" y="2241691"/>
              <a:ext cx="6971997" cy="446149"/>
            </a:xfrm>
            <a:prstGeom prst="roundRect">
              <a:avLst/>
            </a:prstGeom>
            <a:ln/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36000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INSERT INTO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alunos</a:t>
              </a:r>
              <a:endParaRPr lang="en-US" altLang="pt-BR" sz="2000" b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VALUES(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101, “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Godofredo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”, 8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);</a:t>
              </a:r>
            </a:p>
          </p:txBody>
        </p:sp>
        <p:sp>
          <p:nvSpPr>
            <p:cNvPr id="14" name="Título 1">
              <a:extLst>
                <a:ext uri="{FF2B5EF4-FFF2-40B4-BE49-F238E27FC236}">
                  <a16:creationId xmlns:a16="http://schemas.microsoft.com/office/drawing/2014/main" id="{1321F4D6-DB8D-473F-B930-41C7E3C056E4}"/>
                </a:ext>
              </a:extLst>
            </p:cNvPr>
            <p:cNvSpPr txBox="1">
              <a:spLocks/>
            </p:cNvSpPr>
            <p:nvPr/>
          </p:nvSpPr>
          <p:spPr>
            <a:xfrm>
              <a:off x="2882925" y="1954440"/>
              <a:ext cx="1970929" cy="420426"/>
            </a:xfrm>
            <a:prstGeom prst="rect">
              <a:avLst/>
            </a:prstGeom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000" kern="1200" cap="none">
                  <a:ln w="3175" cmpd="sng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pt-BR" sz="3200" dirty="0"/>
                <a:t>ou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0007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 txBox="1">
            <a:spLocks/>
          </p:cNvSpPr>
          <p:nvPr/>
        </p:nvSpPr>
        <p:spPr>
          <a:xfrm>
            <a:off x="465946" y="239217"/>
            <a:ext cx="11353801" cy="859602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Alterando Registros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2389E10A-A7F9-4E6A-BC7B-30D0BAB05272}"/>
              </a:ext>
            </a:extLst>
          </p:cNvPr>
          <p:cNvGrpSpPr/>
          <p:nvPr/>
        </p:nvGrpSpPr>
        <p:grpSpPr>
          <a:xfrm>
            <a:off x="293933" y="2290057"/>
            <a:ext cx="11697826" cy="1899367"/>
            <a:chOff x="382391" y="1702847"/>
            <a:chExt cx="6971997" cy="1081982"/>
          </a:xfrm>
        </p:grpSpPr>
        <p:sp>
          <p:nvSpPr>
            <p:cNvPr id="6" name="Rectangle 1">
              <a:extLst>
                <a:ext uri="{FF2B5EF4-FFF2-40B4-BE49-F238E27FC236}">
                  <a16:creationId xmlns:a16="http://schemas.microsoft.com/office/drawing/2014/main" id="{21D0BA82-318B-4037-A269-49587C5EC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391" y="2144702"/>
              <a:ext cx="6971997" cy="640127"/>
            </a:xfrm>
            <a:prstGeom prst="roundRect">
              <a:avLst/>
            </a:prstGeom>
            <a:gradFill>
              <a:gsLst>
                <a:gs pos="0">
                  <a:schemeClr val="accent3">
                    <a:tint val="60000"/>
                    <a:lumMod val="104000"/>
                    <a:alpha val="96000"/>
                  </a:schemeClr>
                </a:gs>
                <a:gs pos="100000">
                  <a:schemeClr val="accent3">
                    <a:tint val="84000"/>
                  </a:schemeClr>
                </a:gs>
              </a:gsLst>
            </a:gradFill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36000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UPDATE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nome_tabela</a:t>
              </a:r>
              <a:endParaRPr lang="en-US" altLang="pt-BR" sz="2000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SET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campo_1=valor_1, campo_2=valor_2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WHERE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chave_primaria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=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registro_que_será_alterado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;</a:t>
              </a:r>
            </a:p>
          </p:txBody>
        </p:sp>
        <p:sp>
          <p:nvSpPr>
            <p:cNvPr id="8" name="Título 1">
              <a:extLst>
                <a:ext uri="{FF2B5EF4-FFF2-40B4-BE49-F238E27FC236}">
                  <a16:creationId xmlns:a16="http://schemas.microsoft.com/office/drawing/2014/main" id="{84D61E1D-7D18-47EA-BE74-C74020F8BEE3}"/>
                </a:ext>
              </a:extLst>
            </p:cNvPr>
            <p:cNvSpPr txBox="1">
              <a:spLocks/>
            </p:cNvSpPr>
            <p:nvPr/>
          </p:nvSpPr>
          <p:spPr>
            <a:xfrm>
              <a:off x="2882925" y="1702847"/>
              <a:ext cx="1970929" cy="420426"/>
            </a:xfrm>
            <a:prstGeom prst="rect">
              <a:avLst/>
            </a:prstGeom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000" kern="1200" cap="none">
                  <a:ln w="3175" cmpd="sng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pt-BR" sz="3200" dirty="0"/>
                <a:t>Sintaxe</a:t>
              </a:r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0B3F1FC3-4039-4B38-9EC1-7B25A7B83E31}"/>
              </a:ext>
            </a:extLst>
          </p:cNvPr>
          <p:cNvGrpSpPr/>
          <p:nvPr/>
        </p:nvGrpSpPr>
        <p:grpSpPr>
          <a:xfrm>
            <a:off x="293933" y="4620235"/>
            <a:ext cx="11697826" cy="1730703"/>
            <a:chOff x="382391" y="1705941"/>
            <a:chExt cx="6971997" cy="985903"/>
          </a:xfrm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941DEB5E-6362-475C-80AC-C447A996C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391" y="2051717"/>
              <a:ext cx="6971997" cy="640127"/>
            </a:xfrm>
            <a:prstGeom prst="roundRect">
              <a:avLst/>
            </a:prstGeom>
            <a:ln/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36000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UPDATE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alunos</a:t>
              </a:r>
              <a:endParaRPr lang="en-US" altLang="pt-BR" sz="2000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SET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nome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=“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Diogo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Fernando”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WHERE 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matricula = 101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;</a:t>
              </a:r>
            </a:p>
          </p:txBody>
        </p:sp>
        <p:sp>
          <p:nvSpPr>
            <p:cNvPr id="11" name="Título 1">
              <a:extLst>
                <a:ext uri="{FF2B5EF4-FFF2-40B4-BE49-F238E27FC236}">
                  <a16:creationId xmlns:a16="http://schemas.microsoft.com/office/drawing/2014/main" id="{285DFF7F-77F8-45DC-9E92-5AC1C8C17C71}"/>
                </a:ext>
              </a:extLst>
            </p:cNvPr>
            <p:cNvSpPr txBox="1">
              <a:spLocks/>
            </p:cNvSpPr>
            <p:nvPr/>
          </p:nvSpPr>
          <p:spPr>
            <a:xfrm>
              <a:off x="2882925" y="1705941"/>
              <a:ext cx="1970929" cy="420426"/>
            </a:xfrm>
            <a:prstGeom prst="rect">
              <a:avLst/>
            </a:prstGeom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000" kern="1200" cap="none">
                  <a:ln w="3175" cmpd="sng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pt-BR" sz="3200" dirty="0"/>
                <a:t>Exemplo</a:t>
              </a:r>
            </a:p>
          </p:txBody>
        </p:sp>
      </p:grpSp>
      <p:sp>
        <p:nvSpPr>
          <p:cNvPr id="15" name="Retângulo Arredondado 2">
            <a:extLst>
              <a:ext uri="{FF2B5EF4-FFF2-40B4-BE49-F238E27FC236}">
                <a16:creationId xmlns:a16="http://schemas.microsoft.com/office/drawing/2014/main" id="{7A89E633-B078-4E84-9F69-34A6E167CB58}"/>
              </a:ext>
            </a:extLst>
          </p:cNvPr>
          <p:cNvSpPr/>
          <p:nvPr/>
        </p:nvSpPr>
        <p:spPr>
          <a:xfrm>
            <a:off x="386498" y="969835"/>
            <a:ext cx="11512695" cy="1250635"/>
          </a:xfrm>
          <a:prstGeom prst="roundRect">
            <a:avLst/>
          </a:prstGeom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CUIDADO!!!</a:t>
            </a:r>
          </a:p>
          <a:p>
            <a:pPr algn="ctr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Se você utilizar o UPDATE sem especificar o WHERE,</a:t>
            </a:r>
          </a:p>
          <a:p>
            <a:pPr algn="ctr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você irá alterar todos os registros da tabela.</a:t>
            </a:r>
          </a:p>
        </p:txBody>
      </p:sp>
    </p:spTree>
    <p:extLst>
      <p:ext uri="{BB962C8B-B14F-4D97-AF65-F5344CB8AC3E}">
        <p14:creationId xmlns:p14="http://schemas.microsoft.com/office/powerpoint/2010/main" val="1614812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 txBox="1">
            <a:spLocks/>
          </p:cNvSpPr>
          <p:nvPr/>
        </p:nvSpPr>
        <p:spPr>
          <a:xfrm>
            <a:off x="465946" y="239217"/>
            <a:ext cx="11353801" cy="859602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Excluindo Registros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2389E10A-A7F9-4E6A-BC7B-30D0BAB05272}"/>
              </a:ext>
            </a:extLst>
          </p:cNvPr>
          <p:cNvGrpSpPr/>
          <p:nvPr/>
        </p:nvGrpSpPr>
        <p:grpSpPr>
          <a:xfrm>
            <a:off x="293933" y="2290058"/>
            <a:ext cx="11697826" cy="1729108"/>
            <a:chOff x="382391" y="1702847"/>
            <a:chExt cx="6971997" cy="984993"/>
          </a:xfrm>
        </p:grpSpPr>
        <p:sp>
          <p:nvSpPr>
            <p:cNvPr id="6" name="Rectangle 1">
              <a:extLst>
                <a:ext uri="{FF2B5EF4-FFF2-40B4-BE49-F238E27FC236}">
                  <a16:creationId xmlns:a16="http://schemas.microsoft.com/office/drawing/2014/main" id="{21D0BA82-318B-4037-A269-49587C5EC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391" y="2241691"/>
              <a:ext cx="6971997" cy="446149"/>
            </a:xfrm>
            <a:prstGeom prst="roundRect">
              <a:avLst/>
            </a:prstGeom>
            <a:gradFill>
              <a:gsLst>
                <a:gs pos="0">
                  <a:schemeClr val="accent3">
                    <a:tint val="60000"/>
                    <a:lumMod val="104000"/>
                    <a:alpha val="96000"/>
                  </a:schemeClr>
                </a:gs>
                <a:gs pos="100000">
                  <a:schemeClr val="accent3">
                    <a:tint val="84000"/>
                  </a:schemeClr>
                </a:gs>
              </a:gsLst>
            </a:gradFill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36000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DELETE FROM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nome_tabela</a:t>
              </a:r>
              <a:endParaRPr lang="en-US" altLang="pt-BR" sz="2000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WHERE</a:t>
              </a:r>
              <a:r>
                <a:rPr lang="en-US" altLang="pt-BR" sz="2000" b="1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chave_primaria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=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registro_que_será_alterado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;</a:t>
              </a:r>
            </a:p>
          </p:txBody>
        </p:sp>
        <p:sp>
          <p:nvSpPr>
            <p:cNvPr id="8" name="Título 1">
              <a:extLst>
                <a:ext uri="{FF2B5EF4-FFF2-40B4-BE49-F238E27FC236}">
                  <a16:creationId xmlns:a16="http://schemas.microsoft.com/office/drawing/2014/main" id="{84D61E1D-7D18-47EA-BE74-C74020F8BEE3}"/>
                </a:ext>
              </a:extLst>
            </p:cNvPr>
            <p:cNvSpPr txBox="1">
              <a:spLocks/>
            </p:cNvSpPr>
            <p:nvPr/>
          </p:nvSpPr>
          <p:spPr>
            <a:xfrm>
              <a:off x="2882925" y="1702847"/>
              <a:ext cx="1970929" cy="420426"/>
            </a:xfrm>
            <a:prstGeom prst="rect">
              <a:avLst/>
            </a:prstGeom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000" kern="1200" cap="none">
                  <a:ln w="3175" cmpd="sng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pt-BR" sz="3200" dirty="0"/>
                <a:t>Sintaxe</a:t>
              </a:r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0B3F1FC3-4039-4B38-9EC1-7B25A7B83E31}"/>
              </a:ext>
            </a:extLst>
          </p:cNvPr>
          <p:cNvGrpSpPr/>
          <p:nvPr/>
        </p:nvGrpSpPr>
        <p:grpSpPr>
          <a:xfrm>
            <a:off x="293933" y="4620234"/>
            <a:ext cx="11697826" cy="1560445"/>
            <a:chOff x="382391" y="1705941"/>
            <a:chExt cx="6971997" cy="888915"/>
          </a:xfrm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941DEB5E-6362-475C-80AC-C447A996C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391" y="2148706"/>
              <a:ext cx="6971997" cy="446150"/>
            </a:xfrm>
            <a:prstGeom prst="roundRect">
              <a:avLst/>
            </a:prstGeom>
            <a:ln/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36000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DELETE FROM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alunos</a:t>
              </a:r>
              <a:endParaRPr lang="en-US" altLang="pt-BR" sz="2000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WHERE 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matricula = 104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;</a:t>
              </a:r>
            </a:p>
          </p:txBody>
        </p:sp>
        <p:sp>
          <p:nvSpPr>
            <p:cNvPr id="11" name="Título 1">
              <a:extLst>
                <a:ext uri="{FF2B5EF4-FFF2-40B4-BE49-F238E27FC236}">
                  <a16:creationId xmlns:a16="http://schemas.microsoft.com/office/drawing/2014/main" id="{285DFF7F-77F8-45DC-9E92-5AC1C8C17C71}"/>
                </a:ext>
              </a:extLst>
            </p:cNvPr>
            <p:cNvSpPr txBox="1">
              <a:spLocks/>
            </p:cNvSpPr>
            <p:nvPr/>
          </p:nvSpPr>
          <p:spPr>
            <a:xfrm>
              <a:off x="2882925" y="1705941"/>
              <a:ext cx="1970929" cy="420426"/>
            </a:xfrm>
            <a:prstGeom prst="rect">
              <a:avLst/>
            </a:prstGeom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000" kern="1200" cap="none">
                  <a:ln w="3175" cmpd="sng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pt-BR" sz="3200" dirty="0"/>
                <a:t>Exemplo</a:t>
              </a:r>
            </a:p>
          </p:txBody>
        </p:sp>
      </p:grpSp>
      <p:sp>
        <p:nvSpPr>
          <p:cNvPr id="15" name="Retângulo Arredondado 2">
            <a:extLst>
              <a:ext uri="{FF2B5EF4-FFF2-40B4-BE49-F238E27FC236}">
                <a16:creationId xmlns:a16="http://schemas.microsoft.com/office/drawing/2014/main" id="{7A89E633-B078-4E84-9F69-34A6E167CB58}"/>
              </a:ext>
            </a:extLst>
          </p:cNvPr>
          <p:cNvSpPr/>
          <p:nvPr/>
        </p:nvSpPr>
        <p:spPr>
          <a:xfrm>
            <a:off x="386498" y="969835"/>
            <a:ext cx="11512695" cy="1250635"/>
          </a:xfrm>
          <a:prstGeom prst="roundRect">
            <a:avLst/>
          </a:prstGeom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CUIDADO!!!</a:t>
            </a:r>
          </a:p>
          <a:p>
            <a:pPr algn="ctr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Se você utilizar o DELETE sem especificar o WHERE,</a:t>
            </a:r>
          </a:p>
          <a:p>
            <a:pPr algn="ctr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você irá apagar todos os registros da tabela.</a:t>
            </a:r>
          </a:p>
        </p:txBody>
      </p:sp>
    </p:spTree>
    <p:extLst>
      <p:ext uri="{BB962C8B-B14F-4D97-AF65-F5344CB8AC3E}">
        <p14:creationId xmlns:p14="http://schemas.microsoft.com/office/powerpoint/2010/main" val="1807057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/>
          </p:cNvSpPr>
          <p:nvPr/>
        </p:nvSpPr>
        <p:spPr>
          <a:xfrm>
            <a:off x="1028545" y="1825959"/>
            <a:ext cx="10348747" cy="2616199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pt-BR" altLang="pt-BR" sz="8000" dirty="0" smtClean="0"/>
              <a:t>Comando</a:t>
            </a:r>
          </a:p>
          <a:p>
            <a:pPr lvl="0"/>
            <a:r>
              <a:rPr lang="pt-BR" altLang="pt-BR" sz="8000" dirty="0" smtClean="0"/>
              <a:t>“SELECT”</a:t>
            </a:r>
            <a:endParaRPr lang="pt-BR" altLang="pt-BR" sz="6600" dirty="0"/>
          </a:p>
        </p:txBody>
      </p:sp>
    </p:spTree>
    <p:extLst>
      <p:ext uri="{BB962C8B-B14F-4D97-AF65-F5344CB8AC3E}">
        <p14:creationId xmlns:p14="http://schemas.microsoft.com/office/powerpoint/2010/main" val="3732277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 txBox="1">
            <a:spLocks/>
          </p:cNvSpPr>
          <p:nvPr/>
        </p:nvSpPr>
        <p:spPr>
          <a:xfrm>
            <a:off x="465946" y="239217"/>
            <a:ext cx="11353801" cy="859602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Exibindo os dados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2389E10A-A7F9-4E6A-BC7B-30D0BAB05272}"/>
              </a:ext>
            </a:extLst>
          </p:cNvPr>
          <p:cNvGrpSpPr/>
          <p:nvPr/>
        </p:nvGrpSpPr>
        <p:grpSpPr>
          <a:xfrm>
            <a:off x="293933" y="1098816"/>
            <a:ext cx="11697826" cy="1139243"/>
            <a:chOff x="382391" y="1702847"/>
            <a:chExt cx="6971997" cy="648975"/>
          </a:xfrm>
        </p:grpSpPr>
        <p:sp>
          <p:nvSpPr>
            <p:cNvPr id="6" name="Rectangle 1">
              <a:extLst>
                <a:ext uri="{FF2B5EF4-FFF2-40B4-BE49-F238E27FC236}">
                  <a16:creationId xmlns:a16="http://schemas.microsoft.com/office/drawing/2014/main" id="{21D0BA82-318B-4037-A269-49587C5EC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391" y="2099651"/>
              <a:ext cx="6971997" cy="252171"/>
            </a:xfrm>
            <a:prstGeom prst="roundRect">
              <a:avLst/>
            </a:prstGeom>
            <a:gradFill>
              <a:gsLst>
                <a:gs pos="0">
                  <a:schemeClr val="accent3">
                    <a:tint val="60000"/>
                    <a:lumMod val="104000"/>
                    <a:alpha val="96000"/>
                  </a:schemeClr>
                </a:gs>
                <a:gs pos="100000">
                  <a:schemeClr val="accent3">
                    <a:tint val="84000"/>
                  </a:schemeClr>
                </a:gs>
              </a:gsLst>
            </a:gradFill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36000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SELECT * FROM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nome_tabela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;</a:t>
              </a:r>
            </a:p>
          </p:txBody>
        </p:sp>
        <p:sp>
          <p:nvSpPr>
            <p:cNvPr id="8" name="Título 1">
              <a:extLst>
                <a:ext uri="{FF2B5EF4-FFF2-40B4-BE49-F238E27FC236}">
                  <a16:creationId xmlns:a16="http://schemas.microsoft.com/office/drawing/2014/main" id="{84D61E1D-7D18-47EA-BE74-C74020F8BEE3}"/>
                </a:ext>
              </a:extLst>
            </p:cNvPr>
            <p:cNvSpPr txBox="1">
              <a:spLocks/>
            </p:cNvSpPr>
            <p:nvPr/>
          </p:nvSpPr>
          <p:spPr>
            <a:xfrm>
              <a:off x="2882925" y="1702847"/>
              <a:ext cx="1970929" cy="420426"/>
            </a:xfrm>
            <a:prstGeom prst="rect">
              <a:avLst/>
            </a:prstGeom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000" kern="1200" cap="none">
                  <a:ln w="3175" cmpd="sng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pt-BR" sz="3200" dirty="0"/>
                <a:t>Sintaxe</a:t>
              </a:r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0B3F1FC3-4039-4B38-9EC1-7B25A7B83E31}"/>
              </a:ext>
            </a:extLst>
          </p:cNvPr>
          <p:cNvGrpSpPr/>
          <p:nvPr/>
        </p:nvGrpSpPr>
        <p:grpSpPr>
          <a:xfrm>
            <a:off x="293933" y="3429001"/>
            <a:ext cx="11697826" cy="1139242"/>
            <a:chOff x="382391" y="1705941"/>
            <a:chExt cx="6971997" cy="648974"/>
          </a:xfrm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941DEB5E-6362-475C-80AC-C447A996C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391" y="2102744"/>
              <a:ext cx="6971997" cy="252171"/>
            </a:xfrm>
            <a:prstGeom prst="roundRect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36000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SELECT * FROM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alunos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;</a:t>
              </a:r>
            </a:p>
          </p:txBody>
        </p:sp>
        <p:sp>
          <p:nvSpPr>
            <p:cNvPr id="11" name="Título 1">
              <a:extLst>
                <a:ext uri="{FF2B5EF4-FFF2-40B4-BE49-F238E27FC236}">
                  <a16:creationId xmlns:a16="http://schemas.microsoft.com/office/drawing/2014/main" id="{285DFF7F-77F8-45DC-9E92-5AC1C8C17C71}"/>
                </a:ext>
              </a:extLst>
            </p:cNvPr>
            <p:cNvSpPr txBox="1">
              <a:spLocks/>
            </p:cNvSpPr>
            <p:nvPr/>
          </p:nvSpPr>
          <p:spPr>
            <a:xfrm>
              <a:off x="2882925" y="1705941"/>
              <a:ext cx="1970929" cy="420426"/>
            </a:xfrm>
            <a:prstGeom prst="rect">
              <a:avLst/>
            </a:prstGeom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000" kern="1200" cap="none">
                  <a:ln w="3175" cmpd="sng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pt-BR" sz="3200" dirty="0"/>
                <a:t>Exemplo</a:t>
              </a:r>
            </a:p>
          </p:txBody>
        </p:sp>
      </p:grpSp>
      <p:sp>
        <p:nvSpPr>
          <p:cNvPr id="15" name="Rectangle 1">
            <a:extLst>
              <a:ext uri="{FF2B5EF4-FFF2-40B4-BE49-F238E27FC236}">
                <a16:creationId xmlns:a16="http://schemas.microsoft.com/office/drawing/2014/main" id="{706DF066-D5FC-4A74-9BFA-D28710857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933" y="2416706"/>
            <a:ext cx="11697826" cy="442674"/>
          </a:xfrm>
          <a:prstGeom prst="roundRect">
            <a:avLst/>
          </a:prstGeom>
          <a:gradFill>
            <a:gsLst>
              <a:gs pos="0">
                <a:schemeClr val="accent3">
                  <a:tint val="60000"/>
                  <a:lumMod val="104000"/>
                  <a:alpha val="96000"/>
                </a:schemeClr>
              </a:gs>
              <a:gs pos="100000">
                <a:schemeClr val="accent3">
                  <a:tint val="84000"/>
                </a:schemeClr>
              </a:gs>
            </a:gsLst>
          </a:gradFill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36000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pt-BR" sz="2000" b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rPr>
              <a:t>SELECT </a:t>
            </a:r>
            <a:r>
              <a:rPr lang="en-US" altLang="pt-BR" sz="2000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rPr>
              <a:t>campo_1, campo_2</a:t>
            </a:r>
            <a:r>
              <a:rPr lang="en-US" altLang="pt-BR" sz="2000" b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rPr>
              <a:t> FROM </a:t>
            </a:r>
            <a:r>
              <a:rPr lang="en-US" altLang="pt-BR" sz="2000" i="1" dirty="0" err="1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rPr>
              <a:t>nome_tabela</a:t>
            </a:r>
            <a:r>
              <a:rPr lang="en-US" altLang="pt-BR" sz="2000" b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rPr>
              <a:t>;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F3C3EBC8-B2ED-4CFD-AEF0-C9B8C65EB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933" y="4863606"/>
            <a:ext cx="11697826" cy="442674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36000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pt-BR" sz="2000" b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rPr>
              <a:t>SELECT </a:t>
            </a:r>
            <a:r>
              <a:rPr lang="en-US" altLang="pt-BR" sz="2000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rPr>
              <a:t>matricula, </a:t>
            </a:r>
            <a:r>
              <a:rPr lang="en-US" altLang="pt-BR" sz="2000" i="1" dirty="0" err="1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rPr>
              <a:t>nome</a:t>
            </a:r>
            <a:r>
              <a:rPr lang="en-US" altLang="pt-BR" sz="2000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rPr>
              <a:t> </a:t>
            </a:r>
            <a:r>
              <a:rPr lang="en-US" altLang="pt-BR" sz="2000" b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rPr>
              <a:t>FROM </a:t>
            </a:r>
            <a:r>
              <a:rPr lang="en-US" altLang="pt-BR" sz="2000" i="1" dirty="0" err="1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rPr>
              <a:t>alunos</a:t>
            </a:r>
            <a:r>
              <a:rPr lang="en-US" altLang="pt-BR" sz="2000" b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2313720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 txBox="1">
            <a:spLocks/>
          </p:cNvSpPr>
          <p:nvPr/>
        </p:nvSpPr>
        <p:spPr>
          <a:xfrm>
            <a:off x="465946" y="239217"/>
            <a:ext cx="11353801" cy="859602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Filtrando os dados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2389E10A-A7F9-4E6A-BC7B-30D0BAB05272}"/>
              </a:ext>
            </a:extLst>
          </p:cNvPr>
          <p:cNvGrpSpPr/>
          <p:nvPr/>
        </p:nvGrpSpPr>
        <p:grpSpPr>
          <a:xfrm>
            <a:off x="293933" y="1098816"/>
            <a:ext cx="11697826" cy="1729106"/>
            <a:chOff x="382391" y="1702847"/>
            <a:chExt cx="6971997" cy="984993"/>
          </a:xfrm>
        </p:grpSpPr>
        <p:sp>
          <p:nvSpPr>
            <p:cNvPr id="6" name="Rectangle 1">
              <a:extLst>
                <a:ext uri="{FF2B5EF4-FFF2-40B4-BE49-F238E27FC236}">
                  <a16:creationId xmlns:a16="http://schemas.microsoft.com/office/drawing/2014/main" id="{21D0BA82-318B-4037-A269-49587C5EC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391" y="2241691"/>
              <a:ext cx="6971997" cy="446149"/>
            </a:xfrm>
            <a:prstGeom prst="roundRect">
              <a:avLst/>
            </a:prstGeom>
            <a:gradFill>
              <a:gsLst>
                <a:gs pos="0">
                  <a:schemeClr val="accent3">
                    <a:tint val="60000"/>
                    <a:lumMod val="104000"/>
                    <a:alpha val="96000"/>
                  </a:schemeClr>
                </a:gs>
                <a:gs pos="100000">
                  <a:schemeClr val="accent3">
                    <a:tint val="84000"/>
                  </a:schemeClr>
                </a:gs>
              </a:gsLst>
            </a:gradFill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36000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SELECT 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campo_1, campo_2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FROM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nome_tabela</a:t>
              </a:r>
              <a:endParaRPr lang="en-US" altLang="pt-BR" sz="2000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WHERE 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campo_1 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=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filtro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;</a:t>
              </a:r>
            </a:p>
          </p:txBody>
        </p:sp>
        <p:sp>
          <p:nvSpPr>
            <p:cNvPr id="8" name="Título 1">
              <a:extLst>
                <a:ext uri="{FF2B5EF4-FFF2-40B4-BE49-F238E27FC236}">
                  <a16:creationId xmlns:a16="http://schemas.microsoft.com/office/drawing/2014/main" id="{84D61E1D-7D18-47EA-BE74-C74020F8BEE3}"/>
                </a:ext>
              </a:extLst>
            </p:cNvPr>
            <p:cNvSpPr txBox="1">
              <a:spLocks/>
            </p:cNvSpPr>
            <p:nvPr/>
          </p:nvSpPr>
          <p:spPr>
            <a:xfrm>
              <a:off x="2882925" y="1702847"/>
              <a:ext cx="1970929" cy="420426"/>
            </a:xfrm>
            <a:prstGeom prst="rect">
              <a:avLst/>
            </a:prstGeom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000" kern="1200" cap="none">
                  <a:ln w="3175" cmpd="sng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pt-BR" sz="3200" dirty="0"/>
                <a:t>Sintaxe</a:t>
              </a:r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0B3F1FC3-4039-4B38-9EC1-7B25A7B83E31}"/>
              </a:ext>
            </a:extLst>
          </p:cNvPr>
          <p:cNvGrpSpPr/>
          <p:nvPr/>
        </p:nvGrpSpPr>
        <p:grpSpPr>
          <a:xfrm>
            <a:off x="293933" y="3428997"/>
            <a:ext cx="11697826" cy="1309505"/>
            <a:chOff x="382391" y="1705941"/>
            <a:chExt cx="6971997" cy="745966"/>
          </a:xfrm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941DEB5E-6362-475C-80AC-C447A996C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391" y="2005757"/>
              <a:ext cx="6971997" cy="446150"/>
            </a:xfrm>
            <a:prstGeom prst="roundRect">
              <a:avLst/>
            </a:prstGeom>
            <a:ln/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36000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SELECT 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matricula,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nome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FROM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alunos</a:t>
              </a:r>
              <a:endParaRPr lang="en-US" altLang="pt-BR" sz="2000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WHERE 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matricula 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= 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101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;</a:t>
              </a:r>
            </a:p>
          </p:txBody>
        </p:sp>
        <p:sp>
          <p:nvSpPr>
            <p:cNvPr id="11" name="Título 1">
              <a:extLst>
                <a:ext uri="{FF2B5EF4-FFF2-40B4-BE49-F238E27FC236}">
                  <a16:creationId xmlns:a16="http://schemas.microsoft.com/office/drawing/2014/main" id="{285DFF7F-77F8-45DC-9E92-5AC1C8C17C71}"/>
                </a:ext>
              </a:extLst>
            </p:cNvPr>
            <p:cNvSpPr txBox="1">
              <a:spLocks/>
            </p:cNvSpPr>
            <p:nvPr/>
          </p:nvSpPr>
          <p:spPr>
            <a:xfrm>
              <a:off x="2882925" y="1705941"/>
              <a:ext cx="1970929" cy="420426"/>
            </a:xfrm>
            <a:prstGeom prst="rect">
              <a:avLst/>
            </a:prstGeom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000" kern="1200" cap="none">
                  <a:ln w="3175" cmpd="sng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pt-BR" sz="3200" dirty="0"/>
                <a:t>Exemplo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18886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 txBox="1">
            <a:spLocks/>
          </p:cNvSpPr>
          <p:nvPr/>
        </p:nvSpPr>
        <p:spPr>
          <a:xfrm>
            <a:off x="465946" y="239217"/>
            <a:ext cx="11353801" cy="859602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Recuperando informações de 2 ou mais tabelas</a:t>
            </a:r>
          </a:p>
          <a:p>
            <a:r>
              <a:rPr lang="pt-BR" dirty="0"/>
              <a:t>INNER JOIN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2389E10A-A7F9-4E6A-BC7B-30D0BAB05272}"/>
              </a:ext>
            </a:extLst>
          </p:cNvPr>
          <p:cNvGrpSpPr/>
          <p:nvPr/>
        </p:nvGrpSpPr>
        <p:grpSpPr>
          <a:xfrm>
            <a:off x="247087" y="1803491"/>
            <a:ext cx="11697826" cy="2096734"/>
            <a:chOff x="354470" y="1702847"/>
            <a:chExt cx="6971997" cy="1194414"/>
          </a:xfrm>
        </p:grpSpPr>
        <p:sp>
          <p:nvSpPr>
            <p:cNvPr id="6" name="Rectangle 1">
              <a:extLst>
                <a:ext uri="{FF2B5EF4-FFF2-40B4-BE49-F238E27FC236}">
                  <a16:creationId xmlns:a16="http://schemas.microsoft.com/office/drawing/2014/main" id="{21D0BA82-318B-4037-A269-49587C5EC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470" y="2063155"/>
              <a:ext cx="6971997" cy="834106"/>
            </a:xfrm>
            <a:prstGeom prst="roundRect">
              <a:avLst/>
            </a:prstGeom>
            <a:gradFill>
              <a:gsLst>
                <a:gs pos="0">
                  <a:schemeClr val="accent3">
                    <a:tint val="60000"/>
                    <a:lumMod val="104000"/>
                    <a:alpha val="96000"/>
                  </a:schemeClr>
                </a:gs>
                <a:gs pos="100000">
                  <a:schemeClr val="accent3">
                    <a:tint val="84000"/>
                  </a:schemeClr>
                </a:gs>
              </a:gsLst>
            </a:gradFill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36000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SELECT 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tabela1.campo_1, tabela1.campo_2, tabela2.campo_1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FROM 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nome_tabela_1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INNER JOIN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nome_tabela_2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ON 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tabela1.chave_estrangeira = tabela2.chave_primaria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;</a:t>
              </a:r>
            </a:p>
          </p:txBody>
        </p:sp>
        <p:sp>
          <p:nvSpPr>
            <p:cNvPr id="8" name="Título 1">
              <a:extLst>
                <a:ext uri="{FF2B5EF4-FFF2-40B4-BE49-F238E27FC236}">
                  <a16:creationId xmlns:a16="http://schemas.microsoft.com/office/drawing/2014/main" id="{84D61E1D-7D18-47EA-BE74-C74020F8BEE3}"/>
                </a:ext>
              </a:extLst>
            </p:cNvPr>
            <p:cNvSpPr txBox="1">
              <a:spLocks/>
            </p:cNvSpPr>
            <p:nvPr/>
          </p:nvSpPr>
          <p:spPr>
            <a:xfrm>
              <a:off x="2882925" y="1702847"/>
              <a:ext cx="1970929" cy="420426"/>
            </a:xfrm>
            <a:prstGeom prst="rect">
              <a:avLst/>
            </a:prstGeom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000" kern="1200" cap="none">
                  <a:ln w="3175" cmpd="sng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pt-BR" sz="3200" dirty="0"/>
                <a:t>Sintaxe</a:t>
              </a:r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0B3F1FC3-4039-4B38-9EC1-7B25A7B83E31}"/>
              </a:ext>
            </a:extLst>
          </p:cNvPr>
          <p:cNvGrpSpPr/>
          <p:nvPr/>
        </p:nvGrpSpPr>
        <p:grpSpPr>
          <a:xfrm>
            <a:off x="247087" y="4133675"/>
            <a:ext cx="11697826" cy="2038202"/>
            <a:chOff x="354470" y="1705941"/>
            <a:chExt cx="6971997" cy="1161072"/>
          </a:xfrm>
          <a:effectLst/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941DEB5E-6362-475C-80AC-C447A996C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470" y="2032906"/>
              <a:ext cx="6971997" cy="834107"/>
            </a:xfrm>
            <a:prstGeom prst="roundRect">
              <a:avLst/>
            </a:prstGeom>
            <a:ln/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36000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SELECT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alunos.matricula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,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alunos.nome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,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turma.periodo</a:t>
              </a:r>
              <a:endParaRPr lang="en-US" altLang="pt-BR" sz="2000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FROM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alunos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INNER JOIN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turma</a:t>
              </a:r>
              <a:endParaRPr lang="en-US" altLang="pt-BR" sz="2000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ON 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tabela1.chave_estrangeira = tabela2.chave_primaria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;</a:t>
              </a:r>
            </a:p>
          </p:txBody>
        </p:sp>
        <p:sp>
          <p:nvSpPr>
            <p:cNvPr id="11" name="Título 1">
              <a:extLst>
                <a:ext uri="{FF2B5EF4-FFF2-40B4-BE49-F238E27FC236}">
                  <a16:creationId xmlns:a16="http://schemas.microsoft.com/office/drawing/2014/main" id="{285DFF7F-77F8-45DC-9E92-5AC1C8C17C71}"/>
                </a:ext>
              </a:extLst>
            </p:cNvPr>
            <p:cNvSpPr txBox="1">
              <a:spLocks/>
            </p:cNvSpPr>
            <p:nvPr/>
          </p:nvSpPr>
          <p:spPr>
            <a:xfrm>
              <a:off x="2882925" y="1705941"/>
              <a:ext cx="1970929" cy="420426"/>
            </a:xfrm>
            <a:prstGeom prst="rect">
              <a:avLst/>
            </a:prstGeom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000" kern="1200" cap="none">
                  <a:ln w="3175" cmpd="sng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pt-BR" sz="3200" dirty="0"/>
                <a:t>Exemplo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0855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 txBox="1">
            <a:spLocks/>
          </p:cNvSpPr>
          <p:nvPr/>
        </p:nvSpPr>
        <p:spPr>
          <a:xfrm>
            <a:off x="465946" y="239216"/>
            <a:ext cx="11353801" cy="1321135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Recuperando informações de 2 ou mais tabelas</a:t>
            </a:r>
          </a:p>
          <a:p>
            <a:r>
              <a:rPr lang="pt-BR" dirty="0"/>
              <a:t>WHERE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2389E10A-A7F9-4E6A-BC7B-30D0BAB05272}"/>
              </a:ext>
            </a:extLst>
          </p:cNvPr>
          <p:cNvGrpSpPr/>
          <p:nvPr/>
        </p:nvGrpSpPr>
        <p:grpSpPr>
          <a:xfrm>
            <a:off x="247087" y="1811880"/>
            <a:ext cx="11697826" cy="1899367"/>
            <a:chOff x="382391" y="1702847"/>
            <a:chExt cx="6971997" cy="1081983"/>
          </a:xfrm>
        </p:grpSpPr>
        <p:sp>
          <p:nvSpPr>
            <p:cNvPr id="6" name="Rectangle 1">
              <a:extLst>
                <a:ext uri="{FF2B5EF4-FFF2-40B4-BE49-F238E27FC236}">
                  <a16:creationId xmlns:a16="http://schemas.microsoft.com/office/drawing/2014/main" id="{21D0BA82-318B-4037-A269-49587C5EC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391" y="2144702"/>
              <a:ext cx="6971997" cy="640128"/>
            </a:xfrm>
            <a:prstGeom prst="roundRect">
              <a:avLst/>
            </a:prstGeom>
            <a:gradFill>
              <a:gsLst>
                <a:gs pos="0">
                  <a:schemeClr val="accent3">
                    <a:tint val="60000"/>
                    <a:lumMod val="104000"/>
                    <a:alpha val="96000"/>
                  </a:schemeClr>
                </a:gs>
                <a:gs pos="100000">
                  <a:schemeClr val="accent3">
                    <a:tint val="84000"/>
                  </a:schemeClr>
                </a:gs>
              </a:gsLst>
            </a:gradFill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36000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SELECT 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tabela1.campo_1, tabela1.campo_2, tabela2.campo_1 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FROM 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nome_tabela_1, nome_tabela_2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WHERE 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tabela1.chave_estrangeira = tabela2.chave_primaria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;</a:t>
              </a:r>
            </a:p>
          </p:txBody>
        </p:sp>
        <p:sp>
          <p:nvSpPr>
            <p:cNvPr id="8" name="Título 1">
              <a:extLst>
                <a:ext uri="{FF2B5EF4-FFF2-40B4-BE49-F238E27FC236}">
                  <a16:creationId xmlns:a16="http://schemas.microsoft.com/office/drawing/2014/main" id="{84D61E1D-7D18-47EA-BE74-C74020F8BEE3}"/>
                </a:ext>
              </a:extLst>
            </p:cNvPr>
            <p:cNvSpPr txBox="1">
              <a:spLocks/>
            </p:cNvSpPr>
            <p:nvPr/>
          </p:nvSpPr>
          <p:spPr>
            <a:xfrm>
              <a:off x="2882925" y="1702847"/>
              <a:ext cx="1970929" cy="420426"/>
            </a:xfrm>
            <a:prstGeom prst="rect">
              <a:avLst/>
            </a:prstGeom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000" kern="1200" cap="none">
                  <a:ln w="3175" cmpd="sng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pt-BR" sz="3200" dirty="0"/>
                <a:t>Sintaxe</a:t>
              </a:r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0B3F1FC3-4039-4B38-9EC1-7B25A7B83E31}"/>
              </a:ext>
            </a:extLst>
          </p:cNvPr>
          <p:cNvGrpSpPr/>
          <p:nvPr/>
        </p:nvGrpSpPr>
        <p:grpSpPr>
          <a:xfrm>
            <a:off x="200240" y="4142064"/>
            <a:ext cx="11697826" cy="1867941"/>
            <a:chOff x="354470" y="1705941"/>
            <a:chExt cx="6971997" cy="1064082"/>
          </a:xfrm>
          <a:effectLst/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941DEB5E-6362-475C-80AC-C447A996C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470" y="2129895"/>
              <a:ext cx="6971997" cy="640128"/>
            </a:xfrm>
            <a:prstGeom prst="roundRect">
              <a:avLst/>
            </a:prstGeom>
            <a:ln/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36000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SELECT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alunos.matricula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,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alunos.nome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,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turma.periodo</a:t>
              </a:r>
              <a:endParaRPr lang="en-US" altLang="pt-BR" sz="2000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FROM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alunos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,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turma</a:t>
              </a:r>
              <a:endParaRPr lang="en-US" altLang="pt-BR" sz="2000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WHERE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alunos.turma_idturma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=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turma.idturma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;</a:t>
              </a:r>
            </a:p>
          </p:txBody>
        </p:sp>
        <p:sp>
          <p:nvSpPr>
            <p:cNvPr id="11" name="Título 1">
              <a:extLst>
                <a:ext uri="{FF2B5EF4-FFF2-40B4-BE49-F238E27FC236}">
                  <a16:creationId xmlns:a16="http://schemas.microsoft.com/office/drawing/2014/main" id="{285DFF7F-77F8-45DC-9E92-5AC1C8C17C71}"/>
                </a:ext>
              </a:extLst>
            </p:cNvPr>
            <p:cNvSpPr txBox="1">
              <a:spLocks/>
            </p:cNvSpPr>
            <p:nvPr/>
          </p:nvSpPr>
          <p:spPr>
            <a:xfrm>
              <a:off x="2882925" y="1705941"/>
              <a:ext cx="1970929" cy="420426"/>
            </a:xfrm>
            <a:prstGeom prst="rect">
              <a:avLst/>
            </a:prstGeom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000" kern="1200" cap="none">
                  <a:ln w="3175" cmpd="sng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pt-BR" sz="3200" dirty="0"/>
                <a:t>Exemplo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25370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 txBox="1">
            <a:spLocks/>
          </p:cNvSpPr>
          <p:nvPr/>
        </p:nvSpPr>
        <p:spPr>
          <a:xfrm>
            <a:off x="1048102" y="-52314"/>
            <a:ext cx="10095793" cy="1409508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Usando filtro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2389E10A-A7F9-4E6A-BC7B-30D0BAB05272}"/>
              </a:ext>
            </a:extLst>
          </p:cNvPr>
          <p:cNvGrpSpPr/>
          <p:nvPr/>
        </p:nvGrpSpPr>
        <p:grpSpPr>
          <a:xfrm>
            <a:off x="292540" y="505849"/>
            <a:ext cx="11349986" cy="1799688"/>
            <a:chOff x="382391" y="1779028"/>
            <a:chExt cx="6971997" cy="1025200"/>
          </a:xfrm>
        </p:grpSpPr>
        <p:sp>
          <p:nvSpPr>
            <p:cNvPr id="6" name="Rectangle 1">
              <a:extLst>
                <a:ext uri="{FF2B5EF4-FFF2-40B4-BE49-F238E27FC236}">
                  <a16:creationId xmlns:a16="http://schemas.microsoft.com/office/drawing/2014/main" id="{21D0BA82-318B-4037-A269-49587C5EC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391" y="2125305"/>
              <a:ext cx="6971997" cy="678923"/>
            </a:xfrm>
            <a:prstGeom prst="roundRect">
              <a:avLst/>
            </a:prstGeom>
            <a:gradFill>
              <a:gsLst>
                <a:gs pos="0">
                  <a:schemeClr val="accent3">
                    <a:tint val="60000"/>
                    <a:lumMod val="104000"/>
                    <a:alpha val="96000"/>
                  </a:schemeClr>
                </a:gs>
                <a:gs pos="100000">
                  <a:schemeClr val="accent3">
                    <a:tint val="84000"/>
                  </a:schemeClr>
                </a:gs>
              </a:gsLst>
            </a:gradFill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36000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16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SELECT </a:t>
              </a:r>
              <a:r>
                <a:rPr lang="en-US" altLang="pt-BR" sz="16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tabela1.campo_1, tabela1.campo_2, tabela2.campo_1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16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FROM </a:t>
              </a:r>
              <a:r>
                <a:rPr lang="en-US" altLang="pt-BR" sz="16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nome_tabela_1, nome_tabela_2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16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WHERE </a:t>
              </a:r>
              <a:r>
                <a:rPr lang="en-US" altLang="pt-BR" sz="16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tabela1.chave_estrangeira = tabela2.chave_primaria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1600" b="1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AND </a:t>
              </a:r>
              <a:r>
                <a:rPr lang="en-US" altLang="pt-BR" sz="16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tabela2</a:t>
              </a:r>
              <a:r>
                <a:rPr lang="en-US" altLang="pt-BR" sz="1600" b="1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.</a:t>
              </a:r>
              <a:r>
                <a:rPr lang="en-US" altLang="pt-BR" sz="16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campo_1 </a:t>
              </a:r>
              <a:r>
                <a:rPr lang="en-US" altLang="pt-BR" sz="16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= </a:t>
              </a:r>
              <a:r>
                <a:rPr lang="en-US" altLang="pt-BR" sz="16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filtro</a:t>
              </a:r>
              <a:r>
                <a:rPr lang="en-US" altLang="pt-BR" sz="16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;</a:t>
              </a:r>
            </a:p>
          </p:txBody>
        </p:sp>
        <p:sp>
          <p:nvSpPr>
            <p:cNvPr id="8" name="Título 1">
              <a:extLst>
                <a:ext uri="{FF2B5EF4-FFF2-40B4-BE49-F238E27FC236}">
                  <a16:creationId xmlns:a16="http://schemas.microsoft.com/office/drawing/2014/main" id="{84D61E1D-7D18-47EA-BE74-C74020F8BEE3}"/>
                </a:ext>
              </a:extLst>
            </p:cNvPr>
            <p:cNvSpPr txBox="1">
              <a:spLocks/>
            </p:cNvSpPr>
            <p:nvPr/>
          </p:nvSpPr>
          <p:spPr>
            <a:xfrm>
              <a:off x="2882926" y="1779028"/>
              <a:ext cx="1970929" cy="420426"/>
            </a:xfrm>
            <a:prstGeom prst="rect">
              <a:avLst/>
            </a:prstGeom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000" kern="1200" cap="none">
                  <a:ln w="3175" cmpd="sng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pt-BR" sz="3200" dirty="0"/>
                <a:t>Sintaxe</a:t>
              </a:r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0B3F1FC3-4039-4B38-9EC1-7B25A7B83E31}"/>
              </a:ext>
            </a:extLst>
          </p:cNvPr>
          <p:cNvGrpSpPr/>
          <p:nvPr/>
        </p:nvGrpSpPr>
        <p:grpSpPr>
          <a:xfrm>
            <a:off x="292540" y="4093670"/>
            <a:ext cx="11349986" cy="2038202"/>
            <a:chOff x="354470" y="1705941"/>
            <a:chExt cx="6971997" cy="1161072"/>
          </a:xfrm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941DEB5E-6362-475C-80AC-C447A996C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470" y="2032906"/>
              <a:ext cx="6971997" cy="834107"/>
            </a:xfrm>
            <a:prstGeom prst="roundRect">
              <a:avLst/>
            </a:prstGeom>
            <a:ln/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36000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SELECT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alunos.matricula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,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alunos.nome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,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turma.periodo</a:t>
              </a:r>
              <a:endParaRPr lang="en-US" altLang="pt-BR" sz="2000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FROM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alunos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,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turma</a:t>
              </a:r>
              <a:endParaRPr lang="en-US" altLang="pt-BR" sz="2000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WHERE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alunos.turma_idturma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=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turma.idturma</a:t>
              </a:r>
              <a:endParaRPr lang="en-US" altLang="pt-BR" sz="2000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AND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turma</a:t>
              </a:r>
              <a:r>
                <a:rPr lang="en-US" altLang="pt-BR" sz="2000" b="1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.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idturma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= 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8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;</a:t>
              </a:r>
            </a:p>
          </p:txBody>
        </p:sp>
        <p:sp>
          <p:nvSpPr>
            <p:cNvPr id="11" name="Título 1">
              <a:extLst>
                <a:ext uri="{FF2B5EF4-FFF2-40B4-BE49-F238E27FC236}">
                  <a16:creationId xmlns:a16="http://schemas.microsoft.com/office/drawing/2014/main" id="{285DFF7F-77F8-45DC-9E92-5AC1C8C17C71}"/>
                </a:ext>
              </a:extLst>
            </p:cNvPr>
            <p:cNvSpPr txBox="1">
              <a:spLocks/>
            </p:cNvSpPr>
            <p:nvPr/>
          </p:nvSpPr>
          <p:spPr>
            <a:xfrm>
              <a:off x="2882925" y="1705941"/>
              <a:ext cx="1970929" cy="420426"/>
            </a:xfrm>
            <a:prstGeom prst="rect">
              <a:avLst/>
            </a:prstGeom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000" kern="1200" cap="none">
                  <a:ln w="3175" cmpd="sng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pt-BR" sz="3200" dirty="0"/>
                <a:t>Exemplo</a:t>
              </a:r>
            </a:p>
          </p:txBody>
        </p:sp>
      </p:grpSp>
      <p:sp>
        <p:nvSpPr>
          <p:cNvPr id="12" name="Rectangle 1">
            <a:extLst>
              <a:ext uri="{FF2B5EF4-FFF2-40B4-BE49-F238E27FC236}">
                <a16:creationId xmlns:a16="http://schemas.microsoft.com/office/drawing/2014/main" id="{0F4E4BEA-B2ED-4D72-AEA3-9DE1E90A9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65" y="2410067"/>
            <a:ext cx="11304533" cy="1498283"/>
          </a:xfrm>
          <a:prstGeom prst="roundRect">
            <a:avLst/>
          </a:prstGeom>
          <a:gradFill>
            <a:gsLst>
              <a:gs pos="0">
                <a:schemeClr val="accent3">
                  <a:tint val="60000"/>
                  <a:lumMod val="104000"/>
                  <a:alpha val="96000"/>
                </a:schemeClr>
              </a:gs>
              <a:gs pos="100000">
                <a:schemeClr val="accent3">
                  <a:tint val="84000"/>
                </a:schemeClr>
              </a:gs>
            </a:gsLst>
          </a:gradFill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36000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pt-BR" sz="1600" b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rPr>
              <a:t>SELECT </a:t>
            </a:r>
            <a:r>
              <a:rPr lang="en-US" altLang="pt-BR" sz="1600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rPr>
              <a:t>tabela1.campo_1, tabela1.campo_2, tabela2.campo_1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pt-BR" sz="1600" b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rPr>
              <a:t>FROM </a:t>
            </a:r>
            <a:r>
              <a:rPr lang="en-US" altLang="pt-BR" sz="1600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rPr>
              <a:t>nome_tabela_1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pt-BR" sz="1600" b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rPr>
              <a:t>INNER JOIN</a:t>
            </a:r>
            <a:r>
              <a:rPr lang="en-US" altLang="pt-BR" sz="1600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rPr>
              <a:t> nome_tabela_2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pt-BR" sz="1600" b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rPr>
              <a:t>ON </a:t>
            </a:r>
            <a:r>
              <a:rPr lang="en-US" altLang="pt-BR" sz="1600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rPr>
              <a:t>tabela1.chave_estrangeira = tabela2.chave_primaria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pt-BR" sz="1600" b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rPr>
              <a:t>WHERE </a:t>
            </a:r>
            <a:r>
              <a:rPr lang="en-US" altLang="pt-BR" sz="1600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rPr>
              <a:t>tabela2</a:t>
            </a:r>
            <a:r>
              <a:rPr lang="en-US" altLang="pt-BR" sz="1600" b="1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rPr>
              <a:t>.</a:t>
            </a:r>
            <a:r>
              <a:rPr lang="en-US" altLang="pt-BR" sz="1600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rPr>
              <a:t>campo_1 </a:t>
            </a:r>
            <a:r>
              <a:rPr lang="en-US" altLang="pt-BR" sz="1600" b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rPr>
              <a:t>= </a:t>
            </a:r>
            <a:r>
              <a:rPr lang="en-US" altLang="pt-BR" sz="1600" i="1" dirty="0" err="1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rPr>
              <a:t>filtro</a:t>
            </a:r>
            <a:r>
              <a:rPr lang="en-US" altLang="pt-BR" sz="1600" b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0104756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 txBox="1">
            <a:spLocks/>
          </p:cNvSpPr>
          <p:nvPr/>
        </p:nvSpPr>
        <p:spPr>
          <a:xfrm>
            <a:off x="465946" y="239216"/>
            <a:ext cx="11353801" cy="1321135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Ordenando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2389E10A-A7F9-4E6A-BC7B-30D0BAB05272}"/>
              </a:ext>
            </a:extLst>
          </p:cNvPr>
          <p:cNvGrpSpPr/>
          <p:nvPr/>
        </p:nvGrpSpPr>
        <p:grpSpPr>
          <a:xfrm>
            <a:off x="247087" y="1811880"/>
            <a:ext cx="11697826" cy="2069626"/>
            <a:chOff x="382391" y="1702847"/>
            <a:chExt cx="6971997" cy="1178972"/>
          </a:xfrm>
        </p:grpSpPr>
        <p:sp>
          <p:nvSpPr>
            <p:cNvPr id="6" name="Rectangle 1">
              <a:extLst>
                <a:ext uri="{FF2B5EF4-FFF2-40B4-BE49-F238E27FC236}">
                  <a16:creationId xmlns:a16="http://schemas.microsoft.com/office/drawing/2014/main" id="{21D0BA82-318B-4037-A269-49587C5EC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391" y="2047713"/>
              <a:ext cx="6971997" cy="834106"/>
            </a:xfrm>
            <a:prstGeom prst="roundRect">
              <a:avLst/>
            </a:prstGeom>
            <a:gradFill>
              <a:gsLst>
                <a:gs pos="0">
                  <a:schemeClr val="accent3">
                    <a:tint val="60000"/>
                    <a:lumMod val="104000"/>
                    <a:alpha val="96000"/>
                  </a:schemeClr>
                </a:gs>
                <a:gs pos="100000">
                  <a:schemeClr val="accent3">
                    <a:tint val="84000"/>
                  </a:schemeClr>
                </a:gs>
              </a:gsLst>
            </a:gradFill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36000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SELECT 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tabela1.campo_1, tabela1.campo_2, tabela2.campo_1 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FROM 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nome_tabela_1, nome_tabela_2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WHERE 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tabela1.chave_estrangeira = tabela2.chave_primaria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;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ORDER BY 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tabela2.campo1, tabela1.campo_1 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DESC</a:t>
              </a:r>
            </a:p>
          </p:txBody>
        </p:sp>
        <p:sp>
          <p:nvSpPr>
            <p:cNvPr id="8" name="Título 1">
              <a:extLst>
                <a:ext uri="{FF2B5EF4-FFF2-40B4-BE49-F238E27FC236}">
                  <a16:creationId xmlns:a16="http://schemas.microsoft.com/office/drawing/2014/main" id="{84D61E1D-7D18-47EA-BE74-C74020F8BEE3}"/>
                </a:ext>
              </a:extLst>
            </p:cNvPr>
            <p:cNvSpPr txBox="1">
              <a:spLocks/>
            </p:cNvSpPr>
            <p:nvPr/>
          </p:nvSpPr>
          <p:spPr>
            <a:xfrm>
              <a:off x="2882925" y="1702847"/>
              <a:ext cx="1970929" cy="420426"/>
            </a:xfrm>
            <a:prstGeom prst="rect">
              <a:avLst/>
            </a:prstGeom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000" kern="1200" cap="none">
                  <a:ln w="3175" cmpd="sng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pt-BR" sz="3200" dirty="0"/>
                <a:t>Sintaxe</a:t>
              </a:r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0B3F1FC3-4039-4B38-9EC1-7B25A7B83E31}"/>
              </a:ext>
            </a:extLst>
          </p:cNvPr>
          <p:cNvGrpSpPr/>
          <p:nvPr/>
        </p:nvGrpSpPr>
        <p:grpSpPr>
          <a:xfrm>
            <a:off x="247087" y="4142064"/>
            <a:ext cx="11650979" cy="2038202"/>
            <a:chOff x="382391" y="1705941"/>
            <a:chExt cx="6944076" cy="1161072"/>
          </a:xfrm>
          <a:effectLst/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941DEB5E-6362-475C-80AC-C447A996C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391" y="2032906"/>
              <a:ext cx="6944076" cy="834107"/>
            </a:xfrm>
            <a:prstGeom prst="roundRect">
              <a:avLst/>
            </a:prstGeom>
            <a:ln/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36000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SELECT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alunos.matricula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,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alunos.nome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,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turma.periodo</a:t>
              </a:r>
              <a:endParaRPr lang="en-US" altLang="pt-BR" sz="2000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FROM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alunos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,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turma</a:t>
              </a:r>
              <a:endParaRPr lang="en-US" altLang="pt-BR" sz="2000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WHERE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alunos.turma_idturma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=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turma.idturma</a:t>
              </a:r>
              <a:endParaRPr lang="en-US" altLang="pt-BR" sz="2000" b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ORDER BY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turma.periodo</a:t>
              </a:r>
              <a:r>
                <a:rPr lang="en-US" altLang="pt-BR" sz="20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DESC, </a:t>
              </a:r>
              <a:r>
                <a:rPr lang="en-US" altLang="pt-BR" sz="2000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alunos.matricula</a:t>
              </a:r>
              <a:r>
                <a:rPr lang="en-US" altLang="pt-BR" sz="20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;</a:t>
              </a:r>
            </a:p>
          </p:txBody>
        </p:sp>
        <p:sp>
          <p:nvSpPr>
            <p:cNvPr id="11" name="Título 1">
              <a:extLst>
                <a:ext uri="{FF2B5EF4-FFF2-40B4-BE49-F238E27FC236}">
                  <a16:creationId xmlns:a16="http://schemas.microsoft.com/office/drawing/2014/main" id="{285DFF7F-77F8-45DC-9E92-5AC1C8C17C71}"/>
                </a:ext>
              </a:extLst>
            </p:cNvPr>
            <p:cNvSpPr txBox="1">
              <a:spLocks/>
            </p:cNvSpPr>
            <p:nvPr/>
          </p:nvSpPr>
          <p:spPr>
            <a:xfrm>
              <a:off x="2882925" y="1705941"/>
              <a:ext cx="1970929" cy="420426"/>
            </a:xfrm>
            <a:prstGeom prst="rect">
              <a:avLst/>
            </a:prstGeom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000" kern="1200" cap="none">
                  <a:ln w="3175" cmpd="sng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pt-BR" sz="3200" dirty="0"/>
                <a:t>Exemplo</a:t>
              </a:r>
            </a:p>
          </p:txBody>
        </p:sp>
      </p:grpSp>
      <p:sp>
        <p:nvSpPr>
          <p:cNvPr id="12" name="Retângulo Arredondado 2">
            <a:extLst>
              <a:ext uri="{FF2B5EF4-FFF2-40B4-BE49-F238E27FC236}">
                <a16:creationId xmlns:a16="http://schemas.microsoft.com/office/drawing/2014/main" id="{035A9E3A-A2DF-43C4-A67C-2E321706C13B}"/>
              </a:ext>
            </a:extLst>
          </p:cNvPr>
          <p:cNvSpPr/>
          <p:nvPr/>
        </p:nvSpPr>
        <p:spPr>
          <a:xfrm>
            <a:off x="247087" y="1126673"/>
            <a:ext cx="3609859" cy="86603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anchor="ctr">
            <a:noAutofit/>
          </a:bodyPr>
          <a:lstStyle/>
          <a:p>
            <a:pPr algn="just"/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ASC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– Ordem crescente</a:t>
            </a:r>
          </a:p>
          <a:p>
            <a:pPr algn="just"/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DESC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– Ordem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decrecente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48158D6F-3B2E-426F-86F6-56E90D9DD8EE}"/>
              </a:ext>
            </a:extLst>
          </p:cNvPr>
          <p:cNvSpPr txBox="1">
            <a:spLocks/>
          </p:cNvSpPr>
          <p:nvPr/>
        </p:nvSpPr>
        <p:spPr>
          <a:xfrm>
            <a:off x="739269" y="671575"/>
            <a:ext cx="2404613" cy="582739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800" dirty="0"/>
              <a:t>Comandos</a:t>
            </a:r>
          </a:p>
        </p:txBody>
      </p:sp>
    </p:spTree>
    <p:extLst>
      <p:ext uri="{BB962C8B-B14F-4D97-AF65-F5344CB8AC3E}">
        <p14:creationId xmlns:p14="http://schemas.microsoft.com/office/powerpoint/2010/main" val="17799260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 txBox="1">
            <a:spLocks/>
          </p:cNvSpPr>
          <p:nvPr/>
        </p:nvSpPr>
        <p:spPr>
          <a:xfrm>
            <a:off x="157100" y="119038"/>
            <a:ext cx="11877800" cy="732454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Agrupando informações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2389E10A-A7F9-4E6A-BC7B-30D0BAB05272}"/>
              </a:ext>
            </a:extLst>
          </p:cNvPr>
          <p:cNvGrpSpPr/>
          <p:nvPr/>
        </p:nvGrpSpPr>
        <p:grpSpPr>
          <a:xfrm>
            <a:off x="352172" y="2358482"/>
            <a:ext cx="11512695" cy="1911954"/>
            <a:chOff x="382391" y="1792667"/>
            <a:chExt cx="6971997" cy="1089152"/>
          </a:xfrm>
        </p:grpSpPr>
        <p:sp>
          <p:nvSpPr>
            <p:cNvPr id="6" name="Rectangle 1">
              <a:extLst>
                <a:ext uri="{FF2B5EF4-FFF2-40B4-BE49-F238E27FC236}">
                  <a16:creationId xmlns:a16="http://schemas.microsoft.com/office/drawing/2014/main" id="{21D0BA82-318B-4037-A269-49587C5EC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391" y="2047714"/>
              <a:ext cx="6971997" cy="834105"/>
            </a:xfrm>
            <a:prstGeom prst="roundRect">
              <a:avLst/>
            </a:prstGeom>
            <a:gradFill>
              <a:gsLst>
                <a:gs pos="0">
                  <a:schemeClr val="accent3">
                    <a:tint val="60000"/>
                    <a:lumMod val="104000"/>
                    <a:alpha val="96000"/>
                  </a:schemeClr>
                </a:gs>
                <a:gs pos="100000">
                  <a:schemeClr val="accent3">
                    <a:tint val="84000"/>
                  </a:schemeClr>
                </a:gs>
              </a:gsLst>
            </a:gradFill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36000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16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SELECT </a:t>
              </a:r>
              <a:r>
                <a:rPr lang="en-US" altLang="pt-BR" sz="16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tabela1.campo_1, SUM(tabela1.campo_2), COUNT(tabela2.campo_1)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16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FROM </a:t>
              </a:r>
              <a:r>
                <a:rPr lang="en-US" altLang="pt-BR" sz="16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nome_tabela_1, nome_tabela_2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16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WHERE </a:t>
              </a:r>
              <a:r>
                <a:rPr lang="en-US" altLang="pt-BR" sz="16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tabela1.chave_estrangeira = tabela2.chave_primaria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sz="16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GROUP BY </a:t>
              </a:r>
              <a:r>
                <a:rPr lang="en-US" altLang="pt-BR" sz="1600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tabela1.campo_1</a:t>
              </a:r>
              <a:r>
                <a:rPr lang="en-US" altLang="pt-BR" sz="1600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;</a:t>
              </a:r>
            </a:p>
          </p:txBody>
        </p:sp>
        <p:sp>
          <p:nvSpPr>
            <p:cNvPr id="8" name="Título 1">
              <a:extLst>
                <a:ext uri="{FF2B5EF4-FFF2-40B4-BE49-F238E27FC236}">
                  <a16:creationId xmlns:a16="http://schemas.microsoft.com/office/drawing/2014/main" id="{84D61E1D-7D18-47EA-BE74-C74020F8BEE3}"/>
                </a:ext>
              </a:extLst>
            </p:cNvPr>
            <p:cNvSpPr txBox="1">
              <a:spLocks/>
            </p:cNvSpPr>
            <p:nvPr/>
          </p:nvSpPr>
          <p:spPr>
            <a:xfrm>
              <a:off x="2882924" y="1792667"/>
              <a:ext cx="1970929" cy="333153"/>
            </a:xfrm>
            <a:prstGeom prst="rect">
              <a:avLst/>
            </a:prstGeom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000" kern="1200" cap="none">
                  <a:ln w="3175" cmpd="sng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pt-BR" sz="2800" dirty="0"/>
                <a:t>Sintaxe</a:t>
              </a:r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0B3F1FC3-4039-4B38-9EC1-7B25A7B83E31}"/>
              </a:ext>
            </a:extLst>
          </p:cNvPr>
          <p:cNvGrpSpPr/>
          <p:nvPr/>
        </p:nvGrpSpPr>
        <p:grpSpPr>
          <a:xfrm>
            <a:off x="339652" y="4436819"/>
            <a:ext cx="7614045" cy="1810431"/>
            <a:chOff x="354470" y="1796896"/>
            <a:chExt cx="6240814" cy="1031321"/>
          </a:xfrm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941DEB5E-6362-475C-80AC-C447A996C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470" y="2071702"/>
              <a:ext cx="6240814" cy="756515"/>
            </a:xfrm>
            <a:prstGeom prst="roundRect">
              <a:avLst/>
            </a:prstGeom>
            <a:ln/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36000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SELECT </a:t>
              </a:r>
              <a:r>
                <a:rPr lang="en-US" altLang="pt-BR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turma.periodo</a:t>
              </a:r>
              <a:r>
                <a:rPr lang="en-US" altLang="pt-BR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, count(</a:t>
              </a:r>
              <a:r>
                <a:rPr lang="en-US" altLang="pt-BR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alunos.matricula</a:t>
              </a:r>
              <a:r>
                <a:rPr lang="en-US" altLang="pt-BR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)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FROM </a:t>
              </a:r>
              <a:r>
                <a:rPr lang="en-US" altLang="pt-BR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alunos</a:t>
              </a:r>
              <a:r>
                <a:rPr lang="en-US" altLang="pt-BR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, </a:t>
              </a:r>
              <a:r>
                <a:rPr lang="en-US" altLang="pt-BR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turma</a:t>
              </a:r>
              <a:endParaRPr lang="en-US" altLang="pt-BR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WHERE </a:t>
              </a:r>
              <a:r>
                <a:rPr lang="en-US" altLang="pt-BR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alunos.turma_idturma</a:t>
              </a:r>
              <a:r>
                <a:rPr lang="en-US" altLang="pt-BR" i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 = </a:t>
              </a:r>
              <a:r>
                <a:rPr lang="en-US" altLang="pt-BR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turma.idturma</a:t>
              </a:r>
              <a:endParaRPr lang="en-US" altLang="pt-BR" i="1" dirty="0">
                <a:solidFill>
                  <a:schemeClr val="tx1"/>
                </a:solidFill>
                <a:latin typeface="Complex_IV25" panose="00000400000000000000" pitchFamily="2" charset="0"/>
                <a:cs typeface="Complex_IV25" panose="00000400000000000000" pitchFamily="2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pt-BR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GROUP BY </a:t>
              </a:r>
              <a:r>
                <a:rPr lang="en-US" altLang="pt-BR" i="1" dirty="0" err="1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turma.periodo</a:t>
              </a:r>
              <a:r>
                <a:rPr lang="en-US" altLang="pt-BR" b="1" dirty="0">
                  <a:solidFill>
                    <a:schemeClr val="tx1"/>
                  </a:solidFill>
                  <a:latin typeface="Complex_IV25" panose="00000400000000000000" pitchFamily="2" charset="0"/>
                  <a:cs typeface="Complex_IV25" panose="00000400000000000000" pitchFamily="2" charset="0"/>
                </a:rPr>
                <a:t>;</a:t>
              </a:r>
            </a:p>
          </p:txBody>
        </p:sp>
        <p:sp>
          <p:nvSpPr>
            <p:cNvPr id="11" name="Título 1">
              <a:extLst>
                <a:ext uri="{FF2B5EF4-FFF2-40B4-BE49-F238E27FC236}">
                  <a16:creationId xmlns:a16="http://schemas.microsoft.com/office/drawing/2014/main" id="{285DFF7F-77F8-45DC-9E92-5AC1C8C17C71}"/>
                </a:ext>
              </a:extLst>
            </p:cNvPr>
            <p:cNvSpPr txBox="1">
              <a:spLocks/>
            </p:cNvSpPr>
            <p:nvPr/>
          </p:nvSpPr>
          <p:spPr>
            <a:xfrm>
              <a:off x="2848128" y="1796896"/>
              <a:ext cx="1970929" cy="331960"/>
            </a:xfrm>
            <a:prstGeom prst="rect">
              <a:avLst/>
            </a:prstGeom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000" kern="1200" cap="none">
                  <a:ln w="3175" cmpd="sng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pt-BR" sz="2800" dirty="0"/>
                <a:t>Exemplo</a:t>
              </a:r>
            </a:p>
          </p:txBody>
        </p:sp>
      </p:grpSp>
      <p:sp>
        <p:nvSpPr>
          <p:cNvPr id="12" name="Retângulo Arredondado 2">
            <a:extLst>
              <a:ext uri="{FF2B5EF4-FFF2-40B4-BE49-F238E27FC236}">
                <a16:creationId xmlns:a16="http://schemas.microsoft.com/office/drawing/2014/main" id="{1DAFAB40-2841-43D5-BD28-6EDE5709E231}"/>
              </a:ext>
            </a:extLst>
          </p:cNvPr>
          <p:cNvSpPr/>
          <p:nvPr/>
        </p:nvSpPr>
        <p:spPr>
          <a:xfrm>
            <a:off x="352172" y="1031362"/>
            <a:ext cx="11512695" cy="10087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anchor="ctr">
            <a:noAutofit/>
          </a:bodyPr>
          <a:lstStyle/>
          <a:p>
            <a:pPr algn="just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Você pode somar, contar ou realizar a média de valores, mas para isso, você precisa selecionar algum campo que será agrupado</a:t>
            </a:r>
          </a:p>
        </p:txBody>
      </p:sp>
      <p:sp>
        <p:nvSpPr>
          <p:cNvPr id="13" name="Retângulo Arredondado 2">
            <a:extLst>
              <a:ext uri="{FF2B5EF4-FFF2-40B4-BE49-F238E27FC236}">
                <a16:creationId xmlns:a16="http://schemas.microsoft.com/office/drawing/2014/main" id="{C198E35C-5E46-41AA-BE96-DE03D248FA15}"/>
              </a:ext>
            </a:extLst>
          </p:cNvPr>
          <p:cNvSpPr/>
          <p:nvPr/>
        </p:nvSpPr>
        <p:spPr>
          <a:xfrm>
            <a:off x="8255008" y="4919227"/>
            <a:ext cx="3609859" cy="1328023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anchor="ctr">
            <a:noAutofit/>
          </a:bodyPr>
          <a:lstStyle/>
          <a:p>
            <a:pPr algn="just"/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SUM()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– Soma os valores</a:t>
            </a:r>
          </a:p>
          <a:p>
            <a:pPr algn="just"/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COUNT()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– Conta os valores</a:t>
            </a:r>
          </a:p>
          <a:p>
            <a:pPr algn="just"/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AVG()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– Média dos valores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CE4F6EB1-696E-4C64-8328-150F39E4C922}"/>
              </a:ext>
            </a:extLst>
          </p:cNvPr>
          <p:cNvSpPr txBox="1">
            <a:spLocks/>
          </p:cNvSpPr>
          <p:nvPr/>
        </p:nvSpPr>
        <p:spPr>
          <a:xfrm>
            <a:off x="8857630" y="4426789"/>
            <a:ext cx="2404613" cy="582739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800" dirty="0"/>
              <a:t>Comandos</a:t>
            </a:r>
          </a:p>
        </p:txBody>
      </p:sp>
    </p:spTree>
    <p:extLst>
      <p:ext uri="{BB962C8B-B14F-4D97-AF65-F5344CB8AC3E}">
        <p14:creationId xmlns:p14="http://schemas.microsoft.com/office/powerpoint/2010/main" val="6833327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axe">
  <a:themeElements>
    <a:clrScheme name="Letreiro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ralaxe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ax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1A9F9826-882C-40B9-8F38-5A3B8CFD19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1903</TotalTime>
  <Words>883</Words>
  <Application>Microsoft Office PowerPoint</Application>
  <PresentationFormat>Widescreen</PresentationFormat>
  <Paragraphs>211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8" baseType="lpstr">
      <vt:lpstr>Arial</vt:lpstr>
      <vt:lpstr>Complex_IV25</vt:lpstr>
      <vt:lpstr>Corbel</vt:lpstr>
      <vt:lpstr>Paralaxe</vt:lpstr>
      <vt:lpstr>Linguagem SQL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SESI SENAI 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METROLOGIA</dc:title>
  <dc:creator>Usuário do Windows</dc:creator>
  <cp:lastModifiedBy>Alex Fernando Stocco</cp:lastModifiedBy>
  <cp:revision>203</cp:revision>
  <dcterms:created xsi:type="dcterms:W3CDTF">2019-07-24T00:28:33Z</dcterms:created>
  <dcterms:modified xsi:type="dcterms:W3CDTF">2022-09-10T15:53:14Z</dcterms:modified>
</cp:coreProperties>
</file>